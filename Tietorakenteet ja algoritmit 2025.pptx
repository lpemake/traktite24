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256" r:id="rId2"/>
    <p:sldId id="257" r:id="rId3"/>
    <p:sldId id="258" r:id="rId4"/>
    <p:sldId id="259" r:id="rId5"/>
    <p:sldId id="260" r:id="rId6"/>
    <p:sldId id="261" r:id="rId7"/>
    <p:sldId id="262" r:id="rId8"/>
    <p:sldId id="263" r:id="rId9"/>
    <p:sldId id="265" r:id="rId10"/>
    <p:sldId id="266" r:id="rId11"/>
    <p:sldId id="264" r:id="rId12"/>
    <p:sldId id="268" r:id="rId13"/>
    <p:sldId id="269" r:id="rId14"/>
    <p:sldId id="270" r:id="rId15"/>
    <p:sldId id="271" r:id="rId16"/>
    <p:sldId id="273" r:id="rId17"/>
    <p:sldId id="274" r:id="rId18"/>
    <p:sldId id="276" r:id="rId19"/>
    <p:sldId id="277" r:id="rId20"/>
    <p:sldId id="279" r:id="rId21"/>
    <p:sldId id="282" r:id="rId22"/>
    <p:sldId id="283" r:id="rId23"/>
    <p:sldId id="288" r:id="rId24"/>
    <p:sldId id="285" r:id="rId25"/>
    <p:sldId id="286" r:id="rId26"/>
    <p:sldId id="287" r:id="rId27"/>
    <p:sldId id="292" r:id="rId28"/>
    <p:sldId id="291" r:id="rId29"/>
    <p:sldId id="293" r:id="rId30"/>
    <p:sldId id="294" r:id="rId31"/>
    <p:sldId id="290" r:id="rId32"/>
    <p:sldId id="289" r:id="rId33"/>
    <p:sldId id="295" r:id="rId34"/>
    <p:sldId id="296" r:id="rId35"/>
    <p:sldId id="316" r:id="rId36"/>
    <p:sldId id="297" r:id="rId37"/>
    <p:sldId id="317" r:id="rId38"/>
    <p:sldId id="351" r:id="rId39"/>
    <p:sldId id="322" r:id="rId40"/>
    <p:sldId id="323" r:id="rId41"/>
    <p:sldId id="324" r:id="rId42"/>
    <p:sldId id="325" r:id="rId43"/>
    <p:sldId id="327" r:id="rId44"/>
    <p:sldId id="328" r:id="rId45"/>
    <p:sldId id="329" r:id="rId46"/>
    <p:sldId id="330" r:id="rId47"/>
    <p:sldId id="332" r:id="rId48"/>
    <p:sldId id="333" r:id="rId49"/>
    <p:sldId id="334" r:id="rId50"/>
    <p:sldId id="335" r:id="rId51"/>
    <p:sldId id="336" r:id="rId52"/>
    <p:sldId id="337" r:id="rId53"/>
    <p:sldId id="339" r:id="rId54"/>
    <p:sldId id="340" r:id="rId55"/>
    <p:sldId id="341" r:id="rId56"/>
    <p:sldId id="342" r:id="rId57"/>
    <p:sldId id="343" r:id="rId58"/>
    <p:sldId id="344" r:id="rId59"/>
    <p:sldId id="345" r:id="rId60"/>
    <p:sldId id="346" r:id="rId61"/>
    <p:sldId id="347" r:id="rId62"/>
    <p:sldId id="348" r:id="rId63"/>
    <p:sldId id="349" r:id="rId64"/>
    <p:sldId id="350" r:id="rId65"/>
    <p:sldId id="352" r:id="rId66"/>
    <p:sldId id="354" r:id="rId67"/>
    <p:sldId id="353" r:id="rId68"/>
    <p:sldId id="356" r:id="rId69"/>
    <p:sldId id="357" r:id="rId70"/>
    <p:sldId id="355" r:id="rId71"/>
    <p:sldId id="358" r:id="rId72"/>
    <p:sldId id="359" r:id="rId73"/>
    <p:sldId id="360" r:id="rId74"/>
    <p:sldId id="361" r:id="rId75"/>
    <p:sldId id="362" r:id="rId76"/>
    <p:sldId id="364" r:id="rId77"/>
    <p:sldId id="369" r:id="rId78"/>
    <p:sldId id="365" r:id="rId79"/>
    <p:sldId id="368" r:id="rId80"/>
    <p:sldId id="363" r:id="rId81"/>
    <p:sldId id="370" r:id="rId82"/>
    <p:sldId id="366" r:id="rId83"/>
    <p:sldId id="371" r:id="rId84"/>
    <p:sldId id="372" r:id="rId85"/>
    <p:sldId id="373" r:id="rId86"/>
    <p:sldId id="374" r:id="rId87"/>
    <p:sldId id="375" r:id="rId88"/>
    <p:sldId id="376" r:id="rId89"/>
    <p:sldId id="379" r:id="rId90"/>
    <p:sldId id="378" r:id="rId91"/>
    <p:sldId id="380" r:id="rId92"/>
    <p:sldId id="383" r:id="rId93"/>
    <p:sldId id="381" r:id="rId94"/>
    <p:sldId id="384" r:id="rId95"/>
    <p:sldId id="382" r:id="rId96"/>
    <p:sldId id="385" r:id="rId97"/>
    <p:sldId id="390" r:id="rId98"/>
    <p:sldId id="391" r:id="rId99"/>
    <p:sldId id="387" r:id="rId100"/>
    <p:sldId id="388" r:id="rId101"/>
    <p:sldId id="389" r:id="rId102"/>
    <p:sldId id="393" r:id="rId103"/>
    <p:sldId id="392" r:id="rId104"/>
    <p:sldId id="394" r:id="rId105"/>
    <p:sldId id="395" r:id="rId106"/>
    <p:sldId id="396" r:id="rId107"/>
    <p:sldId id="397" r:id="rId108"/>
    <p:sldId id="398" r:id="rId109"/>
    <p:sldId id="399" r:id="rId110"/>
    <p:sldId id="400" r:id="rId111"/>
    <p:sldId id="451" r:id="rId112"/>
    <p:sldId id="401" r:id="rId113"/>
    <p:sldId id="402" r:id="rId114"/>
    <p:sldId id="403" r:id="rId115"/>
    <p:sldId id="452" r:id="rId116"/>
    <p:sldId id="404" r:id="rId117"/>
    <p:sldId id="405" r:id="rId118"/>
    <p:sldId id="406" r:id="rId119"/>
    <p:sldId id="410" r:id="rId120"/>
    <p:sldId id="407" r:id="rId121"/>
    <p:sldId id="408" r:id="rId122"/>
    <p:sldId id="411" r:id="rId123"/>
    <p:sldId id="413" r:id="rId124"/>
    <p:sldId id="414" r:id="rId125"/>
    <p:sldId id="415" r:id="rId126"/>
    <p:sldId id="416" r:id="rId127"/>
    <p:sldId id="417" r:id="rId128"/>
    <p:sldId id="412" r:id="rId129"/>
    <p:sldId id="420" r:id="rId130"/>
    <p:sldId id="421" r:id="rId131"/>
    <p:sldId id="425" r:id="rId132"/>
    <p:sldId id="426" r:id="rId133"/>
    <p:sldId id="427" r:id="rId134"/>
    <p:sldId id="428" r:id="rId135"/>
    <p:sldId id="429" r:id="rId136"/>
    <p:sldId id="430" r:id="rId137"/>
    <p:sldId id="431" r:id="rId138"/>
    <p:sldId id="423" r:id="rId139"/>
    <p:sldId id="422" r:id="rId140"/>
    <p:sldId id="424" r:id="rId141"/>
    <p:sldId id="432" r:id="rId142"/>
    <p:sldId id="433" r:id="rId143"/>
    <p:sldId id="434" r:id="rId144"/>
    <p:sldId id="435" r:id="rId145"/>
    <p:sldId id="437" r:id="rId146"/>
    <p:sldId id="419" r:id="rId147"/>
    <p:sldId id="418" r:id="rId148"/>
    <p:sldId id="438" r:id="rId149"/>
    <p:sldId id="440" r:id="rId150"/>
    <p:sldId id="439" r:id="rId151"/>
    <p:sldId id="441" r:id="rId152"/>
    <p:sldId id="442" r:id="rId153"/>
    <p:sldId id="443" r:id="rId154"/>
    <p:sldId id="445" r:id="rId155"/>
    <p:sldId id="444" r:id="rId156"/>
    <p:sldId id="446" r:id="rId157"/>
    <p:sldId id="450" r:id="rId158"/>
    <p:sldId id="447" r:id="rId159"/>
    <p:sldId id="449" r:id="rId160"/>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3184" autoAdjust="0"/>
  </p:normalViewPr>
  <p:slideViewPr>
    <p:cSldViewPr snapToGrid="0">
      <p:cViewPr varScale="1">
        <p:scale>
          <a:sx n="51" d="100"/>
          <a:sy n="51" d="100"/>
        </p:scale>
        <p:origin x="1268" y="264"/>
      </p:cViewPr>
      <p:guideLst/>
    </p:cSldViewPr>
  </p:slideViewPr>
  <p:outlineViewPr>
    <p:cViewPr>
      <p:scale>
        <a:sx n="33" d="100"/>
        <a:sy n="33" d="100"/>
      </p:scale>
      <p:origin x="0" y="-164706"/>
    </p:cViewPr>
  </p:outlineViewPr>
  <p:notesTextViewPr>
    <p:cViewPr>
      <p:scale>
        <a:sx n="1" d="1"/>
        <a:sy n="1" d="1"/>
      </p:scale>
      <p:origin x="0" y="0"/>
    </p:cViewPr>
  </p:notesTextViewPr>
  <p:sorterViewPr>
    <p:cViewPr>
      <p:scale>
        <a:sx n="100" d="100"/>
        <a:sy n="100" d="100"/>
      </p:scale>
      <p:origin x="0" y="-3438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2E156-BFCC-479D-AC87-3FCB91561964}" type="datetimeFigureOut">
              <a:rPr lang="fi-FI" smtClean="0"/>
              <a:t>3.2.2026</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643FB8-EF23-4EA7-BE0F-23C0A84AE5CB}" type="slidenum">
              <a:rPr lang="fi-FI" smtClean="0"/>
              <a:t>‹#›</a:t>
            </a:fld>
            <a:endParaRPr lang="fi-FI"/>
          </a:p>
        </p:txBody>
      </p:sp>
    </p:spTree>
    <p:extLst>
      <p:ext uri="{BB962C8B-B14F-4D97-AF65-F5344CB8AC3E}">
        <p14:creationId xmlns:p14="http://schemas.microsoft.com/office/powerpoint/2010/main" val="4282814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FI" dirty="0"/>
          </a:p>
        </p:txBody>
      </p:sp>
      <p:sp>
        <p:nvSpPr>
          <p:cNvPr id="4" name="Slide Number Placeholder 3"/>
          <p:cNvSpPr>
            <a:spLocks noGrp="1"/>
          </p:cNvSpPr>
          <p:nvPr>
            <p:ph type="sldNum" sz="quarter" idx="5"/>
          </p:nvPr>
        </p:nvSpPr>
        <p:spPr/>
        <p:txBody>
          <a:bodyPr/>
          <a:lstStyle/>
          <a:p>
            <a:fld id="{DA643FB8-EF23-4EA7-BE0F-23C0A84AE5CB}" type="slidenum">
              <a:rPr lang="fi-FI" smtClean="0"/>
              <a:t>138</a:t>
            </a:fld>
            <a:endParaRPr lang="fi-FI"/>
          </a:p>
        </p:txBody>
      </p:sp>
    </p:spTree>
    <p:extLst>
      <p:ext uri="{BB962C8B-B14F-4D97-AF65-F5344CB8AC3E}">
        <p14:creationId xmlns:p14="http://schemas.microsoft.com/office/powerpoint/2010/main" val="1148812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FI" dirty="0"/>
          </a:p>
        </p:txBody>
      </p:sp>
      <p:sp>
        <p:nvSpPr>
          <p:cNvPr id="4" name="Slide Number Placeholder 3"/>
          <p:cNvSpPr>
            <a:spLocks noGrp="1"/>
          </p:cNvSpPr>
          <p:nvPr>
            <p:ph type="sldNum" sz="quarter" idx="5"/>
          </p:nvPr>
        </p:nvSpPr>
        <p:spPr/>
        <p:txBody>
          <a:bodyPr/>
          <a:lstStyle/>
          <a:p>
            <a:fld id="{DA643FB8-EF23-4EA7-BE0F-23C0A84AE5CB}" type="slidenum">
              <a:rPr lang="fi-FI" smtClean="0"/>
              <a:t>145</a:t>
            </a:fld>
            <a:endParaRPr lang="fi-FI"/>
          </a:p>
        </p:txBody>
      </p:sp>
    </p:spTree>
    <p:extLst>
      <p:ext uri="{BB962C8B-B14F-4D97-AF65-F5344CB8AC3E}">
        <p14:creationId xmlns:p14="http://schemas.microsoft.com/office/powerpoint/2010/main" val="84290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26879-5828-24C4-AA2D-01E2FD887A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i-FI"/>
          </a:p>
        </p:txBody>
      </p:sp>
      <p:sp>
        <p:nvSpPr>
          <p:cNvPr id="3" name="Subtitle 2">
            <a:extLst>
              <a:ext uri="{FF2B5EF4-FFF2-40B4-BE49-F238E27FC236}">
                <a16:creationId xmlns:a16="http://schemas.microsoft.com/office/drawing/2014/main" id="{10189D8B-7BD7-1D2F-A8F9-83CE034897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4" name="Date Placeholder 3">
            <a:extLst>
              <a:ext uri="{FF2B5EF4-FFF2-40B4-BE49-F238E27FC236}">
                <a16:creationId xmlns:a16="http://schemas.microsoft.com/office/drawing/2014/main" id="{C22578D2-65C3-13BA-D8B6-7B9CE4F6DB22}"/>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32D9AADD-B069-A991-3E50-E7A19E0534FA}"/>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9CED2AE4-6A24-B108-FD19-8167E1F36D7A}"/>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4205577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4ABB-3D55-A590-7089-5F4C782CE7D5}"/>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02631DF2-BB92-530E-B315-2523576B4A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DD6FC839-DD0D-39BC-9133-D5F7C6187731}"/>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7B61A16E-ACFD-5812-31C1-BB7CE214379D}"/>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FA860CA8-E42E-C322-A521-B81CE171AAD8}"/>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2808093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9B9A-A765-72E8-1BF7-A04D658712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i-FI"/>
          </a:p>
        </p:txBody>
      </p:sp>
      <p:sp>
        <p:nvSpPr>
          <p:cNvPr id="3" name="Text Placeholder 2">
            <a:extLst>
              <a:ext uri="{FF2B5EF4-FFF2-40B4-BE49-F238E27FC236}">
                <a16:creationId xmlns:a16="http://schemas.microsoft.com/office/drawing/2014/main" id="{883562C6-82A0-FAC8-BA90-557F5319F0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5094A6-DFEF-F288-90CA-4D893A7F67BC}"/>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53086EB1-08B6-9843-C145-CB6A89574038}"/>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09BDC5C9-8F92-4FEC-48CE-A9F245E4FE89}"/>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138339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2F2C-F16C-F754-BA1C-A5396A829951}"/>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13FA8A7D-BF49-58F0-CC7E-4A9483C606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D3AD98E7-68FE-5FB9-4C2D-E44BA7E31B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605C4C5F-2EA6-F07B-2AA3-04E577660F0D}"/>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6" name="Footer Placeholder 5">
            <a:extLst>
              <a:ext uri="{FF2B5EF4-FFF2-40B4-BE49-F238E27FC236}">
                <a16:creationId xmlns:a16="http://schemas.microsoft.com/office/drawing/2014/main" id="{B1E56500-452D-2DC1-B3D7-2B92C4E0C7B9}"/>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355263A8-A18E-0826-EA43-0691C2A40653}"/>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817620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0F97-3E5B-0461-EC1A-88EF20F629AD}"/>
              </a:ext>
            </a:extLst>
          </p:cNvPr>
          <p:cNvSpPr>
            <a:spLocks noGrp="1"/>
          </p:cNvSpPr>
          <p:nvPr>
            <p:ph type="title"/>
          </p:nvPr>
        </p:nvSpPr>
        <p:spPr>
          <a:xfrm>
            <a:off x="839788" y="365125"/>
            <a:ext cx="10515600" cy="1325563"/>
          </a:xfrm>
        </p:spPr>
        <p:txBody>
          <a:bodyPr/>
          <a:lstStyle/>
          <a:p>
            <a:r>
              <a:rPr lang="en-US"/>
              <a:t>Click to edit Master title style</a:t>
            </a:r>
            <a:endParaRPr lang="fi-FI"/>
          </a:p>
        </p:txBody>
      </p:sp>
      <p:sp>
        <p:nvSpPr>
          <p:cNvPr id="3" name="Text Placeholder 2">
            <a:extLst>
              <a:ext uri="{FF2B5EF4-FFF2-40B4-BE49-F238E27FC236}">
                <a16:creationId xmlns:a16="http://schemas.microsoft.com/office/drawing/2014/main" id="{113BAC9E-19E3-A827-F86F-3FC4238227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5D2907-B7FF-5AAF-EFA9-5B069A8916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Text Placeholder 4">
            <a:extLst>
              <a:ext uri="{FF2B5EF4-FFF2-40B4-BE49-F238E27FC236}">
                <a16:creationId xmlns:a16="http://schemas.microsoft.com/office/drawing/2014/main" id="{A76798FF-D670-7669-BA67-10AFAE7FC3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9A35E-C59A-279D-D43E-DC7EAFB89F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7" name="Date Placeholder 6">
            <a:extLst>
              <a:ext uri="{FF2B5EF4-FFF2-40B4-BE49-F238E27FC236}">
                <a16:creationId xmlns:a16="http://schemas.microsoft.com/office/drawing/2014/main" id="{8E0F5340-843D-5908-E3C4-0D0082794053}"/>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8" name="Footer Placeholder 7">
            <a:extLst>
              <a:ext uri="{FF2B5EF4-FFF2-40B4-BE49-F238E27FC236}">
                <a16:creationId xmlns:a16="http://schemas.microsoft.com/office/drawing/2014/main" id="{82476B03-8938-05D6-BD8A-9258B0F03FE6}"/>
              </a:ext>
            </a:extLst>
          </p:cNvPr>
          <p:cNvSpPr>
            <a:spLocks noGrp="1"/>
          </p:cNvSpPr>
          <p:nvPr>
            <p:ph type="ftr" sz="quarter" idx="11"/>
          </p:nvPr>
        </p:nvSpPr>
        <p:spPr/>
        <p:txBody>
          <a:bodyPr/>
          <a:lstStyle/>
          <a:p>
            <a:endParaRPr lang="fi-FI"/>
          </a:p>
        </p:txBody>
      </p:sp>
      <p:sp>
        <p:nvSpPr>
          <p:cNvPr id="9" name="Slide Number Placeholder 8">
            <a:extLst>
              <a:ext uri="{FF2B5EF4-FFF2-40B4-BE49-F238E27FC236}">
                <a16:creationId xmlns:a16="http://schemas.microsoft.com/office/drawing/2014/main" id="{4B1C6426-00CD-37E8-5DFE-C7F6AC9D7787}"/>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408015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B7871-01A8-184B-DB19-FC94E7D24254}"/>
              </a:ext>
            </a:extLst>
          </p:cNvPr>
          <p:cNvSpPr>
            <a:spLocks noGrp="1"/>
          </p:cNvSpPr>
          <p:nvPr>
            <p:ph type="title"/>
          </p:nvPr>
        </p:nvSpPr>
        <p:spPr/>
        <p:txBody>
          <a:bodyPr/>
          <a:lstStyle/>
          <a:p>
            <a:r>
              <a:rPr lang="en-US"/>
              <a:t>Click to edit Master title style</a:t>
            </a:r>
            <a:endParaRPr lang="fi-FI"/>
          </a:p>
        </p:txBody>
      </p:sp>
      <p:sp>
        <p:nvSpPr>
          <p:cNvPr id="3" name="Date Placeholder 2">
            <a:extLst>
              <a:ext uri="{FF2B5EF4-FFF2-40B4-BE49-F238E27FC236}">
                <a16:creationId xmlns:a16="http://schemas.microsoft.com/office/drawing/2014/main" id="{1D9A00EA-F602-30C2-EA75-829FEAD6DF4D}"/>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4" name="Footer Placeholder 3">
            <a:extLst>
              <a:ext uri="{FF2B5EF4-FFF2-40B4-BE49-F238E27FC236}">
                <a16:creationId xmlns:a16="http://schemas.microsoft.com/office/drawing/2014/main" id="{736A3747-72FB-C7A4-BC46-EEBC03271E8E}"/>
              </a:ext>
            </a:extLst>
          </p:cNvPr>
          <p:cNvSpPr>
            <a:spLocks noGrp="1"/>
          </p:cNvSpPr>
          <p:nvPr>
            <p:ph type="ftr" sz="quarter" idx="11"/>
          </p:nvPr>
        </p:nvSpPr>
        <p:spPr/>
        <p:txBody>
          <a:bodyPr/>
          <a:lstStyle/>
          <a:p>
            <a:endParaRPr lang="fi-FI"/>
          </a:p>
        </p:txBody>
      </p:sp>
      <p:sp>
        <p:nvSpPr>
          <p:cNvPr id="5" name="Slide Number Placeholder 4">
            <a:extLst>
              <a:ext uri="{FF2B5EF4-FFF2-40B4-BE49-F238E27FC236}">
                <a16:creationId xmlns:a16="http://schemas.microsoft.com/office/drawing/2014/main" id="{1BE443A1-1061-DDD0-DF57-D63B00784924}"/>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129143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AEC7F8-5A3B-5AA0-957E-5693C301A428}"/>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3" name="Footer Placeholder 2">
            <a:extLst>
              <a:ext uri="{FF2B5EF4-FFF2-40B4-BE49-F238E27FC236}">
                <a16:creationId xmlns:a16="http://schemas.microsoft.com/office/drawing/2014/main" id="{5629E35F-0B46-0395-EC38-9D837084EC1E}"/>
              </a:ext>
            </a:extLst>
          </p:cNvPr>
          <p:cNvSpPr>
            <a:spLocks noGrp="1"/>
          </p:cNvSpPr>
          <p:nvPr>
            <p:ph type="ftr" sz="quarter" idx="11"/>
          </p:nvPr>
        </p:nvSpPr>
        <p:spPr/>
        <p:txBody>
          <a:bodyPr/>
          <a:lstStyle/>
          <a:p>
            <a:endParaRPr lang="fi-FI"/>
          </a:p>
        </p:txBody>
      </p:sp>
      <p:sp>
        <p:nvSpPr>
          <p:cNvPr id="4" name="Slide Number Placeholder 3">
            <a:extLst>
              <a:ext uri="{FF2B5EF4-FFF2-40B4-BE49-F238E27FC236}">
                <a16:creationId xmlns:a16="http://schemas.microsoft.com/office/drawing/2014/main" id="{09781D3C-7C5C-ACAC-1779-F9E6F0676E57}"/>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351783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0F93-11F6-0BDB-2C0A-496EC1E52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4FAFC7E-C5E8-9D0B-EFC9-D96F9F1C7E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Text Placeholder 3">
            <a:extLst>
              <a:ext uri="{FF2B5EF4-FFF2-40B4-BE49-F238E27FC236}">
                <a16:creationId xmlns:a16="http://schemas.microsoft.com/office/drawing/2014/main" id="{DBE4E68C-38F4-AEC6-A87B-14FFD94D4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BEA643-55EA-E8FC-550E-50E3FEDCF685}"/>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6" name="Footer Placeholder 5">
            <a:extLst>
              <a:ext uri="{FF2B5EF4-FFF2-40B4-BE49-F238E27FC236}">
                <a16:creationId xmlns:a16="http://schemas.microsoft.com/office/drawing/2014/main" id="{4B711F11-227B-0C3A-B39D-36C0A95CEDE0}"/>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89873D7C-3E48-6B51-35CB-3C1FDD7810F1}"/>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166807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39B1C-E49B-B011-F518-0811BA4B5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i-FI"/>
          </a:p>
        </p:txBody>
      </p:sp>
      <p:sp>
        <p:nvSpPr>
          <p:cNvPr id="3" name="Picture Placeholder 2">
            <a:extLst>
              <a:ext uri="{FF2B5EF4-FFF2-40B4-BE49-F238E27FC236}">
                <a16:creationId xmlns:a16="http://schemas.microsoft.com/office/drawing/2014/main" id="{E6FE4441-6782-5530-68DF-614E3F7A2B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a:p>
        </p:txBody>
      </p:sp>
      <p:sp>
        <p:nvSpPr>
          <p:cNvPr id="4" name="Text Placeholder 3">
            <a:extLst>
              <a:ext uri="{FF2B5EF4-FFF2-40B4-BE49-F238E27FC236}">
                <a16:creationId xmlns:a16="http://schemas.microsoft.com/office/drawing/2014/main" id="{F5732804-E55A-6C80-52EB-54A066504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0DA8DC-DBBF-CEEA-A7F9-6B00F816A2D7}"/>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6" name="Footer Placeholder 5">
            <a:extLst>
              <a:ext uri="{FF2B5EF4-FFF2-40B4-BE49-F238E27FC236}">
                <a16:creationId xmlns:a16="http://schemas.microsoft.com/office/drawing/2014/main" id="{0279CB58-0CCF-F4E0-9CBB-8C07001B74C7}"/>
              </a:ext>
            </a:extLst>
          </p:cNvPr>
          <p:cNvSpPr>
            <a:spLocks noGrp="1"/>
          </p:cNvSpPr>
          <p:nvPr>
            <p:ph type="ftr" sz="quarter" idx="11"/>
          </p:nvPr>
        </p:nvSpPr>
        <p:spPr/>
        <p:txBody>
          <a:bodyPr/>
          <a:lstStyle/>
          <a:p>
            <a:endParaRPr lang="fi-FI"/>
          </a:p>
        </p:txBody>
      </p:sp>
      <p:sp>
        <p:nvSpPr>
          <p:cNvPr id="7" name="Slide Number Placeholder 6">
            <a:extLst>
              <a:ext uri="{FF2B5EF4-FFF2-40B4-BE49-F238E27FC236}">
                <a16:creationId xmlns:a16="http://schemas.microsoft.com/office/drawing/2014/main" id="{5820B5A3-D448-468C-C9BC-C2164AE3F974}"/>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127328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0466-CCA3-C27C-3F80-4ACFF8E4ABE9}"/>
              </a:ext>
            </a:extLst>
          </p:cNvPr>
          <p:cNvSpPr>
            <a:spLocks noGrp="1"/>
          </p:cNvSpPr>
          <p:nvPr>
            <p:ph type="title"/>
          </p:nvPr>
        </p:nvSpPr>
        <p:spPr/>
        <p:txBody>
          <a:bodyPr/>
          <a:lstStyle/>
          <a:p>
            <a:r>
              <a:rPr lang="en-US"/>
              <a:t>Click to edit Master title style</a:t>
            </a:r>
            <a:endParaRPr lang="fi-FI"/>
          </a:p>
        </p:txBody>
      </p:sp>
      <p:sp>
        <p:nvSpPr>
          <p:cNvPr id="3" name="Vertical Text Placeholder 2">
            <a:extLst>
              <a:ext uri="{FF2B5EF4-FFF2-40B4-BE49-F238E27FC236}">
                <a16:creationId xmlns:a16="http://schemas.microsoft.com/office/drawing/2014/main" id="{0DB22B8D-2606-6F6D-26E2-A51E172A5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0C015DDB-1832-D6FA-83BC-7BD6CC9CFE56}"/>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EB148C3F-6AF8-3240-F051-97DA438B0464}"/>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E7303A47-57B4-C837-F530-F988768E449D}"/>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449999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65DD55-F86E-A41F-BB37-0398113DC3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i-FI"/>
          </a:p>
        </p:txBody>
      </p:sp>
      <p:sp>
        <p:nvSpPr>
          <p:cNvPr id="3" name="Vertical Text Placeholder 2">
            <a:extLst>
              <a:ext uri="{FF2B5EF4-FFF2-40B4-BE49-F238E27FC236}">
                <a16:creationId xmlns:a16="http://schemas.microsoft.com/office/drawing/2014/main" id="{68947C1A-15CD-EC31-C679-AEA610D2B6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88A0B4C8-1698-3739-CE8D-62BC13CF9433}"/>
              </a:ext>
            </a:extLst>
          </p:cNvPr>
          <p:cNvSpPr>
            <a:spLocks noGrp="1"/>
          </p:cNvSpPr>
          <p:nvPr>
            <p:ph type="dt" sz="half" idx="10"/>
          </p:nvPr>
        </p:nvSpPr>
        <p:spPr/>
        <p:txBody>
          <a:body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8527BF05-F536-E42E-D27D-5560377303FA}"/>
              </a:ext>
            </a:extLst>
          </p:cNvPr>
          <p:cNvSpPr>
            <a:spLocks noGrp="1"/>
          </p:cNvSpPr>
          <p:nvPr>
            <p:ph type="ftr" sz="quarter" idx="11"/>
          </p:nvPr>
        </p:nvSpPr>
        <p:spPr/>
        <p:txBody>
          <a:bodyPr/>
          <a:lstStyle/>
          <a:p>
            <a:endParaRPr lang="fi-FI"/>
          </a:p>
        </p:txBody>
      </p:sp>
      <p:sp>
        <p:nvSpPr>
          <p:cNvPr id="6" name="Slide Number Placeholder 5">
            <a:extLst>
              <a:ext uri="{FF2B5EF4-FFF2-40B4-BE49-F238E27FC236}">
                <a16:creationId xmlns:a16="http://schemas.microsoft.com/office/drawing/2014/main" id="{485986E9-1759-2C02-462C-B05761311709}"/>
              </a:ext>
            </a:extLst>
          </p:cNvPr>
          <p:cNvSpPr>
            <a:spLocks noGrp="1"/>
          </p:cNvSpPr>
          <p:nvPr>
            <p:ph type="sldNum" sz="quarter" idx="12"/>
          </p:nvPr>
        </p:nvSpPr>
        <p:spPr/>
        <p:txBody>
          <a:bodyPr/>
          <a:lstStyle/>
          <a:p>
            <a:fld id="{30CA1374-0898-4204-8725-70010A2A21DF}" type="slidenum">
              <a:rPr lang="fi-FI" smtClean="0"/>
              <a:t>‹#›</a:t>
            </a:fld>
            <a:endParaRPr lang="fi-FI"/>
          </a:p>
        </p:txBody>
      </p:sp>
    </p:spTree>
    <p:extLst>
      <p:ext uri="{BB962C8B-B14F-4D97-AF65-F5344CB8AC3E}">
        <p14:creationId xmlns:p14="http://schemas.microsoft.com/office/powerpoint/2010/main" val="1555204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C21D8B-CC39-4CAC-D3DE-F3076A305A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8215AA4F-01E3-D5FD-8FD5-4AB18E5889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9B6188E6-6083-1C6C-2CBF-EF807A039C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68A07-2981-4EE2-B6BC-9BC3F7E4A1B7}" type="datetimeFigureOut">
              <a:rPr lang="fi-FI" smtClean="0"/>
              <a:t>3.2.2026</a:t>
            </a:fld>
            <a:endParaRPr lang="fi-FI"/>
          </a:p>
        </p:txBody>
      </p:sp>
      <p:sp>
        <p:nvSpPr>
          <p:cNvPr id="5" name="Footer Placeholder 4">
            <a:extLst>
              <a:ext uri="{FF2B5EF4-FFF2-40B4-BE49-F238E27FC236}">
                <a16:creationId xmlns:a16="http://schemas.microsoft.com/office/drawing/2014/main" id="{85EAAB1C-7323-8194-9110-874EAF3B09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a:p>
        </p:txBody>
      </p:sp>
      <p:sp>
        <p:nvSpPr>
          <p:cNvPr id="6" name="Slide Number Placeholder 5">
            <a:extLst>
              <a:ext uri="{FF2B5EF4-FFF2-40B4-BE49-F238E27FC236}">
                <a16:creationId xmlns:a16="http://schemas.microsoft.com/office/drawing/2014/main" id="{66A44102-C870-AA7A-056B-60979806DA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CA1374-0898-4204-8725-70010A2A21DF}" type="slidenum">
              <a:rPr lang="fi-FI" smtClean="0"/>
              <a:t>‹#›</a:t>
            </a:fld>
            <a:endParaRPr lang="fi-FI"/>
          </a:p>
        </p:txBody>
      </p:sp>
    </p:spTree>
    <p:extLst>
      <p:ext uri="{BB962C8B-B14F-4D97-AF65-F5344CB8AC3E}">
        <p14:creationId xmlns:p14="http://schemas.microsoft.com/office/powerpoint/2010/main" val="3149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lpemake/TrakTite2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lpemake/TrakTite2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ira-s19.mooc.fi/" TargetMode="External"/><Relationship Id="rId2" Type="http://schemas.openxmlformats.org/officeDocument/2006/relationships/hyperlink" Target="https://tira.mooc.fi/syksy-2023/" TargetMode="External"/><Relationship Id="rId1" Type="http://schemas.openxmlformats.org/officeDocument/2006/relationships/slideLayout" Target="../slideLayouts/slideLayout2.xml"/><Relationship Id="rId5" Type="http://schemas.openxmlformats.org/officeDocument/2006/relationships/hyperlink" Target="https://ohjelmointi-20.mooc.fi/" TargetMode="External"/><Relationship Id="rId4" Type="http://schemas.openxmlformats.org/officeDocument/2006/relationships/hyperlink" Target="https://www.cs.helsinki.fi/u/ahslaaks/tirakirj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ohjelmointi-20.mooc.fi/osa-3/3-tauluko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tira.mooc.fi/syksy-2023/osa1/"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tira.mooc.fi/syksy-2023/osa1/#algoritmin-tehokkuu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tutorialspoint.com/how-to-measure-execution-time-for-a-java-metho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cs.toronto.edu/~reid/search/bincode.htm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cs.toronto.edu/~reid/search/bincode.htm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fi.wikipedia.org/wiki/Puolitushaku" TargetMode="External"/><Relationship Id="rId2" Type="http://schemas.openxmlformats.org/officeDocument/2006/relationships/hyperlink" Target="http://www.cs.toronto.edu/~reid/search/bincode.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geeksforgeeks.org/sorting-algorithms/?ref=shm"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www.geeksforgeeks.org/selection-sort/"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hyperlink" Target="https://www.geeksforgeeks.org/selection-sor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geeksforgeeks.org/sorting-algorithms/?ref=shm"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www.gregorygaines.com/blog/how-to-use-function-pointers-in-java/"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ohjelmointi-20.mooc.fi/osa-4/2-oliot-listalla" TargetMode="External"/><Relationship Id="rId7" Type="http://schemas.openxmlformats.org/officeDocument/2006/relationships/hyperlink" Target="https://ohjelmointi-20.mooc.fi/osa-10/3-yleishyodyllisia-tekniikoita" TargetMode="External"/><Relationship Id="rId2" Type="http://schemas.openxmlformats.org/officeDocument/2006/relationships/hyperlink" Target="https://ohjelmointi-20.mooc.fi/osa-3/2-listat" TargetMode="External"/><Relationship Id="rId1" Type="http://schemas.openxmlformats.org/officeDocument/2006/relationships/slideLayout" Target="../slideLayouts/slideLayout2.xml"/><Relationship Id="rId6" Type="http://schemas.openxmlformats.org/officeDocument/2006/relationships/hyperlink" Target="https://ohjelmointi-20.mooc.fi/osa-10/2-rajapinta-comparable" TargetMode="External"/><Relationship Id="rId5" Type="http://schemas.openxmlformats.org/officeDocument/2006/relationships/hyperlink" Target="https://ohjelmointi-20.mooc.fi/osa-10/1-kokoelmien-kasittely-virtana" TargetMode="External"/><Relationship Id="rId4" Type="http://schemas.openxmlformats.org/officeDocument/2006/relationships/hyperlink" Target="https://ohjelmointi-20.mooc.fi/osa-4/3-tiedon-lukeminen-ja-tiedostot"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ohjelmointi-20.mooc.fi/osa-4/3-tiedon-lukeminen-ja-tiedostot"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s://ohjelmointi-20.mooc.fi/osa-10/3-yleishyodyllisia-tekniikoita"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ohjelmointi-20.mooc.fi/osa-10/1-kokoelmien-kasittely-virtana" TargetMode="External"/><Relationship Id="rId2" Type="http://schemas.openxmlformats.org/officeDocument/2006/relationships/hyperlink" Target="https://ohjelmointi-20.mooc.fi/osa-10/2-rajapinta-comparable"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ohjelmointi-20.mooc.fi/osa-10/2-rajapinta-comparable"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s://learn.microsoft.com/en-US/troubleshoot/developer/visualstudio/csharp/language-compilers/use-icomparable-icomparer"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ohjelmointi-20.mooc.fi/osa-8/2-hajautustaulu" TargetMode="Externa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hyperlink" Target="https://www.cs.helsinki.fi/u/ahslaaks/tirakirja/" TargetMode="Externa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hyperlink" Target="https://www.cs.helsinki.fi/u/ahslaaks/tirakirja/" TargetMode="Externa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hyperlink" Target="https://www.cs.hut.fi/u/archie/T-106.253/s2002/PRUJU.pdf" TargetMode="Externa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hyperlink" Target="https://www.cs.hut.fi/u/archie/T-106.253/s2002/PRUJU.pdf"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hyperlink" Target="https://www.cs.hut.fi/u/archie/T-106.253/s2002/PRUJU.pdf"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hyperlink" Target="https://www.digitalocean.com/community/tutorials/java-equals-hashcode" TargetMode="Externa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29.xml.rels><?xml version="1.0" encoding="UTF-8" standalone="yes"?>
<Relationships xmlns="http://schemas.openxmlformats.org/package/2006/relationships"><Relationship Id="rId2" Type="http://schemas.openxmlformats.org/officeDocument/2006/relationships/hyperlink" Target="https://ohjelmointi-20.mooc.fi/osa-10/1-kokoelmien-kasittely-virtana" TargetMode="Externa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hyperlink" Target="https://ohjelmointi-20.mooc.fi/osa-10/1-kokoelmien-kasittely-virtana"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hyperlink" Target="http://www.bing.com/" TargetMode="Externa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hyperlink" Target="https://www.geeksforgeeks.org/queue-interface-java/"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geeksforgeeks.org/stack-data-structure/" TargetMode="Externa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geeksforgeeks.org/stack-data-structure/"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hyperlink" Target="http://cs.hut.fi/u/archie/T-106.253/s2003/Pruju2.pdf" TargetMode="External"/><Relationship Id="rId2" Type="http://schemas.openxmlformats.org/officeDocument/2006/relationships/hyperlink" Target="http://cs.hut.fi/u/archie/T-106.253/s2003/Pruju1.pdf" TargetMode="External"/><Relationship Id="rId1" Type="http://schemas.openxmlformats.org/officeDocument/2006/relationships/slideLayout" Target="../slideLayouts/slideLayout2.xml"/><Relationship Id="rId4" Type="http://schemas.openxmlformats.org/officeDocument/2006/relationships/hyperlink" Target="http://www.cs.hut.fi/Opinnot/T-106.250/materiaali/book/Kasitteita_ominaisuuksia.html"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hyperlink" Target="http://cs.hut.fi/u/archie/T-106.253/s2003/Pruju1.pdf" TargetMode="Externa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hyperlink" Target="https://www.siggraph.org/education/materials/HyperGraph/video/mpeg/mpegfaq/huffman_tutorial.html" TargetMode="External"/><Relationship Id="rId2" Type="http://schemas.openxmlformats.org/officeDocument/2006/relationships/hyperlink" Target="https://fi.wikipedia.org/wiki/Huffmanin_koodaus" TargetMode="External"/><Relationship Id="rId1" Type="http://schemas.openxmlformats.org/officeDocument/2006/relationships/slideLayout" Target="../slideLayouts/slideLayout2.xml"/><Relationship Id="rId4" Type="http://schemas.openxmlformats.org/officeDocument/2006/relationships/hyperlink" Target="https://people.ok.ubc.ca/ylucet/DS/Huffma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BF08A-C41A-C4D9-252B-8AE64867F30A}"/>
              </a:ext>
            </a:extLst>
          </p:cNvPr>
          <p:cNvSpPr>
            <a:spLocks noGrp="1"/>
          </p:cNvSpPr>
          <p:nvPr>
            <p:ph type="ctrTitle"/>
          </p:nvPr>
        </p:nvSpPr>
        <p:spPr/>
        <p:txBody>
          <a:bodyPr/>
          <a:lstStyle/>
          <a:p>
            <a:r>
              <a:rPr lang="fi-FI" dirty="0"/>
              <a:t>Tietorakenteet ja algoritmit</a:t>
            </a:r>
          </a:p>
        </p:txBody>
      </p:sp>
      <p:sp>
        <p:nvSpPr>
          <p:cNvPr id="3" name="Subtitle 2">
            <a:extLst>
              <a:ext uri="{FF2B5EF4-FFF2-40B4-BE49-F238E27FC236}">
                <a16:creationId xmlns:a16="http://schemas.microsoft.com/office/drawing/2014/main" id="{5383EB2F-9D98-B428-A394-B9F8B7052CED}"/>
              </a:ext>
            </a:extLst>
          </p:cNvPr>
          <p:cNvSpPr>
            <a:spLocks noGrp="1"/>
          </p:cNvSpPr>
          <p:nvPr>
            <p:ph type="subTitle" idx="1"/>
          </p:nvPr>
        </p:nvSpPr>
        <p:spPr/>
        <p:txBody>
          <a:bodyPr/>
          <a:lstStyle/>
          <a:p>
            <a:r>
              <a:rPr lang="fi-FI" dirty="0"/>
              <a:t>TITE23</a:t>
            </a:r>
          </a:p>
          <a:p>
            <a:r>
              <a:rPr lang="fi-FI" dirty="0"/>
              <a:t>Petteri Mäkelä</a:t>
            </a:r>
          </a:p>
          <a:p>
            <a:r>
              <a:rPr lang="fi-FI" dirty="0">
                <a:hlinkClick r:id="rId2"/>
              </a:rPr>
              <a:t>https://github.com/lpemake/TrakTite24</a:t>
            </a:r>
            <a:r>
              <a:rPr lang="fi-FI" dirty="0"/>
              <a:t> </a:t>
            </a:r>
          </a:p>
        </p:txBody>
      </p:sp>
    </p:spTree>
    <p:extLst>
      <p:ext uri="{BB962C8B-B14F-4D97-AF65-F5344CB8AC3E}">
        <p14:creationId xmlns:p14="http://schemas.microsoft.com/office/powerpoint/2010/main" val="1740730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77F68-37B4-A5A0-6E99-83A2C016997B}"/>
              </a:ext>
            </a:extLst>
          </p:cNvPr>
          <p:cNvSpPr>
            <a:spLocks noGrp="1"/>
          </p:cNvSpPr>
          <p:nvPr>
            <p:ph type="title"/>
          </p:nvPr>
        </p:nvSpPr>
        <p:spPr/>
        <p:txBody>
          <a:bodyPr/>
          <a:lstStyle/>
          <a:p>
            <a:r>
              <a:rPr lang="fi-FI" dirty="0"/>
              <a:t>Tietorakenteet ja algoritmit 2024</a:t>
            </a:r>
          </a:p>
        </p:txBody>
      </p:sp>
      <p:sp>
        <p:nvSpPr>
          <p:cNvPr id="3" name="Content Placeholder 2">
            <a:extLst>
              <a:ext uri="{FF2B5EF4-FFF2-40B4-BE49-F238E27FC236}">
                <a16:creationId xmlns:a16="http://schemas.microsoft.com/office/drawing/2014/main" id="{D5A5DA74-53A0-2973-B69E-E11C5273CD05}"/>
              </a:ext>
            </a:extLst>
          </p:cNvPr>
          <p:cNvSpPr>
            <a:spLocks noGrp="1"/>
          </p:cNvSpPr>
          <p:nvPr>
            <p:ph idx="1"/>
          </p:nvPr>
        </p:nvSpPr>
        <p:spPr/>
        <p:txBody>
          <a:bodyPr>
            <a:normAutofit/>
          </a:bodyPr>
          <a:lstStyle/>
          <a:p>
            <a:pPr eaLnBrk="1" hangingPunct="1">
              <a:lnSpc>
                <a:spcPct val="90000"/>
              </a:lnSpc>
            </a:pPr>
            <a:r>
              <a:rPr lang="fi-FI" altLang="fi-FI" dirty="0"/>
              <a:t>4 opintopistettä</a:t>
            </a:r>
          </a:p>
          <a:p>
            <a:pPr eaLnBrk="1" hangingPunct="1">
              <a:lnSpc>
                <a:spcPct val="90000"/>
              </a:lnSpc>
            </a:pPr>
            <a:r>
              <a:rPr lang="fi-FI" altLang="fi-FI" dirty="0"/>
              <a:t>Kurssin suoritus</a:t>
            </a:r>
          </a:p>
          <a:p>
            <a:pPr lvl="1" eaLnBrk="1" hangingPunct="1">
              <a:lnSpc>
                <a:spcPct val="90000"/>
              </a:lnSpc>
            </a:pPr>
            <a:r>
              <a:rPr lang="fi-FI" altLang="fi-FI" dirty="0"/>
              <a:t>Tentti</a:t>
            </a:r>
          </a:p>
          <a:p>
            <a:pPr lvl="1" eaLnBrk="1" hangingPunct="1">
              <a:lnSpc>
                <a:spcPct val="90000"/>
              </a:lnSpc>
            </a:pPr>
            <a:r>
              <a:rPr lang="fi-FI" altLang="fi-FI" dirty="0"/>
              <a:t>2  harjoitustyötä</a:t>
            </a:r>
          </a:p>
          <a:p>
            <a:pPr lvl="2"/>
            <a:r>
              <a:rPr lang="fi-FI" altLang="fi-FI" dirty="0"/>
              <a:t>Järjestämisalgoritmien vertailu</a:t>
            </a:r>
          </a:p>
          <a:p>
            <a:pPr lvl="2"/>
            <a:r>
              <a:rPr lang="fi-FI" altLang="fi-FI" dirty="0"/>
              <a:t>Laajempi harjoitustyö</a:t>
            </a:r>
          </a:p>
          <a:p>
            <a:r>
              <a:rPr lang="fi-FI" altLang="fi-FI" dirty="0"/>
              <a:t>Ohjelmointikielenä on Java</a:t>
            </a:r>
          </a:p>
          <a:p>
            <a:r>
              <a:rPr lang="fi-FI" altLang="fi-FI" dirty="0"/>
              <a:t>Esimerkkikoodit löytyvät täältä:</a:t>
            </a:r>
          </a:p>
          <a:p>
            <a:pPr lvl="1"/>
            <a:r>
              <a:rPr lang="fi-FI" altLang="fi-FI">
                <a:hlinkClick r:id="rId2"/>
              </a:rPr>
              <a:t>https://github.com/lpemake/TrakTite24</a:t>
            </a:r>
            <a:r>
              <a:rPr lang="fi-FI" altLang="fi-FI"/>
              <a:t> </a:t>
            </a:r>
            <a:endParaRPr lang="fi-FI" altLang="fi-FI" dirty="0"/>
          </a:p>
          <a:p>
            <a:endParaRPr lang="fi-FI" sz="3200" dirty="0"/>
          </a:p>
        </p:txBody>
      </p:sp>
    </p:spTree>
    <p:extLst>
      <p:ext uri="{BB962C8B-B14F-4D97-AF65-F5344CB8AC3E}">
        <p14:creationId xmlns:p14="http://schemas.microsoft.com/office/powerpoint/2010/main" val="22020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8BF6-7810-D31E-F654-974CF8453151}"/>
              </a:ext>
            </a:extLst>
          </p:cNvPr>
          <p:cNvSpPr>
            <a:spLocks noGrp="1"/>
          </p:cNvSpPr>
          <p:nvPr>
            <p:ph type="title"/>
          </p:nvPr>
        </p:nvSpPr>
        <p:spPr/>
        <p:txBody>
          <a:bodyPr/>
          <a:lstStyle/>
          <a:p>
            <a:r>
              <a:rPr lang="fi-FI" dirty="0"/>
              <a:t>Tietorakenteet ja algoritmit 2024</a:t>
            </a:r>
          </a:p>
        </p:txBody>
      </p:sp>
      <p:sp>
        <p:nvSpPr>
          <p:cNvPr id="3" name="Content Placeholder 2">
            <a:extLst>
              <a:ext uri="{FF2B5EF4-FFF2-40B4-BE49-F238E27FC236}">
                <a16:creationId xmlns:a16="http://schemas.microsoft.com/office/drawing/2014/main" id="{F82D5A85-C3B0-370F-6304-2F017C5EB1C8}"/>
              </a:ext>
            </a:extLst>
          </p:cNvPr>
          <p:cNvSpPr>
            <a:spLocks noGrp="1"/>
          </p:cNvSpPr>
          <p:nvPr>
            <p:ph idx="1"/>
          </p:nvPr>
        </p:nvSpPr>
        <p:spPr/>
        <p:txBody>
          <a:bodyPr>
            <a:normAutofit/>
          </a:bodyPr>
          <a:lstStyle/>
          <a:p>
            <a:pPr eaLnBrk="1" hangingPunct="1">
              <a:lnSpc>
                <a:spcPct val="90000"/>
              </a:lnSpc>
            </a:pPr>
            <a:r>
              <a:rPr lang="fi-FI" altLang="fi-FI" dirty="0"/>
              <a:t>Materiaali</a:t>
            </a:r>
          </a:p>
          <a:p>
            <a:pPr lvl="1"/>
            <a:r>
              <a:rPr lang="fi-FI" altLang="fi-FI" dirty="0"/>
              <a:t>Tämä Powerpoint-tiedosto</a:t>
            </a:r>
          </a:p>
          <a:p>
            <a:pPr lvl="1"/>
            <a:r>
              <a:rPr lang="fi-FI" altLang="fi-FI" dirty="0"/>
              <a:t>Tukimateriaalia:</a:t>
            </a:r>
          </a:p>
          <a:p>
            <a:pPr lvl="2"/>
            <a:r>
              <a:rPr lang="fi-FI" altLang="fi-FI" sz="1800" dirty="0">
                <a:hlinkClick r:id="rId2"/>
              </a:rPr>
              <a:t>https://tira.mooc.fi/syksy-2023/</a:t>
            </a:r>
            <a:r>
              <a:rPr lang="fi-FI" altLang="fi-FI" sz="1800" dirty="0"/>
              <a:t> (Python)</a:t>
            </a:r>
          </a:p>
          <a:p>
            <a:pPr lvl="2"/>
            <a:r>
              <a:rPr lang="fi-FI" sz="1800" dirty="0">
                <a:hlinkClick r:id="rId3"/>
              </a:rPr>
              <a:t>https://tira-s19.mooc.fi/</a:t>
            </a:r>
            <a:r>
              <a:rPr lang="fi-FI" sz="1800" dirty="0"/>
              <a:t> (Python, Java)</a:t>
            </a:r>
          </a:p>
          <a:p>
            <a:pPr lvl="2"/>
            <a:r>
              <a:rPr lang="fi-FI" altLang="fi-FI" sz="1800" dirty="0">
                <a:hlinkClick r:id="rId4"/>
              </a:rPr>
              <a:t>https://www.cs.helsinki.fi/u/ahslaaks/tirakirja/</a:t>
            </a:r>
            <a:r>
              <a:rPr lang="fi-FI" altLang="fi-FI" sz="1800" dirty="0"/>
              <a:t> </a:t>
            </a:r>
          </a:p>
          <a:p>
            <a:pPr lvl="2"/>
            <a:r>
              <a:rPr lang="fi-FI" altLang="fi-FI" sz="1800" dirty="0">
                <a:hlinkClick r:id="rId5"/>
              </a:rPr>
              <a:t>https://ohjelmointi-20.mooc.fi/</a:t>
            </a:r>
            <a:r>
              <a:rPr lang="fi-FI" altLang="fi-FI" sz="1800" dirty="0"/>
              <a:t> (Ohjelmoinnin perusteet Javalla)</a:t>
            </a:r>
          </a:p>
          <a:p>
            <a:pPr eaLnBrk="1" hangingPunct="1">
              <a:lnSpc>
                <a:spcPct val="90000"/>
              </a:lnSpc>
            </a:pPr>
            <a:r>
              <a:rPr lang="fi-FI" altLang="fi-FI" dirty="0"/>
              <a:t>Kurssin sisältö</a:t>
            </a:r>
          </a:p>
          <a:p>
            <a:pPr lvl="1" eaLnBrk="1" hangingPunct="1">
              <a:lnSpc>
                <a:spcPct val="90000"/>
              </a:lnSpc>
            </a:pPr>
            <a:r>
              <a:rPr lang="fi-FI" altLang="fi-FI" dirty="0"/>
              <a:t>Perustietorakenteet ja algoritmit (tiedon tallennusrakenteet, haku ja järjestelyalgoritmit </a:t>
            </a:r>
            <a:r>
              <a:rPr lang="fi-FI" altLang="fi-FI" dirty="0" err="1"/>
              <a:t>yms</a:t>
            </a:r>
            <a:r>
              <a:rPr lang="fi-FI" altLang="fi-FI" dirty="0"/>
              <a:t>)</a:t>
            </a:r>
          </a:p>
          <a:p>
            <a:pPr lvl="1" eaLnBrk="1" hangingPunct="1">
              <a:lnSpc>
                <a:spcPct val="90000"/>
              </a:lnSpc>
            </a:pPr>
            <a:r>
              <a:rPr lang="fi-FI" altLang="fi-FI" dirty="0"/>
              <a:t>Javan valmiit tietorakenneluokat ja niiden käyttö</a:t>
            </a:r>
          </a:p>
        </p:txBody>
      </p:sp>
    </p:spTree>
    <p:extLst>
      <p:ext uri="{BB962C8B-B14F-4D97-AF65-F5344CB8AC3E}">
        <p14:creationId xmlns:p14="http://schemas.microsoft.com/office/powerpoint/2010/main" val="1223124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A379C-7F97-72E9-25B3-0B8F52AC09F0}"/>
              </a:ext>
            </a:extLst>
          </p:cNvPr>
          <p:cNvSpPr>
            <a:spLocks noGrp="1"/>
          </p:cNvSpPr>
          <p:nvPr>
            <p:ph type="title"/>
          </p:nvPr>
        </p:nvSpPr>
        <p:spPr/>
        <p:txBody>
          <a:bodyPr/>
          <a:lstStyle/>
          <a:p>
            <a:r>
              <a:rPr lang="fi-FI" dirty="0"/>
              <a:t>Tavoitteet</a:t>
            </a:r>
          </a:p>
        </p:txBody>
      </p:sp>
      <p:sp>
        <p:nvSpPr>
          <p:cNvPr id="3" name="Content Placeholder 2">
            <a:extLst>
              <a:ext uri="{FF2B5EF4-FFF2-40B4-BE49-F238E27FC236}">
                <a16:creationId xmlns:a16="http://schemas.microsoft.com/office/drawing/2014/main" id="{854C5913-7463-AE38-87BF-73096F5F4F0B}"/>
              </a:ext>
            </a:extLst>
          </p:cNvPr>
          <p:cNvSpPr>
            <a:spLocks noGrp="1"/>
          </p:cNvSpPr>
          <p:nvPr>
            <p:ph idx="1"/>
          </p:nvPr>
        </p:nvSpPr>
        <p:spPr/>
        <p:txBody>
          <a:bodyPr/>
          <a:lstStyle/>
          <a:p>
            <a:pPr eaLnBrk="1" hangingPunct="1">
              <a:lnSpc>
                <a:spcPct val="90000"/>
              </a:lnSpc>
            </a:pPr>
            <a:r>
              <a:rPr lang="fi-FI" altLang="fi-FI" dirty="0"/>
              <a:t>Opiskelija hallitsee perustietorakenteet ja osaa hyödyntää Javan valmiita tietorakenneluokkia.</a:t>
            </a:r>
          </a:p>
          <a:p>
            <a:pPr eaLnBrk="1" hangingPunct="1">
              <a:lnSpc>
                <a:spcPct val="90000"/>
              </a:lnSpc>
            </a:pPr>
            <a:r>
              <a:rPr lang="fi-FI" altLang="fi-FI" dirty="0"/>
              <a:t>Tavoitteena on myös parantaa ohjelmointitaitoja</a:t>
            </a:r>
          </a:p>
          <a:p>
            <a:pPr marL="0" indent="0">
              <a:buNone/>
            </a:pPr>
            <a:endParaRPr lang="fi-FI" dirty="0"/>
          </a:p>
        </p:txBody>
      </p:sp>
    </p:spTree>
    <p:extLst>
      <p:ext uri="{BB962C8B-B14F-4D97-AF65-F5344CB8AC3E}">
        <p14:creationId xmlns:p14="http://schemas.microsoft.com/office/powerpoint/2010/main" val="4109286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6051-B678-CB3B-C378-FBE30D958C87}"/>
              </a:ext>
            </a:extLst>
          </p:cNvPr>
          <p:cNvSpPr>
            <a:spLocks noGrp="1"/>
          </p:cNvSpPr>
          <p:nvPr>
            <p:ph type="title"/>
          </p:nvPr>
        </p:nvSpPr>
        <p:spPr/>
        <p:txBody>
          <a:bodyPr/>
          <a:lstStyle/>
          <a:p>
            <a:r>
              <a:rPr lang="fi-FI" dirty="0"/>
              <a:t>Sisällöstä</a:t>
            </a:r>
          </a:p>
        </p:txBody>
      </p:sp>
      <p:sp>
        <p:nvSpPr>
          <p:cNvPr id="3" name="Content Placeholder 2">
            <a:extLst>
              <a:ext uri="{FF2B5EF4-FFF2-40B4-BE49-F238E27FC236}">
                <a16:creationId xmlns:a16="http://schemas.microsoft.com/office/drawing/2014/main" id="{5FBCB96D-6CA3-9C1C-06AC-E43092DB0E1F}"/>
              </a:ext>
            </a:extLst>
          </p:cNvPr>
          <p:cNvSpPr>
            <a:spLocks noGrp="1"/>
          </p:cNvSpPr>
          <p:nvPr>
            <p:ph idx="1"/>
          </p:nvPr>
        </p:nvSpPr>
        <p:spPr/>
        <p:txBody>
          <a:bodyPr/>
          <a:lstStyle/>
          <a:p>
            <a:pPr eaLnBrk="1" hangingPunct="1">
              <a:lnSpc>
                <a:spcPct val="80000"/>
              </a:lnSpc>
            </a:pPr>
            <a:r>
              <a:rPr lang="fi-FI" altLang="fi-FI" dirty="0"/>
              <a:t>Tietorakenteiden ja algoritmien opiskelu on perinteisesti ollut varsin teoreettista. Algoritmeja on tarkasteltu yksityiskohtaisesti ja algoritmien analysoinnissa on ollut aika suuri paino.</a:t>
            </a:r>
          </a:p>
          <a:p>
            <a:pPr eaLnBrk="1" hangingPunct="1">
              <a:lnSpc>
                <a:spcPct val="80000"/>
              </a:lnSpc>
            </a:pPr>
            <a:r>
              <a:rPr lang="fi-FI" altLang="fi-FI" dirty="0"/>
              <a:t>Tällä kurssilla paino on enemmän tietorakenteiden ja algoritmien käytännön hyödyntämisessä kuin analyysissä. Teoriapohjaa ei kuitenkaan unohdeta.</a:t>
            </a:r>
          </a:p>
          <a:p>
            <a:pPr eaLnBrk="1" hangingPunct="1">
              <a:lnSpc>
                <a:spcPct val="80000"/>
              </a:lnSpc>
            </a:pPr>
            <a:r>
              <a:rPr lang="fi-FI" altLang="fi-FI" dirty="0"/>
              <a:t>Tietorakenteita ja algoritmeja tehdään myös itse ohjelmoiden, mutta käytetään myös valmiita tietorakenneluokkia</a:t>
            </a:r>
          </a:p>
          <a:p>
            <a:endParaRPr lang="fi-FI" dirty="0"/>
          </a:p>
        </p:txBody>
      </p:sp>
    </p:spTree>
    <p:extLst>
      <p:ext uri="{BB962C8B-B14F-4D97-AF65-F5344CB8AC3E}">
        <p14:creationId xmlns:p14="http://schemas.microsoft.com/office/powerpoint/2010/main" val="3339090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5D88-26C5-5447-FFB6-F7DF1155512E}"/>
              </a:ext>
            </a:extLst>
          </p:cNvPr>
          <p:cNvSpPr>
            <a:spLocks noGrp="1"/>
          </p:cNvSpPr>
          <p:nvPr>
            <p:ph type="title"/>
          </p:nvPr>
        </p:nvSpPr>
        <p:spPr/>
        <p:txBody>
          <a:bodyPr/>
          <a:lstStyle/>
          <a:p>
            <a:r>
              <a:rPr lang="fi-FI" dirty="0"/>
              <a:t>Ohjelmointikieli</a:t>
            </a:r>
          </a:p>
        </p:txBody>
      </p:sp>
      <p:sp>
        <p:nvSpPr>
          <p:cNvPr id="3" name="Content Placeholder 2">
            <a:extLst>
              <a:ext uri="{FF2B5EF4-FFF2-40B4-BE49-F238E27FC236}">
                <a16:creationId xmlns:a16="http://schemas.microsoft.com/office/drawing/2014/main" id="{0DA3C354-DDF2-472D-54FD-AA0A4AE672CE}"/>
              </a:ext>
            </a:extLst>
          </p:cNvPr>
          <p:cNvSpPr>
            <a:spLocks noGrp="1"/>
          </p:cNvSpPr>
          <p:nvPr>
            <p:ph idx="1"/>
          </p:nvPr>
        </p:nvSpPr>
        <p:spPr/>
        <p:txBody>
          <a:bodyPr/>
          <a:lstStyle/>
          <a:p>
            <a:pPr eaLnBrk="1" hangingPunct="1">
              <a:lnSpc>
                <a:spcPct val="80000"/>
              </a:lnSpc>
            </a:pPr>
            <a:r>
              <a:rPr lang="fi-FI" altLang="fi-FI" sz="2800" dirty="0"/>
              <a:t>Perustietorakenteet ja algoritmit eivät ole riippuvaisia ohjelmointikielestä.</a:t>
            </a:r>
          </a:p>
          <a:p>
            <a:pPr eaLnBrk="1" hangingPunct="1">
              <a:lnSpc>
                <a:spcPct val="80000"/>
              </a:lnSpc>
            </a:pPr>
            <a:r>
              <a:rPr lang="fi-FI" altLang="fi-FI" sz="2800" dirty="0"/>
              <a:t>Tällä kurssilla ohjelmointikielenä käytetään Java-ohjelmointikieliä. Opintojakso olisi aika samanlainen, vaikka käytettäisiin C#:ia tai Pythonia.</a:t>
            </a:r>
          </a:p>
          <a:p>
            <a:pPr eaLnBrk="1" hangingPunct="1">
              <a:lnSpc>
                <a:spcPct val="80000"/>
              </a:lnSpc>
            </a:pPr>
            <a:r>
              <a:rPr lang="fi-FI" altLang="fi-FI" sz="2800" dirty="0"/>
              <a:t>Valmiit tietorakenneluokat ja algoritmit ovat hieman erilaisia eri ohjelmointikielissä. Tällä kurssilla perehdytään Javan valmiiden tietorakenneluokkien käyttöön.</a:t>
            </a:r>
          </a:p>
          <a:p>
            <a:endParaRPr lang="fi-FI" dirty="0"/>
          </a:p>
        </p:txBody>
      </p:sp>
    </p:spTree>
    <p:extLst>
      <p:ext uri="{BB962C8B-B14F-4D97-AF65-F5344CB8AC3E}">
        <p14:creationId xmlns:p14="http://schemas.microsoft.com/office/powerpoint/2010/main" val="1363441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fi-FI" altLang="fi-FI"/>
              <a:t>Kurssin suoritus</a:t>
            </a:r>
          </a:p>
        </p:txBody>
      </p:sp>
      <p:sp>
        <p:nvSpPr>
          <p:cNvPr id="8195" name="Rectangle 3"/>
          <p:cNvSpPr>
            <a:spLocks noGrp="1" noChangeArrowheads="1"/>
          </p:cNvSpPr>
          <p:nvPr>
            <p:ph type="body" idx="1"/>
          </p:nvPr>
        </p:nvSpPr>
        <p:spPr/>
        <p:txBody>
          <a:bodyPr/>
          <a:lstStyle/>
          <a:p>
            <a:pPr eaLnBrk="1" hangingPunct="1"/>
            <a:r>
              <a:rPr lang="fi-FI" altLang="fi-FI" dirty="0"/>
              <a:t>Aktiivinen osallistuminen oppitunneille</a:t>
            </a:r>
          </a:p>
          <a:p>
            <a:pPr eaLnBrk="1" hangingPunct="1"/>
            <a:r>
              <a:rPr lang="fi-FI" altLang="fi-FI" dirty="0"/>
              <a:t>Harjoitusten tekeminen</a:t>
            </a:r>
          </a:p>
          <a:p>
            <a:pPr eaLnBrk="1" hangingPunct="1"/>
            <a:r>
              <a:rPr lang="fi-FI" altLang="fi-FI" dirty="0"/>
              <a:t>Oppikirjojen ja www-materiaalin lukeminen</a:t>
            </a:r>
          </a:p>
          <a:p>
            <a:pPr eaLnBrk="1" hangingPunct="1"/>
            <a:r>
              <a:rPr lang="fi-FI" altLang="fi-FI" dirty="0"/>
              <a:t>Arvostelu</a:t>
            </a:r>
          </a:p>
          <a:p>
            <a:pPr lvl="1" eaLnBrk="1" hangingPunct="1"/>
            <a:r>
              <a:rPr lang="fi-FI" altLang="fi-FI" dirty="0"/>
              <a:t>Tentti</a:t>
            </a:r>
          </a:p>
          <a:p>
            <a:pPr lvl="1" eaLnBrk="1" hangingPunct="1"/>
            <a:r>
              <a:rPr lang="fi-FI" altLang="fi-FI" dirty="0"/>
              <a:t>2 harjoitustyötä</a:t>
            </a:r>
          </a:p>
          <a:p>
            <a:pPr lvl="1"/>
            <a:r>
              <a:rPr lang="fi-FI" altLang="fi-FI" dirty="0"/>
              <a:t>Harjoitustyöt on palautettava ajoissa</a:t>
            </a:r>
          </a:p>
        </p:txBody>
      </p:sp>
    </p:spTree>
    <p:extLst>
      <p:ext uri="{BB962C8B-B14F-4D97-AF65-F5344CB8AC3E}">
        <p14:creationId xmlns:p14="http://schemas.microsoft.com/office/powerpoint/2010/main" val="56708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9F8A6-21DB-E318-E80C-566F5D035AFE}"/>
              </a:ext>
            </a:extLst>
          </p:cNvPr>
          <p:cNvSpPr>
            <a:spLocks noGrp="1"/>
          </p:cNvSpPr>
          <p:nvPr>
            <p:ph type="title"/>
          </p:nvPr>
        </p:nvSpPr>
        <p:spPr/>
        <p:txBody>
          <a:bodyPr/>
          <a:lstStyle/>
          <a:p>
            <a:r>
              <a:rPr lang="fi-FI" dirty="0"/>
              <a:t>Sisältö</a:t>
            </a:r>
          </a:p>
        </p:txBody>
      </p:sp>
      <p:sp>
        <p:nvSpPr>
          <p:cNvPr id="3" name="Content Placeholder 2">
            <a:extLst>
              <a:ext uri="{FF2B5EF4-FFF2-40B4-BE49-F238E27FC236}">
                <a16:creationId xmlns:a16="http://schemas.microsoft.com/office/drawing/2014/main" id="{53C7BFCB-FB11-F82E-FFD9-7B9F4937BCE5}"/>
              </a:ext>
            </a:extLst>
          </p:cNvPr>
          <p:cNvSpPr>
            <a:spLocks noGrp="1"/>
          </p:cNvSpPr>
          <p:nvPr>
            <p:ph idx="1"/>
          </p:nvPr>
        </p:nvSpPr>
        <p:spPr/>
        <p:txBody>
          <a:bodyPr>
            <a:normAutofit lnSpcReduction="10000"/>
          </a:bodyPr>
          <a:lstStyle/>
          <a:p>
            <a:pPr eaLnBrk="1" hangingPunct="1">
              <a:lnSpc>
                <a:spcPct val="90000"/>
              </a:lnSpc>
            </a:pPr>
            <a:r>
              <a:rPr lang="fi-FI" altLang="fi-FI" dirty="0"/>
              <a:t>1. Taulukot ja listat</a:t>
            </a:r>
          </a:p>
          <a:p>
            <a:pPr eaLnBrk="1" hangingPunct="1">
              <a:lnSpc>
                <a:spcPct val="90000"/>
              </a:lnSpc>
            </a:pPr>
            <a:r>
              <a:rPr lang="fi-FI" altLang="fi-FI" dirty="0"/>
              <a:t>2. Järjestetty lista, puolitushaku</a:t>
            </a:r>
          </a:p>
          <a:p>
            <a:pPr eaLnBrk="1" hangingPunct="1">
              <a:lnSpc>
                <a:spcPct val="90000"/>
              </a:lnSpc>
            </a:pPr>
            <a:r>
              <a:rPr lang="fi-FI" altLang="fi-FI" dirty="0"/>
              <a:t>3. Järjestämisalgoritmit </a:t>
            </a:r>
          </a:p>
          <a:p>
            <a:pPr eaLnBrk="1" hangingPunct="1">
              <a:lnSpc>
                <a:spcPct val="90000"/>
              </a:lnSpc>
            </a:pPr>
            <a:r>
              <a:rPr lang="fi-FI" altLang="fi-FI" dirty="0"/>
              <a:t>5. Pino, jono, rengaspuskuri</a:t>
            </a:r>
          </a:p>
          <a:p>
            <a:pPr eaLnBrk="1" hangingPunct="1">
              <a:lnSpc>
                <a:spcPct val="90000"/>
              </a:lnSpc>
            </a:pPr>
            <a:r>
              <a:rPr lang="fi-FI" altLang="fi-FI" dirty="0"/>
              <a:t>6. Javan tietorakenneluokat, perusteet, olioiden järjestäminen</a:t>
            </a:r>
          </a:p>
          <a:p>
            <a:pPr eaLnBrk="1" hangingPunct="1">
              <a:lnSpc>
                <a:spcPct val="90000"/>
              </a:lnSpc>
            </a:pPr>
            <a:r>
              <a:rPr lang="fi-FI" altLang="fi-FI" dirty="0"/>
              <a:t>7. Puurakenteet ja hakurakenteet</a:t>
            </a:r>
          </a:p>
          <a:p>
            <a:pPr marL="0" indent="0" eaLnBrk="1" hangingPunct="1">
              <a:lnSpc>
                <a:spcPct val="90000"/>
              </a:lnSpc>
              <a:buNone/>
            </a:pPr>
            <a:r>
              <a:rPr lang="fi-FI" altLang="fi-FI" dirty="0"/>
              <a:t>Harjoitustyöt</a:t>
            </a:r>
          </a:p>
          <a:p>
            <a:pPr eaLnBrk="1" hangingPunct="1"/>
            <a:r>
              <a:rPr lang="fi-FI" altLang="fi-FI" dirty="0"/>
              <a:t>1. Järjestämisalgoritmit</a:t>
            </a:r>
          </a:p>
          <a:p>
            <a:pPr eaLnBrk="1" hangingPunct="1"/>
            <a:r>
              <a:rPr lang="fi-FI" altLang="fi-FI" dirty="0"/>
              <a:t>2. Pino-, jono- ja puurakenteet tai Javan tietorakenneluokat</a:t>
            </a:r>
          </a:p>
          <a:p>
            <a:endParaRPr lang="fi-FI" dirty="0"/>
          </a:p>
        </p:txBody>
      </p:sp>
    </p:spTree>
    <p:extLst>
      <p:ext uri="{BB962C8B-B14F-4D97-AF65-F5344CB8AC3E}">
        <p14:creationId xmlns:p14="http://schemas.microsoft.com/office/powerpoint/2010/main" val="3276825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29C77-B23E-74EC-9FB8-3AABAFC2EDBE}"/>
              </a:ext>
            </a:extLst>
          </p:cNvPr>
          <p:cNvSpPr>
            <a:spLocks noGrp="1"/>
          </p:cNvSpPr>
          <p:nvPr>
            <p:ph type="ctrTitle"/>
          </p:nvPr>
        </p:nvSpPr>
        <p:spPr/>
        <p:txBody>
          <a:bodyPr/>
          <a:lstStyle/>
          <a:p>
            <a:r>
              <a:rPr lang="fi-FI" dirty="0"/>
              <a:t>Johdanto</a:t>
            </a:r>
          </a:p>
        </p:txBody>
      </p:sp>
      <p:sp>
        <p:nvSpPr>
          <p:cNvPr id="3" name="Subtitle 2">
            <a:extLst>
              <a:ext uri="{FF2B5EF4-FFF2-40B4-BE49-F238E27FC236}">
                <a16:creationId xmlns:a16="http://schemas.microsoft.com/office/drawing/2014/main" id="{392E41F2-4A43-E7BA-50CE-179BAAC3376A}"/>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695176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fi-FI" altLang="fi-FI"/>
              <a:t>Määritelmä</a:t>
            </a:r>
          </a:p>
        </p:txBody>
      </p:sp>
      <p:sp>
        <p:nvSpPr>
          <p:cNvPr id="12291" name="Rectangle 3"/>
          <p:cNvSpPr>
            <a:spLocks noGrp="1" noChangeArrowheads="1"/>
          </p:cNvSpPr>
          <p:nvPr>
            <p:ph type="body" idx="1"/>
          </p:nvPr>
        </p:nvSpPr>
        <p:spPr/>
        <p:txBody>
          <a:bodyPr/>
          <a:lstStyle/>
          <a:p>
            <a:pPr>
              <a:buFontTx/>
              <a:buChar char="•"/>
            </a:pPr>
            <a:r>
              <a:rPr lang="fi-FI" altLang="fi-FI" dirty="0"/>
              <a:t>Algoritmi:</a:t>
            </a:r>
          </a:p>
          <a:p>
            <a:pPr lvl="1">
              <a:buClr>
                <a:schemeClr val="accent2"/>
              </a:buClr>
            </a:pPr>
            <a:r>
              <a:rPr lang="fi-FI" altLang="fi-FI" dirty="0"/>
              <a:t>”Täsmällinen menettelytapa, joka ratkaisee jonkin hyvin määritellyn laskennallisen ongelman”</a:t>
            </a:r>
          </a:p>
          <a:p>
            <a:pPr>
              <a:buFontTx/>
              <a:buChar char="•"/>
            </a:pPr>
            <a:r>
              <a:rPr lang="fi-FI" altLang="fi-FI" dirty="0"/>
              <a:t>Tietorakenne:</a:t>
            </a:r>
          </a:p>
          <a:p>
            <a:pPr lvl="1">
              <a:buClr>
                <a:schemeClr val="accent2"/>
              </a:buClr>
            </a:pPr>
            <a:r>
              <a:rPr lang="fi-FI" altLang="fi-FI" dirty="0"/>
              <a:t>”Tietorakenne on joukko tietyn tyyppisiä muuttujia, joilla on jokin määrätty rakenne”</a:t>
            </a:r>
          </a:p>
          <a:p>
            <a:pPr lvl="2" eaLnBrk="1" hangingPunct="1">
              <a:buClr>
                <a:schemeClr val="accent2"/>
              </a:buClr>
            </a:pPr>
            <a:endParaRPr lang="fi-FI" altLang="fi-FI" dirty="0"/>
          </a:p>
          <a:p>
            <a:pPr lvl="2" eaLnBrk="1" hangingPunct="1">
              <a:buClr>
                <a:schemeClr val="accent2"/>
              </a:buClr>
              <a:buFont typeface="Wingdings" panose="05000000000000000000" pitchFamily="2" charset="2"/>
              <a:buNone/>
            </a:pPr>
            <a:r>
              <a:rPr lang="fi-FI" altLang="fi-FI" sz="1200" i="1" dirty="0"/>
              <a:t>(Korhonen A., Malmi L. Tietorakenteet ja algoritmit -opetusmoniste)</a:t>
            </a:r>
          </a:p>
          <a:p>
            <a:pPr eaLnBrk="1" hangingPunct="1"/>
            <a:endParaRPr lang="fi-FI" altLang="fi-FI" dirty="0"/>
          </a:p>
        </p:txBody>
      </p:sp>
    </p:spTree>
    <p:extLst>
      <p:ext uri="{BB962C8B-B14F-4D97-AF65-F5344CB8AC3E}">
        <p14:creationId xmlns:p14="http://schemas.microsoft.com/office/powerpoint/2010/main" val="3120923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48EF7-9D72-B99F-8A70-A692BDA8A64C}"/>
              </a:ext>
            </a:extLst>
          </p:cNvPr>
          <p:cNvSpPr>
            <a:spLocks noGrp="1"/>
          </p:cNvSpPr>
          <p:nvPr>
            <p:ph type="title"/>
          </p:nvPr>
        </p:nvSpPr>
        <p:spPr/>
        <p:txBody>
          <a:bodyPr/>
          <a:lstStyle/>
          <a:p>
            <a:r>
              <a:rPr lang="fi-FI" dirty="0"/>
              <a:t>Tietorakenteet ja algoritmit</a:t>
            </a:r>
          </a:p>
        </p:txBody>
      </p:sp>
      <p:sp>
        <p:nvSpPr>
          <p:cNvPr id="3" name="Content Placeholder 2">
            <a:extLst>
              <a:ext uri="{FF2B5EF4-FFF2-40B4-BE49-F238E27FC236}">
                <a16:creationId xmlns:a16="http://schemas.microsoft.com/office/drawing/2014/main" id="{0B5D4AEA-BEE9-EA0A-5EED-5F2609C7E8C2}"/>
              </a:ext>
            </a:extLst>
          </p:cNvPr>
          <p:cNvSpPr>
            <a:spLocks noGrp="1"/>
          </p:cNvSpPr>
          <p:nvPr>
            <p:ph idx="1"/>
          </p:nvPr>
        </p:nvSpPr>
        <p:spPr/>
        <p:txBody>
          <a:bodyPr>
            <a:normAutofit lnSpcReduction="10000"/>
          </a:bodyPr>
          <a:lstStyle/>
          <a:p>
            <a:r>
              <a:rPr lang="fi-FI" dirty="0"/>
              <a:t>Kurssin tavoitteena on opettaa menetelmiä, joilla voidaan ratkaista tehokkaasti laskennallisia ongelmia.</a:t>
            </a:r>
          </a:p>
          <a:p>
            <a:r>
              <a:rPr lang="fi-FI" altLang="fi-FI" sz="2800" dirty="0"/>
              <a:t>Yksinkertaisimmatkin tietokoneohjelmat käyttävät tietorakenteita ja algoritmeja. Esimerkiksi Pepin </a:t>
            </a:r>
            <a:r>
              <a:rPr lang="fi-FI" altLang="fi-FI" sz="2800" dirty="0" err="1"/>
              <a:t>HOPS:n</a:t>
            </a:r>
            <a:r>
              <a:rPr lang="fi-FI" altLang="fi-FI" sz="2800" dirty="0"/>
              <a:t> tulostava ohjelma käy opintojaksot läpi silmukassa ja tulostaa kurssien tiedot näkymään. </a:t>
            </a:r>
            <a:endParaRPr lang="fi-FI" altLang="fi-FI" dirty="0"/>
          </a:p>
          <a:p>
            <a:pPr lvl="1"/>
            <a:r>
              <a:rPr lang="fi-FI" altLang="fi-FI" dirty="0"/>
              <a:t>Lista opintojaksoista on tietorakenne</a:t>
            </a:r>
          </a:p>
          <a:p>
            <a:pPr lvl="1"/>
            <a:r>
              <a:rPr lang="fi-FI" altLang="fi-FI" dirty="0"/>
              <a:t>Opintojaksot läpikäyvä silmukka on algoritmi</a:t>
            </a:r>
          </a:p>
          <a:p>
            <a:r>
              <a:rPr lang="fi-FI" altLang="fi-FI" sz="2800" dirty="0"/>
              <a:t>Hieman mon</a:t>
            </a:r>
            <a:r>
              <a:rPr lang="fi-FI" altLang="fi-FI" dirty="0"/>
              <a:t>imutkaisempi esimerkki algoritmista on karttaohjelman reittiopas, joka antaa reitin lähtöpaikan ja määränpään välillä. Jotta reitin laskeminen tapahtuisi riittävän nopeasti, tarvitaan tarkoitukseen sopiva tietorakenne ja algoritmi.</a:t>
            </a:r>
            <a:endParaRPr lang="fi-FI" altLang="fi-FI" sz="2800" dirty="0"/>
          </a:p>
        </p:txBody>
      </p:sp>
    </p:spTree>
    <p:extLst>
      <p:ext uri="{BB962C8B-B14F-4D97-AF65-F5344CB8AC3E}">
        <p14:creationId xmlns:p14="http://schemas.microsoft.com/office/powerpoint/2010/main" val="1013191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fi-FI" altLang="fi-FI">
                <a:solidFill>
                  <a:srgbClr val="000099"/>
                </a:solidFill>
              </a:rPr>
              <a:t>Esimerkkejä tietorakenteista</a:t>
            </a:r>
          </a:p>
        </p:txBody>
      </p:sp>
      <p:sp>
        <p:nvSpPr>
          <p:cNvPr id="15363" name="Rectangle 3"/>
          <p:cNvSpPr>
            <a:spLocks noGrp="1" noChangeArrowheads="1"/>
          </p:cNvSpPr>
          <p:nvPr>
            <p:ph type="body" idx="1"/>
          </p:nvPr>
        </p:nvSpPr>
        <p:spPr/>
        <p:txBody>
          <a:bodyPr/>
          <a:lstStyle/>
          <a:p>
            <a:pPr eaLnBrk="1" hangingPunct="1"/>
            <a:r>
              <a:rPr lang="fi-FI" altLang="fi-FI"/>
              <a:t>Taulukko</a:t>
            </a:r>
          </a:p>
          <a:p>
            <a:pPr lvl="1" eaLnBrk="1" hangingPunct="1"/>
            <a:endParaRPr lang="fi-FI" altLang="fi-FI"/>
          </a:p>
          <a:p>
            <a:pPr eaLnBrk="1" hangingPunct="1"/>
            <a:r>
              <a:rPr lang="fi-FI" altLang="fi-FI"/>
              <a:t>Linkitetty lista</a:t>
            </a:r>
          </a:p>
          <a:p>
            <a:pPr eaLnBrk="1" hangingPunct="1"/>
            <a:endParaRPr lang="fi-FI" altLang="fi-FI"/>
          </a:p>
          <a:p>
            <a:pPr eaLnBrk="1" hangingPunct="1"/>
            <a:r>
              <a:rPr lang="fi-FI" altLang="fi-FI"/>
              <a:t>Binääripuu</a:t>
            </a:r>
          </a:p>
        </p:txBody>
      </p:sp>
      <p:sp>
        <p:nvSpPr>
          <p:cNvPr id="15364" name="Rectangle 4"/>
          <p:cNvSpPr>
            <a:spLocks noChangeArrowheads="1"/>
          </p:cNvSpPr>
          <p:nvPr/>
        </p:nvSpPr>
        <p:spPr bwMode="auto">
          <a:xfrm>
            <a:off x="26670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a</a:t>
            </a:r>
          </a:p>
        </p:txBody>
      </p:sp>
      <p:sp>
        <p:nvSpPr>
          <p:cNvPr id="15365" name="Rectangle 18"/>
          <p:cNvSpPr>
            <a:spLocks noChangeArrowheads="1"/>
          </p:cNvSpPr>
          <p:nvPr/>
        </p:nvSpPr>
        <p:spPr bwMode="auto">
          <a:xfrm>
            <a:off x="29718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b</a:t>
            </a:r>
          </a:p>
        </p:txBody>
      </p:sp>
      <p:sp>
        <p:nvSpPr>
          <p:cNvPr id="15366" name="Rectangle 19"/>
          <p:cNvSpPr>
            <a:spLocks noChangeArrowheads="1"/>
          </p:cNvSpPr>
          <p:nvPr/>
        </p:nvSpPr>
        <p:spPr bwMode="auto">
          <a:xfrm>
            <a:off x="32766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c</a:t>
            </a:r>
          </a:p>
        </p:txBody>
      </p:sp>
      <p:sp>
        <p:nvSpPr>
          <p:cNvPr id="15367" name="Rectangle 20"/>
          <p:cNvSpPr>
            <a:spLocks noChangeArrowheads="1"/>
          </p:cNvSpPr>
          <p:nvPr/>
        </p:nvSpPr>
        <p:spPr bwMode="auto">
          <a:xfrm>
            <a:off x="35814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d</a:t>
            </a:r>
          </a:p>
        </p:txBody>
      </p:sp>
      <p:sp>
        <p:nvSpPr>
          <p:cNvPr id="15368" name="Rectangle 21"/>
          <p:cNvSpPr>
            <a:spLocks noChangeArrowheads="1"/>
          </p:cNvSpPr>
          <p:nvPr/>
        </p:nvSpPr>
        <p:spPr bwMode="auto">
          <a:xfrm>
            <a:off x="38862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e</a:t>
            </a:r>
          </a:p>
        </p:txBody>
      </p:sp>
      <p:sp>
        <p:nvSpPr>
          <p:cNvPr id="15369" name="Rectangle 22"/>
          <p:cNvSpPr>
            <a:spLocks noChangeArrowheads="1"/>
          </p:cNvSpPr>
          <p:nvPr/>
        </p:nvSpPr>
        <p:spPr bwMode="auto">
          <a:xfrm>
            <a:off x="41910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f</a:t>
            </a:r>
          </a:p>
        </p:txBody>
      </p:sp>
      <p:sp>
        <p:nvSpPr>
          <p:cNvPr id="15370" name="Rectangle 23"/>
          <p:cNvSpPr>
            <a:spLocks noChangeArrowheads="1"/>
          </p:cNvSpPr>
          <p:nvPr/>
        </p:nvSpPr>
        <p:spPr bwMode="auto">
          <a:xfrm>
            <a:off x="4495800" y="2383167"/>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g</a:t>
            </a:r>
          </a:p>
        </p:txBody>
      </p:sp>
      <p:sp>
        <p:nvSpPr>
          <p:cNvPr id="15371" name="Rectangle 24"/>
          <p:cNvSpPr>
            <a:spLocks noChangeArrowheads="1"/>
          </p:cNvSpPr>
          <p:nvPr/>
        </p:nvSpPr>
        <p:spPr bwMode="auto">
          <a:xfrm>
            <a:off x="25908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a</a:t>
            </a:r>
          </a:p>
        </p:txBody>
      </p:sp>
      <p:sp>
        <p:nvSpPr>
          <p:cNvPr id="15372" name="Rectangle 25"/>
          <p:cNvSpPr>
            <a:spLocks noChangeArrowheads="1"/>
          </p:cNvSpPr>
          <p:nvPr/>
        </p:nvSpPr>
        <p:spPr bwMode="auto">
          <a:xfrm>
            <a:off x="32004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b</a:t>
            </a:r>
          </a:p>
        </p:txBody>
      </p:sp>
      <p:sp>
        <p:nvSpPr>
          <p:cNvPr id="15373" name="Rectangle 26"/>
          <p:cNvSpPr>
            <a:spLocks noChangeArrowheads="1"/>
          </p:cNvSpPr>
          <p:nvPr/>
        </p:nvSpPr>
        <p:spPr bwMode="auto">
          <a:xfrm>
            <a:off x="38100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c</a:t>
            </a:r>
          </a:p>
        </p:txBody>
      </p:sp>
      <p:sp>
        <p:nvSpPr>
          <p:cNvPr id="15374" name="Rectangle 27"/>
          <p:cNvSpPr>
            <a:spLocks noChangeArrowheads="1"/>
          </p:cNvSpPr>
          <p:nvPr/>
        </p:nvSpPr>
        <p:spPr bwMode="auto">
          <a:xfrm>
            <a:off x="44196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d</a:t>
            </a:r>
          </a:p>
        </p:txBody>
      </p:sp>
      <p:sp>
        <p:nvSpPr>
          <p:cNvPr id="15375" name="Rectangle 28"/>
          <p:cNvSpPr>
            <a:spLocks noChangeArrowheads="1"/>
          </p:cNvSpPr>
          <p:nvPr/>
        </p:nvSpPr>
        <p:spPr bwMode="auto">
          <a:xfrm>
            <a:off x="50292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e</a:t>
            </a:r>
          </a:p>
        </p:txBody>
      </p:sp>
      <p:sp>
        <p:nvSpPr>
          <p:cNvPr id="15376" name="Rectangle 29"/>
          <p:cNvSpPr>
            <a:spLocks noChangeArrowheads="1"/>
          </p:cNvSpPr>
          <p:nvPr/>
        </p:nvSpPr>
        <p:spPr bwMode="auto">
          <a:xfrm>
            <a:off x="56388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f</a:t>
            </a:r>
          </a:p>
        </p:txBody>
      </p:sp>
      <p:sp>
        <p:nvSpPr>
          <p:cNvPr id="15377" name="Rectangle 30"/>
          <p:cNvSpPr>
            <a:spLocks noChangeArrowheads="1"/>
          </p:cNvSpPr>
          <p:nvPr/>
        </p:nvSpPr>
        <p:spPr bwMode="auto">
          <a:xfrm>
            <a:off x="6248400" y="3386041"/>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g</a:t>
            </a:r>
          </a:p>
        </p:txBody>
      </p:sp>
      <p:cxnSp>
        <p:nvCxnSpPr>
          <p:cNvPr id="15378" name="AutoShape 31"/>
          <p:cNvCxnSpPr>
            <a:cxnSpLocks noChangeShapeType="1"/>
            <a:stCxn id="15371" idx="3"/>
            <a:endCxn id="15372" idx="1"/>
          </p:cNvCxnSpPr>
          <p:nvPr/>
        </p:nvCxnSpPr>
        <p:spPr bwMode="auto">
          <a:xfrm>
            <a:off x="28956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9" name="AutoShape 32"/>
          <p:cNvCxnSpPr>
            <a:cxnSpLocks noChangeShapeType="1"/>
            <a:stCxn id="15372" idx="3"/>
            <a:endCxn id="15373" idx="1"/>
          </p:cNvCxnSpPr>
          <p:nvPr/>
        </p:nvCxnSpPr>
        <p:spPr bwMode="auto">
          <a:xfrm>
            <a:off x="35052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0" name="AutoShape 33"/>
          <p:cNvCxnSpPr>
            <a:cxnSpLocks noChangeShapeType="1"/>
            <a:stCxn id="15373" idx="3"/>
            <a:endCxn id="15374" idx="1"/>
          </p:cNvCxnSpPr>
          <p:nvPr/>
        </p:nvCxnSpPr>
        <p:spPr bwMode="auto">
          <a:xfrm>
            <a:off x="41148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1" name="AutoShape 34"/>
          <p:cNvCxnSpPr>
            <a:cxnSpLocks noChangeShapeType="1"/>
            <a:stCxn id="15374" idx="3"/>
            <a:endCxn id="15375" idx="1"/>
          </p:cNvCxnSpPr>
          <p:nvPr/>
        </p:nvCxnSpPr>
        <p:spPr bwMode="auto">
          <a:xfrm>
            <a:off x="47244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2" name="AutoShape 35"/>
          <p:cNvCxnSpPr>
            <a:cxnSpLocks noChangeShapeType="1"/>
            <a:stCxn id="15375" idx="3"/>
            <a:endCxn id="15376" idx="1"/>
          </p:cNvCxnSpPr>
          <p:nvPr/>
        </p:nvCxnSpPr>
        <p:spPr bwMode="auto">
          <a:xfrm>
            <a:off x="53340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3" name="AutoShape 36"/>
          <p:cNvCxnSpPr>
            <a:cxnSpLocks noChangeShapeType="1"/>
            <a:stCxn id="15376" idx="3"/>
            <a:endCxn id="15377" idx="1"/>
          </p:cNvCxnSpPr>
          <p:nvPr/>
        </p:nvCxnSpPr>
        <p:spPr bwMode="auto">
          <a:xfrm>
            <a:off x="5943600" y="3538441"/>
            <a:ext cx="304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84" name="Rectangle 37"/>
          <p:cNvSpPr>
            <a:spLocks noChangeArrowheads="1"/>
          </p:cNvSpPr>
          <p:nvPr/>
        </p:nvSpPr>
        <p:spPr bwMode="auto">
          <a:xfrm>
            <a:off x="2590800" y="50292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a</a:t>
            </a:r>
          </a:p>
        </p:txBody>
      </p:sp>
      <p:sp>
        <p:nvSpPr>
          <p:cNvPr id="15385" name="Rectangle 38"/>
          <p:cNvSpPr>
            <a:spLocks noChangeArrowheads="1"/>
          </p:cNvSpPr>
          <p:nvPr/>
        </p:nvSpPr>
        <p:spPr bwMode="auto">
          <a:xfrm>
            <a:off x="2895600" y="56388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b</a:t>
            </a:r>
          </a:p>
        </p:txBody>
      </p:sp>
      <p:sp>
        <p:nvSpPr>
          <p:cNvPr id="15386" name="Rectangle 39"/>
          <p:cNvSpPr>
            <a:spLocks noChangeArrowheads="1"/>
          </p:cNvSpPr>
          <p:nvPr/>
        </p:nvSpPr>
        <p:spPr bwMode="auto">
          <a:xfrm>
            <a:off x="3810000" y="44196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c</a:t>
            </a:r>
          </a:p>
        </p:txBody>
      </p:sp>
      <p:sp>
        <p:nvSpPr>
          <p:cNvPr id="15387" name="Rectangle 40"/>
          <p:cNvSpPr>
            <a:spLocks noChangeArrowheads="1"/>
          </p:cNvSpPr>
          <p:nvPr/>
        </p:nvSpPr>
        <p:spPr bwMode="auto">
          <a:xfrm>
            <a:off x="3886200" y="61722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d</a:t>
            </a:r>
          </a:p>
        </p:txBody>
      </p:sp>
      <p:sp>
        <p:nvSpPr>
          <p:cNvPr id="15388" name="Rectangle 41"/>
          <p:cNvSpPr>
            <a:spLocks noChangeArrowheads="1"/>
          </p:cNvSpPr>
          <p:nvPr/>
        </p:nvSpPr>
        <p:spPr bwMode="auto">
          <a:xfrm>
            <a:off x="4191000" y="55626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e</a:t>
            </a:r>
          </a:p>
        </p:txBody>
      </p:sp>
      <p:sp>
        <p:nvSpPr>
          <p:cNvPr id="15389" name="Rectangle 42"/>
          <p:cNvSpPr>
            <a:spLocks noChangeArrowheads="1"/>
          </p:cNvSpPr>
          <p:nvPr/>
        </p:nvSpPr>
        <p:spPr bwMode="auto">
          <a:xfrm>
            <a:off x="4572000" y="50292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f</a:t>
            </a:r>
          </a:p>
        </p:txBody>
      </p:sp>
      <p:sp>
        <p:nvSpPr>
          <p:cNvPr id="15390" name="Rectangle 43"/>
          <p:cNvSpPr>
            <a:spLocks noChangeArrowheads="1"/>
          </p:cNvSpPr>
          <p:nvPr/>
        </p:nvSpPr>
        <p:spPr bwMode="auto">
          <a:xfrm>
            <a:off x="5105400" y="5562600"/>
            <a:ext cx="3048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i-FI" altLang="fi-FI" sz="1800"/>
              <a:t>g</a:t>
            </a:r>
          </a:p>
        </p:txBody>
      </p:sp>
      <p:cxnSp>
        <p:nvCxnSpPr>
          <p:cNvPr id="15391" name="AutoShape 44"/>
          <p:cNvCxnSpPr>
            <a:cxnSpLocks noChangeShapeType="1"/>
            <a:stCxn id="15386" idx="2"/>
            <a:endCxn id="15384" idx="0"/>
          </p:cNvCxnSpPr>
          <p:nvPr/>
        </p:nvCxnSpPr>
        <p:spPr bwMode="auto">
          <a:xfrm flipH="1">
            <a:off x="2743200" y="4724400"/>
            <a:ext cx="12192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2" name="AutoShape 52"/>
          <p:cNvCxnSpPr>
            <a:cxnSpLocks noChangeShapeType="1"/>
            <a:stCxn id="15386" idx="2"/>
            <a:endCxn id="15389" idx="0"/>
          </p:cNvCxnSpPr>
          <p:nvPr/>
        </p:nvCxnSpPr>
        <p:spPr bwMode="auto">
          <a:xfrm>
            <a:off x="3962400" y="4724400"/>
            <a:ext cx="7620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3" name="AutoShape 53"/>
          <p:cNvCxnSpPr>
            <a:cxnSpLocks noChangeShapeType="1"/>
            <a:stCxn id="15384" idx="2"/>
            <a:endCxn id="15385" idx="0"/>
          </p:cNvCxnSpPr>
          <p:nvPr/>
        </p:nvCxnSpPr>
        <p:spPr bwMode="auto">
          <a:xfrm>
            <a:off x="2743200" y="5334000"/>
            <a:ext cx="3048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4" name="AutoShape 54"/>
          <p:cNvCxnSpPr>
            <a:cxnSpLocks noChangeShapeType="1"/>
            <a:stCxn id="15389" idx="2"/>
            <a:endCxn id="15390" idx="0"/>
          </p:cNvCxnSpPr>
          <p:nvPr/>
        </p:nvCxnSpPr>
        <p:spPr bwMode="auto">
          <a:xfrm>
            <a:off x="4724400" y="5334000"/>
            <a:ext cx="533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5" name="AutoShape 55"/>
          <p:cNvCxnSpPr>
            <a:cxnSpLocks noChangeShapeType="1"/>
            <a:stCxn id="15389" idx="2"/>
            <a:endCxn id="15388" idx="0"/>
          </p:cNvCxnSpPr>
          <p:nvPr/>
        </p:nvCxnSpPr>
        <p:spPr bwMode="auto">
          <a:xfrm flipH="1">
            <a:off x="4343400" y="5334000"/>
            <a:ext cx="3810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6" name="AutoShape 56"/>
          <p:cNvCxnSpPr>
            <a:cxnSpLocks noChangeShapeType="1"/>
            <a:stCxn id="15388" idx="2"/>
            <a:endCxn id="15387" idx="0"/>
          </p:cNvCxnSpPr>
          <p:nvPr/>
        </p:nvCxnSpPr>
        <p:spPr bwMode="auto">
          <a:xfrm flipH="1">
            <a:off x="4038600" y="5867400"/>
            <a:ext cx="30480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52886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fi-FI" altLang="fi-FI">
                <a:solidFill>
                  <a:srgbClr val="000099"/>
                </a:solidFill>
              </a:rPr>
              <a:t>Esimerkkejä algoritmeista</a:t>
            </a:r>
          </a:p>
        </p:txBody>
      </p:sp>
      <p:sp>
        <p:nvSpPr>
          <p:cNvPr id="16387" name="Rectangle 3"/>
          <p:cNvSpPr>
            <a:spLocks noGrp="1" noChangeArrowheads="1"/>
          </p:cNvSpPr>
          <p:nvPr>
            <p:ph type="body" idx="1"/>
          </p:nvPr>
        </p:nvSpPr>
        <p:spPr/>
        <p:txBody>
          <a:bodyPr>
            <a:normAutofit/>
          </a:bodyPr>
          <a:lstStyle/>
          <a:p>
            <a:pPr eaLnBrk="1" hangingPunct="1"/>
            <a:r>
              <a:rPr lang="fi-FI" altLang="fi-FI" dirty="0"/>
              <a:t>Tiedon järjestäminen</a:t>
            </a:r>
          </a:p>
          <a:p>
            <a:pPr lvl="1" eaLnBrk="1" hangingPunct="1"/>
            <a:r>
              <a:rPr lang="fi-FI" altLang="fi-FI" dirty="0"/>
              <a:t>Järjestetään tiedot esimerkiksi numero- tai aakkosjärjestykseen</a:t>
            </a:r>
          </a:p>
          <a:p>
            <a:pPr eaLnBrk="1" hangingPunct="1"/>
            <a:r>
              <a:rPr lang="fi-FI" altLang="fi-FI" dirty="0"/>
              <a:t>Tiedon hakeminen</a:t>
            </a:r>
          </a:p>
          <a:p>
            <a:pPr lvl="1" eaLnBrk="1" hangingPunct="1"/>
            <a:r>
              <a:rPr lang="fi-FI" altLang="fi-FI" dirty="0"/>
              <a:t>Esimerkki: lineaarinen haku ja puolitushaku järjestetystä taulukosta</a:t>
            </a:r>
          </a:p>
          <a:p>
            <a:pPr eaLnBrk="1" hangingPunct="1"/>
            <a:r>
              <a:rPr lang="fi-FI" altLang="fi-FI" dirty="0"/>
              <a:t>Tarkistussumman laskenta (CRC)</a:t>
            </a:r>
          </a:p>
          <a:p>
            <a:pPr eaLnBrk="1" hangingPunct="1"/>
            <a:r>
              <a:rPr lang="fi-FI" altLang="fi-FI" dirty="0"/>
              <a:t>Lyhimmän reitin laskeminen tieverkostossa</a:t>
            </a:r>
          </a:p>
          <a:p>
            <a:pPr eaLnBrk="1" hangingPunct="1"/>
            <a:r>
              <a:rPr lang="fi-FI" altLang="fi-FI" dirty="0"/>
              <a:t>Matemaattiset algoritmit</a:t>
            </a:r>
          </a:p>
          <a:p>
            <a:pPr lvl="1" eaLnBrk="1" hangingPunct="1"/>
            <a:r>
              <a:rPr lang="fi-FI" altLang="fi-FI" dirty="0"/>
              <a:t>Yhtälöryhmän ratkaisu</a:t>
            </a:r>
          </a:p>
          <a:p>
            <a:pPr lvl="1" eaLnBrk="1" hangingPunct="1"/>
            <a:r>
              <a:rPr lang="fi-FI" altLang="fi-FI" dirty="0"/>
              <a:t>Suoran sovitus, …</a:t>
            </a:r>
          </a:p>
        </p:txBody>
      </p:sp>
    </p:spTree>
    <p:extLst>
      <p:ext uri="{BB962C8B-B14F-4D97-AF65-F5344CB8AC3E}">
        <p14:creationId xmlns:p14="http://schemas.microsoft.com/office/powerpoint/2010/main" val="1924412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648A5-1491-9140-AFD6-0E4C5DD0160E}"/>
              </a:ext>
            </a:extLst>
          </p:cNvPr>
          <p:cNvSpPr>
            <a:spLocks noGrp="1"/>
          </p:cNvSpPr>
          <p:nvPr>
            <p:ph type="title"/>
          </p:nvPr>
        </p:nvSpPr>
        <p:spPr/>
        <p:txBody>
          <a:bodyPr/>
          <a:lstStyle/>
          <a:p>
            <a:r>
              <a:rPr lang="fi-FI" dirty="0"/>
              <a:t>Tietorakenteen ja algoritmin valinta</a:t>
            </a:r>
          </a:p>
        </p:txBody>
      </p:sp>
      <p:sp>
        <p:nvSpPr>
          <p:cNvPr id="3" name="Content Placeholder 2">
            <a:extLst>
              <a:ext uri="{FF2B5EF4-FFF2-40B4-BE49-F238E27FC236}">
                <a16:creationId xmlns:a16="http://schemas.microsoft.com/office/drawing/2014/main" id="{ED16EBF6-683C-E4AF-9898-D24FECB785B5}"/>
              </a:ext>
            </a:extLst>
          </p:cNvPr>
          <p:cNvSpPr>
            <a:spLocks noGrp="1"/>
          </p:cNvSpPr>
          <p:nvPr>
            <p:ph idx="1"/>
          </p:nvPr>
        </p:nvSpPr>
        <p:spPr/>
        <p:txBody>
          <a:bodyPr/>
          <a:lstStyle/>
          <a:p>
            <a:r>
              <a:rPr lang="fi-FI" dirty="0"/>
              <a:t>Sama asia tai toiminto voidaan toteuttaa tietokoneohjelmana monella eri tavalla. Eri toteutustapoja voidaan verrata monessa suhteessa:</a:t>
            </a:r>
          </a:p>
          <a:p>
            <a:pPr lvl="1"/>
            <a:r>
              <a:rPr lang="fi-FI" dirty="0"/>
              <a:t>toimintojen nopeus (algoritmit, tietorakenteet)</a:t>
            </a:r>
          </a:p>
          <a:p>
            <a:pPr lvl="1"/>
            <a:r>
              <a:rPr lang="fi-FI" dirty="0"/>
              <a:t>vaadittu muistitila (tietorakenteet)</a:t>
            </a:r>
          </a:p>
          <a:p>
            <a:pPr lvl="1"/>
            <a:r>
              <a:rPr lang="fi-FI" dirty="0"/>
              <a:t>ohjelmakoodin laatu ja ylläpidettävyys</a:t>
            </a:r>
          </a:p>
          <a:p>
            <a:pPr lvl="1"/>
            <a:r>
              <a:rPr lang="fi-FI" dirty="0"/>
              <a:t>toteutuksen avoimuus laajennuksille</a:t>
            </a:r>
          </a:p>
          <a:p>
            <a:r>
              <a:rPr lang="fi-FI" dirty="0"/>
              <a:t>Monesti ohjelmakoodin laadulla ja uudelleenkäytettävyydellä on suurempi merkitys kuin ohjelman nopeudella.</a:t>
            </a:r>
          </a:p>
          <a:p>
            <a:endParaRPr lang="fi-FI" dirty="0"/>
          </a:p>
          <a:p>
            <a:pPr marL="0" indent="0">
              <a:buNone/>
            </a:pPr>
            <a:r>
              <a:rPr lang="fi-FI" sz="1800" i="1" dirty="0"/>
              <a:t>(Korhonen A., Malmi L. Tietorakenteet ja algoritmit -opetusmoniste)</a:t>
            </a:r>
          </a:p>
          <a:p>
            <a:endParaRPr lang="fi-FI" dirty="0"/>
          </a:p>
        </p:txBody>
      </p:sp>
    </p:spTree>
    <p:extLst>
      <p:ext uri="{BB962C8B-B14F-4D97-AF65-F5344CB8AC3E}">
        <p14:creationId xmlns:p14="http://schemas.microsoft.com/office/powerpoint/2010/main" val="1061742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8D04E-6C4D-3FEA-0633-193ED56E8DCC}"/>
              </a:ext>
            </a:extLst>
          </p:cNvPr>
          <p:cNvSpPr>
            <a:spLocks noGrp="1"/>
          </p:cNvSpPr>
          <p:nvPr>
            <p:ph type="title"/>
          </p:nvPr>
        </p:nvSpPr>
        <p:spPr/>
        <p:txBody>
          <a:bodyPr/>
          <a:lstStyle/>
          <a:p>
            <a:r>
              <a:rPr lang="fi-FI" dirty="0"/>
              <a:t>Tietorakenteen ja algoritmin valinta</a:t>
            </a:r>
          </a:p>
        </p:txBody>
      </p:sp>
      <p:sp>
        <p:nvSpPr>
          <p:cNvPr id="3" name="Content Placeholder 2">
            <a:extLst>
              <a:ext uri="{FF2B5EF4-FFF2-40B4-BE49-F238E27FC236}">
                <a16:creationId xmlns:a16="http://schemas.microsoft.com/office/drawing/2014/main" id="{74952B39-66CF-1ABA-2804-630F5BA6507B}"/>
              </a:ext>
            </a:extLst>
          </p:cNvPr>
          <p:cNvSpPr>
            <a:spLocks noGrp="1"/>
          </p:cNvSpPr>
          <p:nvPr>
            <p:ph idx="1"/>
          </p:nvPr>
        </p:nvSpPr>
        <p:spPr/>
        <p:txBody>
          <a:bodyPr>
            <a:normAutofit lnSpcReduction="10000"/>
          </a:bodyPr>
          <a:lstStyle/>
          <a:p>
            <a:r>
              <a:rPr lang="fi-FI" dirty="0"/>
              <a:t>Usein tiedon esitysrakenne vaikuttaa merkittävästi algoritmin tehokkuuteen</a:t>
            </a:r>
          </a:p>
          <a:p>
            <a:r>
              <a:rPr lang="fi-FI" dirty="0"/>
              <a:t>Esimerkki: Haku linkitetystä listasta tai haku tasapainotetusta binääripuusta</a:t>
            </a:r>
          </a:p>
          <a:p>
            <a:pPr lvl="1"/>
            <a:r>
              <a:rPr lang="fi-FI" dirty="0"/>
              <a:t>Linkitetyssä listassa hakuaika on suoraan suhteessa talletettujen alkioiden lukumäärään.</a:t>
            </a:r>
          </a:p>
          <a:p>
            <a:pPr lvl="1"/>
            <a:r>
              <a:rPr lang="fi-FI" dirty="0"/>
              <a:t>Tasapainotetussa binääripuussa hakuaika on suhteessa alkioiden lukumäärän logaritmiin.</a:t>
            </a:r>
          </a:p>
          <a:p>
            <a:pPr marL="0" indent="0">
              <a:buNone/>
            </a:pPr>
            <a:r>
              <a:rPr lang="fi-FI" dirty="0"/>
              <a:t>	N			log</a:t>
            </a:r>
            <a:r>
              <a:rPr lang="fi-FI" baseline="-25000" dirty="0"/>
              <a:t>2</a:t>
            </a:r>
            <a:r>
              <a:rPr lang="fi-FI" dirty="0"/>
              <a:t>N</a:t>
            </a:r>
          </a:p>
          <a:p>
            <a:pPr marL="0" indent="0">
              <a:buNone/>
            </a:pPr>
            <a:r>
              <a:rPr lang="fi-FI" dirty="0"/>
              <a:t>	1000			10</a:t>
            </a:r>
          </a:p>
          <a:p>
            <a:pPr marL="0" indent="0">
              <a:buNone/>
            </a:pPr>
            <a:r>
              <a:rPr lang="fi-FI" dirty="0"/>
              <a:t>	1000000		20</a:t>
            </a:r>
          </a:p>
          <a:p>
            <a:endParaRPr lang="fi-FI" dirty="0"/>
          </a:p>
        </p:txBody>
      </p:sp>
      <p:pic>
        <p:nvPicPr>
          <p:cNvPr id="4" name="Picture 3">
            <a:extLst>
              <a:ext uri="{FF2B5EF4-FFF2-40B4-BE49-F238E27FC236}">
                <a16:creationId xmlns:a16="http://schemas.microsoft.com/office/drawing/2014/main" id="{50659018-AB93-7981-9D54-4867996E016D}"/>
              </a:ext>
            </a:extLst>
          </p:cNvPr>
          <p:cNvPicPr>
            <a:picLocks noChangeAspect="1"/>
          </p:cNvPicPr>
          <p:nvPr/>
        </p:nvPicPr>
        <p:blipFill>
          <a:blip r:embed="rId2"/>
          <a:stretch>
            <a:fillRect/>
          </a:stretch>
        </p:blipFill>
        <p:spPr>
          <a:xfrm>
            <a:off x="7111872" y="5176839"/>
            <a:ext cx="3098716" cy="947449"/>
          </a:xfrm>
          <a:prstGeom prst="rect">
            <a:avLst/>
          </a:prstGeom>
        </p:spPr>
      </p:pic>
    </p:spTree>
    <p:extLst>
      <p:ext uri="{BB962C8B-B14F-4D97-AF65-F5344CB8AC3E}">
        <p14:creationId xmlns:p14="http://schemas.microsoft.com/office/powerpoint/2010/main" val="2579940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p:txBody>
          <a:bodyPr/>
          <a:lstStyle/>
          <a:p>
            <a:pPr eaLnBrk="1" hangingPunct="1"/>
            <a:r>
              <a:rPr lang="fi-FI" altLang="fi-FI" dirty="0"/>
              <a:t>Taulukot</a:t>
            </a:r>
          </a:p>
        </p:txBody>
      </p:sp>
    </p:spTree>
    <p:extLst>
      <p:ext uri="{BB962C8B-B14F-4D97-AF65-F5344CB8AC3E}">
        <p14:creationId xmlns:p14="http://schemas.microsoft.com/office/powerpoint/2010/main" val="4109821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fi-FI" altLang="fi-FI"/>
              <a:t>Taulukko tietorakenteena</a:t>
            </a:r>
          </a:p>
        </p:txBody>
      </p:sp>
      <p:sp>
        <p:nvSpPr>
          <p:cNvPr id="21507" name="Rectangle 12"/>
          <p:cNvSpPr>
            <a:spLocks noGrp="1" noChangeArrowheads="1"/>
          </p:cNvSpPr>
          <p:nvPr>
            <p:ph type="body" idx="1"/>
          </p:nvPr>
        </p:nvSpPr>
        <p:spPr/>
        <p:txBody>
          <a:bodyPr/>
          <a:lstStyle/>
          <a:p>
            <a:pPr eaLnBrk="1" hangingPunct="1"/>
            <a:r>
              <a:rPr lang="fi-FI" altLang="fi-FI" dirty="0"/>
              <a:t>Taulukoiden käsittelyä voi kerrata olio-ohjelmoinnin materiaalista</a:t>
            </a:r>
          </a:p>
          <a:p>
            <a:pPr lvl="1"/>
            <a:r>
              <a:rPr lang="fi-FI" altLang="fi-FI" dirty="0">
                <a:hlinkClick r:id="rId2"/>
              </a:rPr>
              <a:t>https://ohjelmointi-20.mooc.fi/osa-3/3-taulukot</a:t>
            </a:r>
            <a:r>
              <a:rPr lang="fi-FI" altLang="fi-FI" dirty="0"/>
              <a:t> </a:t>
            </a:r>
          </a:p>
          <a:p>
            <a:r>
              <a:rPr lang="fi-FI" altLang="fi-FI" dirty="0"/>
              <a:t>Taulukossa alkiot indeksoidaan ensimmäisestä viimeiseen.</a:t>
            </a:r>
          </a:p>
          <a:p>
            <a:pPr lvl="1">
              <a:buClr>
                <a:schemeClr val="accent2"/>
              </a:buClr>
            </a:pPr>
            <a:r>
              <a:rPr lang="fi-FI" altLang="fi-FI" dirty="0"/>
              <a:t>C-, C++, C#- ja Java –kielissä ensimmäisen alkion indeksi on 0.</a:t>
            </a:r>
          </a:p>
          <a:p>
            <a:pPr>
              <a:buClr>
                <a:schemeClr val="accent2"/>
              </a:buClr>
            </a:pPr>
            <a:r>
              <a:rPr lang="fi-FI" altLang="fi-FI" dirty="0"/>
              <a:t>Mihin tahansa alkioon voidaan viitata heti</a:t>
            </a:r>
          </a:p>
          <a:p>
            <a:pPr>
              <a:buClr>
                <a:schemeClr val="accent2"/>
              </a:buClr>
            </a:pPr>
            <a:r>
              <a:rPr lang="fi-FI" altLang="fi-FI" dirty="0"/>
              <a:t>Taulukkoon ei voi lisätä uutta alkiota eikä sieltä voi poistaa alkiota</a:t>
            </a:r>
          </a:p>
          <a:p>
            <a:pPr>
              <a:buClr>
                <a:schemeClr val="accent2"/>
              </a:buClr>
            </a:pPr>
            <a:r>
              <a:rPr lang="fi-FI" altLang="fi-FI" dirty="0"/>
              <a:t>Jos taulukon kokoa ei tiedetä etukäteen tai taulukon koko voi muuttua ajon aikana, kannattaa käyttää listaa (</a:t>
            </a:r>
            <a:r>
              <a:rPr lang="fi-FI" altLang="fi-FI" dirty="0" err="1"/>
              <a:t>ArrayList</a:t>
            </a:r>
            <a:r>
              <a:rPr lang="fi-FI" altLang="fi-FI" dirty="0"/>
              <a:t>)</a:t>
            </a:r>
          </a:p>
        </p:txBody>
      </p:sp>
    </p:spTree>
    <p:extLst>
      <p:ext uri="{BB962C8B-B14F-4D97-AF65-F5344CB8AC3E}">
        <p14:creationId xmlns:p14="http://schemas.microsoft.com/office/powerpoint/2010/main" val="2509224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fi-FI" altLang="fi-FI" dirty="0">
                <a:solidFill>
                  <a:srgbClr val="000099"/>
                </a:solidFill>
              </a:rPr>
              <a:t>Javan taulukot</a:t>
            </a:r>
          </a:p>
        </p:txBody>
      </p:sp>
      <p:sp>
        <p:nvSpPr>
          <p:cNvPr id="23555" name="Rectangle 3"/>
          <p:cNvSpPr>
            <a:spLocks noGrp="1" noChangeArrowheads="1"/>
          </p:cNvSpPr>
          <p:nvPr>
            <p:ph type="body" idx="1"/>
          </p:nvPr>
        </p:nvSpPr>
        <p:spPr/>
        <p:txBody>
          <a:bodyPr>
            <a:noAutofit/>
          </a:bodyPr>
          <a:lstStyle/>
          <a:p>
            <a:pPr>
              <a:buFontTx/>
              <a:buChar char="•"/>
            </a:pPr>
            <a:r>
              <a:rPr lang="fi-FI" altLang="fi-FI" sz="2400" dirty="0"/>
              <a:t>Taulukkomuuttujan määrittely</a:t>
            </a:r>
          </a:p>
          <a:p>
            <a:pPr lvl="2" eaLnBrk="1" hangingPunct="1">
              <a:lnSpc>
                <a:spcPct val="90000"/>
              </a:lnSpc>
              <a:buClr>
                <a:schemeClr val="accent2"/>
              </a:buClr>
              <a:buFont typeface="Wingdings" panose="05000000000000000000" pitchFamily="2" charset="2"/>
              <a:buNone/>
            </a:pPr>
            <a:r>
              <a:rPr lang="fi-FI" altLang="fi-FI" sz="1800" dirty="0" err="1">
                <a:latin typeface="Courier New" panose="02070309020205020404" pitchFamily="49" charset="0"/>
              </a:rPr>
              <a:t>int</a:t>
            </a:r>
            <a:r>
              <a:rPr lang="fi-FI" altLang="fi-FI" sz="1800" dirty="0">
                <a:latin typeface="Courier New" panose="02070309020205020404" pitchFamily="49" charset="0"/>
              </a:rPr>
              <a:t>[] luvut;</a:t>
            </a:r>
            <a:endParaRPr lang="fi-FI" altLang="fi-FI" sz="1800" dirty="0"/>
          </a:p>
          <a:p>
            <a:pPr>
              <a:buFontTx/>
              <a:buChar char="•"/>
            </a:pPr>
            <a:r>
              <a:rPr lang="fi-FI" altLang="fi-FI" sz="2400" dirty="0"/>
              <a:t>Taulukon koko</a:t>
            </a:r>
          </a:p>
          <a:p>
            <a:pPr lvl="1">
              <a:buClr>
                <a:schemeClr val="accent2"/>
              </a:buClr>
            </a:pPr>
            <a:r>
              <a:rPr lang="fi-FI" altLang="fi-FI" dirty="0"/>
              <a:t>Taulukon kokoa ei ole vielä määrittelyn yhteydessä kiinnitetty. Se tehdään luomalla taulukko </a:t>
            </a:r>
            <a:r>
              <a:rPr lang="fi-FI" altLang="fi-FI" dirty="0" err="1"/>
              <a:t>new</a:t>
            </a:r>
            <a:r>
              <a:rPr lang="fi-FI" altLang="fi-FI" dirty="0"/>
              <a:t>-operaatiolla</a:t>
            </a:r>
          </a:p>
          <a:p>
            <a:pPr lvl="2" eaLnBrk="1" hangingPunct="1">
              <a:lnSpc>
                <a:spcPct val="90000"/>
              </a:lnSpc>
              <a:buClr>
                <a:schemeClr val="accent2"/>
              </a:buClr>
              <a:buFont typeface="Wingdings" panose="05000000000000000000" pitchFamily="2" charset="2"/>
              <a:buNone/>
            </a:pPr>
            <a:r>
              <a:rPr lang="fi-FI" altLang="fi-FI" sz="1800" dirty="0">
                <a:latin typeface="Courier New" panose="02070309020205020404" pitchFamily="49" charset="0"/>
              </a:rPr>
              <a:t>	 luvut = </a:t>
            </a:r>
            <a:r>
              <a:rPr lang="fi-FI" altLang="fi-FI" sz="1800" dirty="0" err="1">
                <a:latin typeface="Courier New" panose="02070309020205020404" pitchFamily="49" charset="0"/>
              </a:rPr>
              <a:t>new</a:t>
            </a:r>
            <a:r>
              <a:rPr lang="fi-FI" altLang="fi-FI" sz="1800" dirty="0">
                <a:latin typeface="Courier New" panose="02070309020205020404" pitchFamily="49" charset="0"/>
              </a:rPr>
              <a:t> </a:t>
            </a:r>
            <a:r>
              <a:rPr lang="fi-FI" altLang="fi-FI" sz="1800" dirty="0" err="1">
                <a:latin typeface="Courier New" panose="02070309020205020404" pitchFamily="49" charset="0"/>
              </a:rPr>
              <a:t>int</a:t>
            </a:r>
            <a:r>
              <a:rPr lang="fi-FI" altLang="fi-FI" sz="1800" dirty="0">
                <a:latin typeface="Courier New" panose="02070309020205020404" pitchFamily="49" charset="0"/>
              </a:rPr>
              <a:t>[50];</a:t>
            </a:r>
          </a:p>
          <a:p>
            <a:pPr lvl="1">
              <a:buClr>
                <a:schemeClr val="accent2"/>
              </a:buClr>
            </a:pPr>
            <a:r>
              <a:rPr lang="fi-FI" altLang="fi-FI" dirty="0"/>
              <a:t>Taulukko on siis olio</a:t>
            </a:r>
          </a:p>
          <a:p>
            <a:pPr lvl="1">
              <a:buClr>
                <a:schemeClr val="accent2"/>
              </a:buClr>
            </a:pPr>
            <a:r>
              <a:rPr lang="fi-FI" altLang="fi-FI" dirty="0"/>
              <a:t>Taulukon koko voi myös määräytyä taulukon määrittelyssä, jos taulukko alustetaan samalla</a:t>
            </a:r>
          </a:p>
          <a:p>
            <a:pPr lvl="2" eaLnBrk="1" hangingPunct="1">
              <a:lnSpc>
                <a:spcPct val="90000"/>
              </a:lnSpc>
              <a:buClr>
                <a:schemeClr val="accent2"/>
              </a:buClr>
              <a:buFont typeface="Wingdings" panose="05000000000000000000" pitchFamily="2" charset="2"/>
              <a:buNone/>
            </a:pPr>
            <a:r>
              <a:rPr lang="fi-FI" altLang="fi-FI" sz="1800" dirty="0">
                <a:latin typeface="Courier New" panose="02070309020205020404" pitchFamily="49" charset="0"/>
              </a:rPr>
              <a:t>	</a:t>
            </a:r>
            <a:r>
              <a:rPr lang="fi-FI" altLang="fi-FI" sz="1800" dirty="0" err="1">
                <a:latin typeface="Courier New" panose="02070309020205020404" pitchFamily="49" charset="0"/>
              </a:rPr>
              <a:t>int</a:t>
            </a:r>
            <a:r>
              <a:rPr lang="fi-FI" altLang="fi-FI" sz="1800" dirty="0">
                <a:latin typeface="Courier New" panose="02070309020205020404" pitchFamily="49" charset="0"/>
              </a:rPr>
              <a:t> luvut[] = {1, 2, 3, 4, 5};</a:t>
            </a:r>
          </a:p>
          <a:p>
            <a:pPr lvl="1">
              <a:buClr>
                <a:schemeClr val="accent2"/>
              </a:buClr>
            </a:pPr>
            <a:r>
              <a:rPr lang="fi-FI" altLang="fi-FI" dirty="0"/>
              <a:t>Taulukkoon liittyy sisäinen muuttuja </a:t>
            </a:r>
            <a:r>
              <a:rPr lang="fi-FI" altLang="fi-FI" dirty="0" err="1"/>
              <a:t>length</a:t>
            </a:r>
            <a:r>
              <a:rPr lang="fi-FI" altLang="fi-FI" dirty="0"/>
              <a:t>, joka ilmaisee taulukon koon</a:t>
            </a:r>
            <a:endParaRPr lang="fi-FI" altLang="fi-FI" sz="2800" dirty="0">
              <a:latin typeface="Courier New" panose="02070309020205020404" pitchFamily="49" charset="0"/>
            </a:endParaRPr>
          </a:p>
          <a:p>
            <a:pPr lvl="2" eaLnBrk="1" hangingPunct="1">
              <a:lnSpc>
                <a:spcPct val="90000"/>
              </a:lnSpc>
              <a:buClr>
                <a:schemeClr val="accent2"/>
              </a:buClr>
              <a:buFont typeface="Wingdings" panose="05000000000000000000" pitchFamily="2" charset="2"/>
              <a:buNone/>
            </a:pPr>
            <a:r>
              <a:rPr lang="fi-FI" altLang="fi-FI" sz="1800" dirty="0">
                <a:latin typeface="Courier New" panose="02070309020205020404" pitchFamily="49" charset="0"/>
              </a:rPr>
              <a:t>	</a:t>
            </a:r>
            <a:r>
              <a:rPr lang="fi-FI" altLang="fi-FI" sz="1800" dirty="0" err="1">
                <a:latin typeface="Courier New" panose="02070309020205020404" pitchFamily="49" charset="0"/>
              </a:rPr>
              <a:t>int</a:t>
            </a:r>
            <a:r>
              <a:rPr lang="fi-FI" altLang="fi-FI" sz="1800" dirty="0">
                <a:latin typeface="Courier New" panose="02070309020205020404" pitchFamily="49" charset="0"/>
              </a:rPr>
              <a:t> koko = </a:t>
            </a:r>
            <a:r>
              <a:rPr lang="fi-FI" altLang="fi-FI" sz="1800" dirty="0" err="1">
                <a:latin typeface="Courier New" panose="02070309020205020404" pitchFamily="49" charset="0"/>
              </a:rPr>
              <a:t>luvut.length</a:t>
            </a:r>
            <a:endParaRPr lang="fi-FI" altLang="fi-FI" sz="1800" dirty="0">
              <a:latin typeface="Courier New" panose="02070309020205020404" pitchFamily="49" charset="0"/>
            </a:endParaRPr>
          </a:p>
        </p:txBody>
      </p:sp>
    </p:spTree>
    <p:extLst>
      <p:ext uri="{BB962C8B-B14F-4D97-AF65-F5344CB8AC3E}">
        <p14:creationId xmlns:p14="http://schemas.microsoft.com/office/powerpoint/2010/main" val="1260819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Taulukko</a:t>
            </a:r>
          </a:p>
        </p:txBody>
      </p:sp>
      <p:sp>
        <p:nvSpPr>
          <p:cNvPr id="3" name="Sisällön paikkamerkki 2"/>
          <p:cNvSpPr>
            <a:spLocks noGrp="1"/>
          </p:cNvSpPr>
          <p:nvPr>
            <p:ph idx="1"/>
          </p:nvPr>
        </p:nvSpPr>
        <p:spPr/>
        <p:txBody>
          <a:bodyPr>
            <a:noAutofit/>
          </a:bodyPr>
          <a:lstStyle/>
          <a:p>
            <a:r>
              <a:rPr lang="fi-FI"/>
              <a:t>Taulukko, johon voidaan tallentaa 8 kokonaislukua, luodaan näin:</a:t>
            </a:r>
          </a:p>
          <a:p>
            <a:pPr lvl="1" algn="just"/>
            <a:r>
              <a:rPr lang="fi-FI" sz="2800" b="1" err="1">
                <a:solidFill>
                  <a:srgbClr val="0000FF"/>
                </a:solidFill>
                <a:latin typeface="Courier New"/>
                <a:ea typeface="Times New Roman"/>
              </a:rPr>
              <a:t>int</a:t>
            </a:r>
            <a:r>
              <a:rPr lang="fi-FI" sz="2800" b="1">
                <a:latin typeface="Courier New"/>
                <a:ea typeface="Times New Roman"/>
              </a:rPr>
              <a:t>[] </a:t>
            </a:r>
            <a:r>
              <a:rPr lang="fi-FI" sz="2800" b="1" err="1">
                <a:latin typeface="Courier New"/>
                <a:ea typeface="Times New Roman"/>
              </a:rPr>
              <a:t>numbers</a:t>
            </a:r>
            <a:r>
              <a:rPr lang="fi-FI" sz="2800" b="1">
                <a:latin typeface="Courier New"/>
                <a:ea typeface="Times New Roman"/>
              </a:rPr>
              <a:t> = </a:t>
            </a:r>
            <a:r>
              <a:rPr lang="fi-FI" sz="2800" b="1">
                <a:solidFill>
                  <a:srgbClr val="0000FF"/>
                </a:solidFill>
                <a:latin typeface="Courier New"/>
                <a:ea typeface="Times New Roman"/>
              </a:rPr>
              <a:t>new</a:t>
            </a:r>
            <a:r>
              <a:rPr lang="fi-FI" sz="2800" b="1">
                <a:latin typeface="Courier New"/>
                <a:ea typeface="Times New Roman"/>
              </a:rPr>
              <a:t> </a:t>
            </a:r>
            <a:r>
              <a:rPr lang="fi-FI" sz="2800" b="1" err="1">
                <a:solidFill>
                  <a:srgbClr val="0000FF"/>
                </a:solidFill>
                <a:latin typeface="Courier New"/>
                <a:ea typeface="Times New Roman"/>
              </a:rPr>
              <a:t>int</a:t>
            </a:r>
            <a:r>
              <a:rPr lang="fi-FI" sz="2800" b="1">
                <a:latin typeface="Courier New"/>
                <a:ea typeface="Times New Roman"/>
              </a:rPr>
              <a:t>[8];</a:t>
            </a:r>
          </a:p>
          <a:p>
            <a:pPr marL="0" indent="0" algn="just">
              <a:buNone/>
            </a:pPr>
            <a:endParaRPr lang="fi-FI">
              <a:latin typeface="Courier New"/>
            </a:endParaRPr>
          </a:p>
          <a:p>
            <a:pPr marL="0" indent="0" algn="just">
              <a:buNone/>
            </a:pPr>
            <a:endParaRPr lang="fi-FI"/>
          </a:p>
          <a:p>
            <a:pPr algn="just"/>
            <a:endParaRPr lang="fi-FI"/>
          </a:p>
          <a:p>
            <a:pPr algn="just"/>
            <a:r>
              <a:rPr lang="fi-FI"/>
              <a:t>Taulukon ensimmäisen alkion järjestysnumero (indeksi) on 0.</a:t>
            </a:r>
          </a:p>
          <a:p>
            <a:pPr algn="just"/>
            <a:r>
              <a:rPr lang="fi-FI"/>
              <a:t>Viimeisen alkion indeksi on 7 (koko-1)</a:t>
            </a:r>
          </a:p>
          <a:p>
            <a:pPr marL="457200" lvl="1" indent="0" algn="just">
              <a:buNone/>
            </a:pPr>
            <a:endParaRPr lang="fi-FI" sz="4000">
              <a:latin typeface="Times New Roman"/>
              <a:ea typeface="Times New Roman"/>
            </a:endParaRPr>
          </a:p>
          <a:p>
            <a:pPr lvl="1"/>
            <a:endParaRPr lang="fi-FI"/>
          </a:p>
        </p:txBody>
      </p:sp>
      <p:grpSp>
        <p:nvGrpSpPr>
          <p:cNvPr id="21" name="Ryhmä 20"/>
          <p:cNvGrpSpPr/>
          <p:nvPr/>
        </p:nvGrpSpPr>
        <p:grpSpPr>
          <a:xfrm>
            <a:off x="2068385" y="3263431"/>
            <a:ext cx="6847615" cy="856612"/>
            <a:chOff x="1302321" y="3413170"/>
            <a:chExt cx="6847615" cy="856612"/>
          </a:xfrm>
        </p:grpSpPr>
        <p:sp>
          <p:nvSpPr>
            <p:cNvPr id="4" name="Suorakulmio 3"/>
            <p:cNvSpPr/>
            <p:nvPr/>
          </p:nvSpPr>
          <p:spPr>
            <a:xfrm>
              <a:off x="2057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7</a:t>
              </a:r>
            </a:p>
          </p:txBody>
        </p:sp>
        <p:sp>
          <p:nvSpPr>
            <p:cNvPr id="5" name="Suorakulmio 4"/>
            <p:cNvSpPr/>
            <p:nvPr/>
          </p:nvSpPr>
          <p:spPr>
            <a:xfrm>
              <a:off x="2819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1</a:t>
              </a:r>
            </a:p>
          </p:txBody>
        </p:sp>
        <p:sp>
          <p:nvSpPr>
            <p:cNvPr id="6" name="Suorakulmio 5"/>
            <p:cNvSpPr/>
            <p:nvPr/>
          </p:nvSpPr>
          <p:spPr>
            <a:xfrm>
              <a:off x="3581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8</a:t>
              </a:r>
            </a:p>
          </p:txBody>
        </p:sp>
        <p:sp>
          <p:nvSpPr>
            <p:cNvPr id="7" name="Suorakulmio 6"/>
            <p:cNvSpPr/>
            <p:nvPr/>
          </p:nvSpPr>
          <p:spPr>
            <a:xfrm>
              <a:off x="4343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8</a:t>
              </a:r>
            </a:p>
          </p:txBody>
        </p:sp>
        <p:sp>
          <p:nvSpPr>
            <p:cNvPr id="8" name="Suorakulmio 7"/>
            <p:cNvSpPr/>
            <p:nvPr/>
          </p:nvSpPr>
          <p:spPr>
            <a:xfrm>
              <a:off x="5105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12</a:t>
              </a:r>
            </a:p>
          </p:txBody>
        </p:sp>
        <p:sp>
          <p:nvSpPr>
            <p:cNvPr id="9" name="Suorakulmio 8"/>
            <p:cNvSpPr/>
            <p:nvPr/>
          </p:nvSpPr>
          <p:spPr>
            <a:xfrm>
              <a:off x="5867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3</a:t>
              </a:r>
            </a:p>
          </p:txBody>
        </p:sp>
        <p:sp>
          <p:nvSpPr>
            <p:cNvPr id="10" name="Suorakulmio 9"/>
            <p:cNvSpPr/>
            <p:nvPr/>
          </p:nvSpPr>
          <p:spPr>
            <a:xfrm>
              <a:off x="6629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fi-FI" b="1"/>
            </a:p>
          </p:txBody>
        </p:sp>
        <p:sp>
          <p:nvSpPr>
            <p:cNvPr id="11" name="Suorakulmio 10"/>
            <p:cNvSpPr/>
            <p:nvPr/>
          </p:nvSpPr>
          <p:spPr>
            <a:xfrm>
              <a:off x="7387936"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fi-FI" b="1"/>
            </a:p>
          </p:txBody>
        </p:sp>
        <p:sp>
          <p:nvSpPr>
            <p:cNvPr id="12" name="Tekstiruutu 11"/>
            <p:cNvSpPr txBox="1"/>
            <p:nvPr/>
          </p:nvSpPr>
          <p:spPr>
            <a:xfrm>
              <a:off x="1302321" y="3900450"/>
              <a:ext cx="774186" cy="369332"/>
            </a:xfrm>
            <a:prstGeom prst="rect">
              <a:avLst/>
            </a:prstGeom>
            <a:noFill/>
          </p:spPr>
          <p:txBody>
            <a:bodyPr wrap="none" rtlCol="0">
              <a:spAutoFit/>
            </a:bodyPr>
            <a:lstStyle/>
            <a:p>
              <a:r>
                <a:rPr lang="fi-FI" b="1">
                  <a:solidFill>
                    <a:srgbClr val="FF0000"/>
                  </a:solidFill>
                </a:rPr>
                <a:t>Index:</a:t>
              </a:r>
            </a:p>
          </p:txBody>
        </p:sp>
        <p:sp>
          <p:nvSpPr>
            <p:cNvPr id="13" name="Tekstiruutu 12"/>
            <p:cNvSpPr txBox="1"/>
            <p:nvPr/>
          </p:nvSpPr>
          <p:spPr>
            <a:xfrm>
              <a:off x="2514600" y="3862094"/>
              <a:ext cx="288862" cy="338554"/>
            </a:xfrm>
            <a:prstGeom prst="rect">
              <a:avLst/>
            </a:prstGeom>
            <a:noFill/>
          </p:spPr>
          <p:txBody>
            <a:bodyPr wrap="none" rtlCol="0">
              <a:spAutoFit/>
            </a:bodyPr>
            <a:lstStyle/>
            <a:p>
              <a:r>
                <a:rPr lang="fi-FI" sz="1600" b="1">
                  <a:solidFill>
                    <a:srgbClr val="FF0000"/>
                  </a:solidFill>
                </a:rPr>
                <a:t>0</a:t>
              </a:r>
            </a:p>
          </p:txBody>
        </p:sp>
        <p:sp>
          <p:nvSpPr>
            <p:cNvPr id="14" name="Tekstiruutu 13"/>
            <p:cNvSpPr txBox="1"/>
            <p:nvPr/>
          </p:nvSpPr>
          <p:spPr>
            <a:xfrm>
              <a:off x="3292538" y="3862094"/>
              <a:ext cx="288862" cy="338554"/>
            </a:xfrm>
            <a:prstGeom prst="rect">
              <a:avLst/>
            </a:prstGeom>
            <a:noFill/>
          </p:spPr>
          <p:txBody>
            <a:bodyPr wrap="none" rtlCol="0">
              <a:spAutoFit/>
            </a:bodyPr>
            <a:lstStyle/>
            <a:p>
              <a:r>
                <a:rPr lang="fi-FI" sz="1600" b="1">
                  <a:solidFill>
                    <a:srgbClr val="FF0000"/>
                  </a:solidFill>
                </a:rPr>
                <a:t>1</a:t>
              </a:r>
            </a:p>
          </p:txBody>
        </p:sp>
        <p:sp>
          <p:nvSpPr>
            <p:cNvPr id="15" name="Tekstiruutu 14"/>
            <p:cNvSpPr txBox="1"/>
            <p:nvPr/>
          </p:nvSpPr>
          <p:spPr>
            <a:xfrm>
              <a:off x="4054538" y="3870370"/>
              <a:ext cx="288862" cy="338554"/>
            </a:xfrm>
            <a:prstGeom prst="rect">
              <a:avLst/>
            </a:prstGeom>
            <a:noFill/>
          </p:spPr>
          <p:txBody>
            <a:bodyPr wrap="none" rtlCol="0">
              <a:spAutoFit/>
            </a:bodyPr>
            <a:lstStyle/>
            <a:p>
              <a:r>
                <a:rPr lang="fi-FI" sz="1600" b="1">
                  <a:solidFill>
                    <a:srgbClr val="FF0000"/>
                  </a:solidFill>
                </a:rPr>
                <a:t>2</a:t>
              </a:r>
            </a:p>
          </p:txBody>
        </p:sp>
        <p:sp>
          <p:nvSpPr>
            <p:cNvPr id="16" name="Tekstiruutu 15"/>
            <p:cNvSpPr txBox="1"/>
            <p:nvPr/>
          </p:nvSpPr>
          <p:spPr>
            <a:xfrm>
              <a:off x="4816538" y="3862094"/>
              <a:ext cx="288862" cy="338554"/>
            </a:xfrm>
            <a:prstGeom prst="rect">
              <a:avLst/>
            </a:prstGeom>
            <a:noFill/>
          </p:spPr>
          <p:txBody>
            <a:bodyPr wrap="none" rtlCol="0">
              <a:spAutoFit/>
            </a:bodyPr>
            <a:lstStyle/>
            <a:p>
              <a:r>
                <a:rPr lang="fi-FI" sz="1600" b="1">
                  <a:solidFill>
                    <a:srgbClr val="FF0000"/>
                  </a:solidFill>
                </a:rPr>
                <a:t>3</a:t>
              </a:r>
            </a:p>
          </p:txBody>
        </p:sp>
        <p:sp>
          <p:nvSpPr>
            <p:cNvPr id="17" name="Tekstiruutu 16"/>
            <p:cNvSpPr txBox="1"/>
            <p:nvPr/>
          </p:nvSpPr>
          <p:spPr>
            <a:xfrm>
              <a:off x="5578538" y="3870370"/>
              <a:ext cx="288862" cy="338554"/>
            </a:xfrm>
            <a:prstGeom prst="rect">
              <a:avLst/>
            </a:prstGeom>
            <a:noFill/>
          </p:spPr>
          <p:txBody>
            <a:bodyPr wrap="none" rtlCol="0">
              <a:spAutoFit/>
            </a:bodyPr>
            <a:lstStyle/>
            <a:p>
              <a:r>
                <a:rPr lang="fi-FI" sz="1600" b="1">
                  <a:solidFill>
                    <a:srgbClr val="FF0000"/>
                  </a:solidFill>
                </a:rPr>
                <a:t>4</a:t>
              </a:r>
            </a:p>
          </p:txBody>
        </p:sp>
        <p:sp>
          <p:nvSpPr>
            <p:cNvPr id="18" name="Tekstiruutu 17"/>
            <p:cNvSpPr txBox="1"/>
            <p:nvPr/>
          </p:nvSpPr>
          <p:spPr>
            <a:xfrm>
              <a:off x="6340538" y="3862094"/>
              <a:ext cx="288862" cy="338554"/>
            </a:xfrm>
            <a:prstGeom prst="rect">
              <a:avLst/>
            </a:prstGeom>
            <a:noFill/>
          </p:spPr>
          <p:txBody>
            <a:bodyPr wrap="none" rtlCol="0">
              <a:spAutoFit/>
            </a:bodyPr>
            <a:lstStyle/>
            <a:p>
              <a:r>
                <a:rPr lang="fi-FI" sz="1600" b="1">
                  <a:solidFill>
                    <a:srgbClr val="FF0000"/>
                  </a:solidFill>
                </a:rPr>
                <a:t>5</a:t>
              </a:r>
            </a:p>
          </p:txBody>
        </p:sp>
        <p:sp>
          <p:nvSpPr>
            <p:cNvPr id="19" name="Tekstiruutu 18"/>
            <p:cNvSpPr txBox="1"/>
            <p:nvPr/>
          </p:nvSpPr>
          <p:spPr>
            <a:xfrm>
              <a:off x="7102538" y="3870370"/>
              <a:ext cx="288862" cy="338554"/>
            </a:xfrm>
            <a:prstGeom prst="rect">
              <a:avLst/>
            </a:prstGeom>
            <a:noFill/>
          </p:spPr>
          <p:txBody>
            <a:bodyPr wrap="none" rtlCol="0">
              <a:spAutoFit/>
            </a:bodyPr>
            <a:lstStyle/>
            <a:p>
              <a:r>
                <a:rPr lang="fi-FI" sz="1600" b="1">
                  <a:solidFill>
                    <a:srgbClr val="FF0000"/>
                  </a:solidFill>
                </a:rPr>
                <a:t>6</a:t>
              </a:r>
            </a:p>
          </p:txBody>
        </p:sp>
        <p:sp>
          <p:nvSpPr>
            <p:cNvPr id="20" name="Tekstiruutu 19"/>
            <p:cNvSpPr txBox="1"/>
            <p:nvPr/>
          </p:nvSpPr>
          <p:spPr>
            <a:xfrm>
              <a:off x="7861074" y="3870370"/>
              <a:ext cx="288862" cy="338554"/>
            </a:xfrm>
            <a:prstGeom prst="rect">
              <a:avLst/>
            </a:prstGeom>
            <a:noFill/>
          </p:spPr>
          <p:txBody>
            <a:bodyPr wrap="none" rtlCol="0">
              <a:spAutoFit/>
            </a:bodyPr>
            <a:lstStyle/>
            <a:p>
              <a:r>
                <a:rPr lang="fi-FI" sz="1600" b="1">
                  <a:solidFill>
                    <a:srgbClr val="FF0000"/>
                  </a:solidFill>
                </a:rPr>
                <a:t>7</a:t>
              </a:r>
            </a:p>
          </p:txBody>
        </p:sp>
      </p:grpSp>
    </p:spTree>
    <p:extLst>
      <p:ext uri="{BB962C8B-B14F-4D97-AF65-F5344CB8AC3E}">
        <p14:creationId xmlns:p14="http://schemas.microsoft.com/office/powerpoint/2010/main" val="3300438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Taulukot</a:t>
            </a:r>
          </a:p>
        </p:txBody>
      </p:sp>
      <p:sp>
        <p:nvSpPr>
          <p:cNvPr id="3" name="Sisällön paikkamerkki 2"/>
          <p:cNvSpPr>
            <a:spLocks noGrp="1"/>
          </p:cNvSpPr>
          <p:nvPr>
            <p:ph idx="1"/>
          </p:nvPr>
        </p:nvSpPr>
        <p:spPr/>
        <p:txBody>
          <a:bodyPr/>
          <a:lstStyle/>
          <a:p>
            <a:r>
              <a:rPr lang="fi-FI"/>
              <a:t>Taulukon alkioihin viitataan indeksin avulla:</a:t>
            </a:r>
          </a:p>
          <a:p>
            <a:pPr marL="457200" lvl="1" indent="0">
              <a:buNone/>
            </a:pPr>
            <a:r>
              <a:rPr lang="fi-FI" b="1" err="1">
                <a:solidFill>
                  <a:srgbClr val="0000FF"/>
                </a:solidFill>
                <a:latin typeface="Courier New"/>
                <a:ea typeface="Times New Roman"/>
              </a:rPr>
              <a:t>int</a:t>
            </a:r>
            <a:r>
              <a:rPr lang="fi-FI" b="1">
                <a:latin typeface="Courier New"/>
                <a:ea typeface="Times New Roman"/>
              </a:rPr>
              <a:t>[] </a:t>
            </a:r>
            <a:r>
              <a:rPr lang="fi-FI" b="1" err="1">
                <a:latin typeface="Courier New"/>
                <a:ea typeface="Times New Roman"/>
              </a:rPr>
              <a:t>numbers</a:t>
            </a:r>
            <a:r>
              <a:rPr lang="fi-FI" b="1">
                <a:latin typeface="Courier New"/>
                <a:ea typeface="Times New Roman"/>
              </a:rPr>
              <a:t> = </a:t>
            </a:r>
            <a:r>
              <a:rPr lang="fi-FI" b="1">
                <a:solidFill>
                  <a:srgbClr val="0000FF"/>
                </a:solidFill>
                <a:latin typeface="Courier New"/>
                <a:ea typeface="Times New Roman"/>
              </a:rPr>
              <a:t>new</a:t>
            </a:r>
            <a:r>
              <a:rPr lang="fi-FI" b="1">
                <a:latin typeface="Courier New"/>
                <a:ea typeface="Times New Roman"/>
              </a:rPr>
              <a:t> </a:t>
            </a:r>
            <a:r>
              <a:rPr lang="fi-FI" b="1">
                <a:solidFill>
                  <a:srgbClr val="0000FF"/>
                </a:solidFill>
                <a:latin typeface="Courier New"/>
                <a:ea typeface="Times New Roman"/>
              </a:rPr>
              <a:t>int</a:t>
            </a:r>
            <a:r>
              <a:rPr lang="fi-FI" b="1">
                <a:latin typeface="Courier New"/>
                <a:ea typeface="Times New Roman"/>
              </a:rPr>
              <a:t>[8];</a:t>
            </a:r>
            <a:br>
              <a:rPr lang="fi-FI" b="1">
                <a:latin typeface="Courier New"/>
                <a:ea typeface="Times New Roman"/>
              </a:rPr>
            </a:br>
            <a:r>
              <a:rPr lang="fi-FI" b="1">
                <a:latin typeface="Courier New"/>
                <a:ea typeface="Times New Roman"/>
              </a:rPr>
              <a:t>numbers[0] = 7;</a:t>
            </a:r>
            <a:br>
              <a:rPr lang="fi-FI" sz="3600" b="1">
                <a:latin typeface="Times New Roman"/>
                <a:ea typeface="Times New Roman"/>
              </a:rPr>
            </a:br>
            <a:r>
              <a:rPr lang="fi-FI" b="1">
                <a:latin typeface="Courier New"/>
                <a:ea typeface="Times New Roman"/>
              </a:rPr>
              <a:t>numbers[1] = 1;</a:t>
            </a:r>
            <a:br>
              <a:rPr lang="fi-FI" sz="3600" b="1">
                <a:latin typeface="Times New Roman"/>
                <a:ea typeface="Times New Roman"/>
              </a:rPr>
            </a:br>
            <a:r>
              <a:rPr lang="fi-FI" b="1">
                <a:latin typeface="Courier New"/>
                <a:ea typeface="Times New Roman"/>
              </a:rPr>
              <a:t>numbers[2] = numbers[0] + numbers[1];</a:t>
            </a:r>
            <a:endParaRPr lang="fi-FI" sz="3600" b="1">
              <a:latin typeface="Times New Roman"/>
              <a:ea typeface="Times New Roman"/>
            </a:endParaRPr>
          </a:p>
          <a:p>
            <a:pPr lvl="1"/>
            <a:endParaRPr lang="fi-FI"/>
          </a:p>
        </p:txBody>
      </p:sp>
      <p:grpSp>
        <p:nvGrpSpPr>
          <p:cNvPr id="5" name="Ryhmä 4"/>
          <p:cNvGrpSpPr/>
          <p:nvPr/>
        </p:nvGrpSpPr>
        <p:grpSpPr>
          <a:xfrm>
            <a:off x="2242370" y="4514883"/>
            <a:ext cx="6847615" cy="856612"/>
            <a:chOff x="1302321" y="3413170"/>
            <a:chExt cx="6847615" cy="856612"/>
          </a:xfrm>
        </p:grpSpPr>
        <p:sp>
          <p:nvSpPr>
            <p:cNvPr id="6" name="Suorakulmio 5"/>
            <p:cNvSpPr/>
            <p:nvPr/>
          </p:nvSpPr>
          <p:spPr>
            <a:xfrm>
              <a:off x="2057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7</a:t>
              </a:r>
            </a:p>
          </p:txBody>
        </p:sp>
        <p:sp>
          <p:nvSpPr>
            <p:cNvPr id="7" name="Suorakulmio 6"/>
            <p:cNvSpPr/>
            <p:nvPr/>
          </p:nvSpPr>
          <p:spPr>
            <a:xfrm>
              <a:off x="2819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1</a:t>
              </a:r>
            </a:p>
          </p:txBody>
        </p:sp>
        <p:sp>
          <p:nvSpPr>
            <p:cNvPr id="8" name="Suorakulmio 7"/>
            <p:cNvSpPr/>
            <p:nvPr/>
          </p:nvSpPr>
          <p:spPr>
            <a:xfrm>
              <a:off x="3581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8</a:t>
              </a:r>
            </a:p>
          </p:txBody>
        </p:sp>
        <p:sp>
          <p:nvSpPr>
            <p:cNvPr id="9" name="Suorakulmio 8"/>
            <p:cNvSpPr/>
            <p:nvPr/>
          </p:nvSpPr>
          <p:spPr>
            <a:xfrm>
              <a:off x="4343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8</a:t>
              </a:r>
            </a:p>
          </p:txBody>
        </p:sp>
        <p:sp>
          <p:nvSpPr>
            <p:cNvPr id="10" name="Suorakulmio 9"/>
            <p:cNvSpPr/>
            <p:nvPr/>
          </p:nvSpPr>
          <p:spPr>
            <a:xfrm>
              <a:off x="5105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12</a:t>
              </a:r>
            </a:p>
          </p:txBody>
        </p:sp>
        <p:sp>
          <p:nvSpPr>
            <p:cNvPr id="11" name="Suorakulmio 10"/>
            <p:cNvSpPr/>
            <p:nvPr/>
          </p:nvSpPr>
          <p:spPr>
            <a:xfrm>
              <a:off x="5867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i-FI" b="1"/>
                <a:t>3</a:t>
              </a:r>
            </a:p>
          </p:txBody>
        </p:sp>
        <p:sp>
          <p:nvSpPr>
            <p:cNvPr id="12" name="Suorakulmio 11"/>
            <p:cNvSpPr/>
            <p:nvPr/>
          </p:nvSpPr>
          <p:spPr>
            <a:xfrm>
              <a:off x="6629400"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fi-FI" b="1"/>
            </a:p>
          </p:txBody>
        </p:sp>
        <p:sp>
          <p:nvSpPr>
            <p:cNvPr id="13" name="Suorakulmio 12"/>
            <p:cNvSpPr/>
            <p:nvPr/>
          </p:nvSpPr>
          <p:spPr>
            <a:xfrm>
              <a:off x="7387936" y="3413170"/>
              <a:ext cx="762000" cy="457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fi-FI" b="1"/>
            </a:p>
          </p:txBody>
        </p:sp>
        <p:sp>
          <p:nvSpPr>
            <p:cNvPr id="14" name="Tekstiruutu 13"/>
            <p:cNvSpPr txBox="1"/>
            <p:nvPr/>
          </p:nvSpPr>
          <p:spPr>
            <a:xfrm>
              <a:off x="1302321" y="3900450"/>
              <a:ext cx="774186" cy="369332"/>
            </a:xfrm>
            <a:prstGeom prst="rect">
              <a:avLst/>
            </a:prstGeom>
            <a:noFill/>
          </p:spPr>
          <p:txBody>
            <a:bodyPr wrap="none" rtlCol="0">
              <a:spAutoFit/>
            </a:bodyPr>
            <a:lstStyle/>
            <a:p>
              <a:r>
                <a:rPr lang="fi-FI" b="1">
                  <a:solidFill>
                    <a:srgbClr val="FF0000"/>
                  </a:solidFill>
                </a:rPr>
                <a:t>Index:</a:t>
              </a:r>
            </a:p>
          </p:txBody>
        </p:sp>
        <p:sp>
          <p:nvSpPr>
            <p:cNvPr id="15" name="Tekstiruutu 14"/>
            <p:cNvSpPr txBox="1"/>
            <p:nvPr/>
          </p:nvSpPr>
          <p:spPr>
            <a:xfrm>
              <a:off x="2514600" y="3862094"/>
              <a:ext cx="288862" cy="338554"/>
            </a:xfrm>
            <a:prstGeom prst="rect">
              <a:avLst/>
            </a:prstGeom>
            <a:noFill/>
          </p:spPr>
          <p:txBody>
            <a:bodyPr wrap="none" rtlCol="0">
              <a:spAutoFit/>
            </a:bodyPr>
            <a:lstStyle/>
            <a:p>
              <a:r>
                <a:rPr lang="fi-FI" sz="1600" b="1">
                  <a:solidFill>
                    <a:srgbClr val="FF0000"/>
                  </a:solidFill>
                </a:rPr>
                <a:t>0</a:t>
              </a:r>
            </a:p>
          </p:txBody>
        </p:sp>
        <p:sp>
          <p:nvSpPr>
            <p:cNvPr id="16" name="Tekstiruutu 15"/>
            <p:cNvSpPr txBox="1"/>
            <p:nvPr/>
          </p:nvSpPr>
          <p:spPr>
            <a:xfrm>
              <a:off x="3292538" y="3862094"/>
              <a:ext cx="288862" cy="338554"/>
            </a:xfrm>
            <a:prstGeom prst="rect">
              <a:avLst/>
            </a:prstGeom>
            <a:noFill/>
          </p:spPr>
          <p:txBody>
            <a:bodyPr wrap="none" rtlCol="0">
              <a:spAutoFit/>
            </a:bodyPr>
            <a:lstStyle/>
            <a:p>
              <a:r>
                <a:rPr lang="fi-FI" sz="1600" b="1">
                  <a:solidFill>
                    <a:srgbClr val="FF0000"/>
                  </a:solidFill>
                </a:rPr>
                <a:t>1</a:t>
              </a:r>
            </a:p>
          </p:txBody>
        </p:sp>
        <p:sp>
          <p:nvSpPr>
            <p:cNvPr id="17" name="Tekstiruutu 16"/>
            <p:cNvSpPr txBox="1"/>
            <p:nvPr/>
          </p:nvSpPr>
          <p:spPr>
            <a:xfrm>
              <a:off x="4054538" y="3870370"/>
              <a:ext cx="288862" cy="338554"/>
            </a:xfrm>
            <a:prstGeom prst="rect">
              <a:avLst/>
            </a:prstGeom>
            <a:noFill/>
          </p:spPr>
          <p:txBody>
            <a:bodyPr wrap="none" rtlCol="0">
              <a:spAutoFit/>
            </a:bodyPr>
            <a:lstStyle/>
            <a:p>
              <a:r>
                <a:rPr lang="fi-FI" sz="1600" b="1">
                  <a:solidFill>
                    <a:srgbClr val="FF0000"/>
                  </a:solidFill>
                </a:rPr>
                <a:t>2</a:t>
              </a:r>
            </a:p>
          </p:txBody>
        </p:sp>
        <p:sp>
          <p:nvSpPr>
            <p:cNvPr id="18" name="Tekstiruutu 17"/>
            <p:cNvSpPr txBox="1"/>
            <p:nvPr/>
          </p:nvSpPr>
          <p:spPr>
            <a:xfrm>
              <a:off x="4816538" y="3862094"/>
              <a:ext cx="288862" cy="338554"/>
            </a:xfrm>
            <a:prstGeom prst="rect">
              <a:avLst/>
            </a:prstGeom>
            <a:noFill/>
          </p:spPr>
          <p:txBody>
            <a:bodyPr wrap="none" rtlCol="0">
              <a:spAutoFit/>
            </a:bodyPr>
            <a:lstStyle/>
            <a:p>
              <a:r>
                <a:rPr lang="fi-FI" sz="1600" b="1">
                  <a:solidFill>
                    <a:srgbClr val="FF0000"/>
                  </a:solidFill>
                </a:rPr>
                <a:t>3</a:t>
              </a:r>
            </a:p>
          </p:txBody>
        </p:sp>
        <p:sp>
          <p:nvSpPr>
            <p:cNvPr id="19" name="Tekstiruutu 18"/>
            <p:cNvSpPr txBox="1"/>
            <p:nvPr/>
          </p:nvSpPr>
          <p:spPr>
            <a:xfrm>
              <a:off x="5578538" y="3870370"/>
              <a:ext cx="288862" cy="338554"/>
            </a:xfrm>
            <a:prstGeom prst="rect">
              <a:avLst/>
            </a:prstGeom>
            <a:noFill/>
          </p:spPr>
          <p:txBody>
            <a:bodyPr wrap="none" rtlCol="0">
              <a:spAutoFit/>
            </a:bodyPr>
            <a:lstStyle/>
            <a:p>
              <a:r>
                <a:rPr lang="fi-FI" sz="1600" b="1">
                  <a:solidFill>
                    <a:srgbClr val="FF0000"/>
                  </a:solidFill>
                </a:rPr>
                <a:t>4</a:t>
              </a:r>
            </a:p>
          </p:txBody>
        </p:sp>
        <p:sp>
          <p:nvSpPr>
            <p:cNvPr id="20" name="Tekstiruutu 19"/>
            <p:cNvSpPr txBox="1"/>
            <p:nvPr/>
          </p:nvSpPr>
          <p:spPr>
            <a:xfrm>
              <a:off x="6340538" y="3862094"/>
              <a:ext cx="288862" cy="338554"/>
            </a:xfrm>
            <a:prstGeom prst="rect">
              <a:avLst/>
            </a:prstGeom>
            <a:noFill/>
          </p:spPr>
          <p:txBody>
            <a:bodyPr wrap="none" rtlCol="0">
              <a:spAutoFit/>
            </a:bodyPr>
            <a:lstStyle/>
            <a:p>
              <a:r>
                <a:rPr lang="fi-FI" sz="1600" b="1">
                  <a:solidFill>
                    <a:srgbClr val="FF0000"/>
                  </a:solidFill>
                </a:rPr>
                <a:t>5</a:t>
              </a:r>
            </a:p>
          </p:txBody>
        </p:sp>
        <p:sp>
          <p:nvSpPr>
            <p:cNvPr id="21" name="Tekstiruutu 20"/>
            <p:cNvSpPr txBox="1"/>
            <p:nvPr/>
          </p:nvSpPr>
          <p:spPr>
            <a:xfrm>
              <a:off x="7102538" y="3870370"/>
              <a:ext cx="288862" cy="338554"/>
            </a:xfrm>
            <a:prstGeom prst="rect">
              <a:avLst/>
            </a:prstGeom>
            <a:noFill/>
          </p:spPr>
          <p:txBody>
            <a:bodyPr wrap="none" rtlCol="0">
              <a:spAutoFit/>
            </a:bodyPr>
            <a:lstStyle/>
            <a:p>
              <a:r>
                <a:rPr lang="fi-FI" sz="1600" b="1">
                  <a:solidFill>
                    <a:srgbClr val="FF0000"/>
                  </a:solidFill>
                </a:rPr>
                <a:t>6</a:t>
              </a:r>
            </a:p>
          </p:txBody>
        </p:sp>
        <p:sp>
          <p:nvSpPr>
            <p:cNvPr id="22" name="Tekstiruutu 21"/>
            <p:cNvSpPr txBox="1"/>
            <p:nvPr/>
          </p:nvSpPr>
          <p:spPr>
            <a:xfrm>
              <a:off x="7861074" y="3870370"/>
              <a:ext cx="288862" cy="338554"/>
            </a:xfrm>
            <a:prstGeom prst="rect">
              <a:avLst/>
            </a:prstGeom>
            <a:noFill/>
          </p:spPr>
          <p:txBody>
            <a:bodyPr wrap="none" rtlCol="0">
              <a:spAutoFit/>
            </a:bodyPr>
            <a:lstStyle/>
            <a:p>
              <a:r>
                <a:rPr lang="fi-FI" sz="1600" b="1">
                  <a:solidFill>
                    <a:srgbClr val="FF0000"/>
                  </a:solidFill>
                </a:rPr>
                <a:t>7</a:t>
              </a:r>
            </a:p>
          </p:txBody>
        </p:sp>
      </p:grpSp>
    </p:spTree>
    <p:extLst>
      <p:ext uri="{BB962C8B-B14F-4D97-AF65-F5344CB8AC3E}">
        <p14:creationId xmlns:p14="http://schemas.microsoft.com/office/powerpoint/2010/main" val="1258275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Taulukon määrittely</a:t>
            </a:r>
          </a:p>
        </p:txBody>
      </p:sp>
      <p:sp>
        <p:nvSpPr>
          <p:cNvPr id="3" name="Sisällön paikkamerkki 2"/>
          <p:cNvSpPr>
            <a:spLocks noGrp="1"/>
          </p:cNvSpPr>
          <p:nvPr>
            <p:ph idx="1"/>
          </p:nvPr>
        </p:nvSpPr>
        <p:spPr/>
        <p:txBody>
          <a:bodyPr>
            <a:normAutofit/>
          </a:bodyPr>
          <a:lstStyle/>
          <a:p>
            <a:r>
              <a:rPr lang="en-US" dirty="0" err="1"/>
              <a:t>Taulukko</a:t>
            </a:r>
            <a:r>
              <a:rPr lang="en-US" dirty="0"/>
              <a:t> </a:t>
            </a:r>
            <a:r>
              <a:rPr lang="en-US" dirty="0" err="1"/>
              <a:t>kokonaisluvuille</a:t>
            </a:r>
            <a:endParaRPr lang="en-US" dirty="0"/>
          </a:p>
          <a:p>
            <a:pPr lvl="1"/>
            <a:r>
              <a:rPr lang="en-US" dirty="0"/>
              <a:t>int[] </a:t>
            </a:r>
            <a:r>
              <a:rPr lang="en-US" dirty="0" err="1"/>
              <a:t>myArray</a:t>
            </a:r>
            <a:r>
              <a:rPr lang="en-US" dirty="0"/>
              <a:t> = new int [5]; </a:t>
            </a:r>
          </a:p>
          <a:p>
            <a:r>
              <a:rPr lang="en-US" dirty="0" err="1"/>
              <a:t>Taulukko</a:t>
            </a:r>
            <a:r>
              <a:rPr lang="en-US" dirty="0"/>
              <a:t> </a:t>
            </a:r>
            <a:r>
              <a:rPr lang="en-US" dirty="0" err="1"/>
              <a:t>merkkijonoille</a:t>
            </a:r>
            <a:endParaRPr lang="en-US" dirty="0"/>
          </a:p>
          <a:p>
            <a:pPr lvl="1"/>
            <a:r>
              <a:rPr lang="fi-FI" dirty="0" err="1"/>
              <a:t>String</a:t>
            </a:r>
            <a:r>
              <a:rPr lang="fi-FI" dirty="0"/>
              <a:t>[] </a:t>
            </a:r>
            <a:r>
              <a:rPr lang="fi-FI" dirty="0" err="1"/>
              <a:t>myStringArray</a:t>
            </a:r>
            <a:r>
              <a:rPr lang="fi-FI" dirty="0"/>
              <a:t> = </a:t>
            </a:r>
            <a:r>
              <a:rPr lang="fi-FI" dirty="0" err="1"/>
              <a:t>new</a:t>
            </a:r>
            <a:r>
              <a:rPr lang="fi-FI" dirty="0"/>
              <a:t> </a:t>
            </a:r>
            <a:r>
              <a:rPr lang="fi-FI" dirty="0" err="1"/>
              <a:t>String</a:t>
            </a:r>
            <a:r>
              <a:rPr lang="fi-FI" dirty="0"/>
              <a:t>[6];</a:t>
            </a:r>
          </a:p>
        </p:txBody>
      </p:sp>
    </p:spTree>
    <p:extLst>
      <p:ext uri="{BB962C8B-B14F-4D97-AF65-F5344CB8AC3E}">
        <p14:creationId xmlns:p14="http://schemas.microsoft.com/office/powerpoint/2010/main" val="2404089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Taulukon alustus</a:t>
            </a:r>
          </a:p>
        </p:txBody>
      </p:sp>
      <p:sp>
        <p:nvSpPr>
          <p:cNvPr id="3" name="Sisällön paikkamerkki 2"/>
          <p:cNvSpPr>
            <a:spLocks noGrp="1"/>
          </p:cNvSpPr>
          <p:nvPr>
            <p:ph idx="1"/>
          </p:nvPr>
        </p:nvSpPr>
        <p:spPr/>
        <p:txBody>
          <a:bodyPr/>
          <a:lstStyle/>
          <a:p>
            <a:r>
              <a:rPr lang="fi-FI" dirty="0"/>
              <a:t>Taulukko voidaan alustaa valmiilla sisällöllä esittelyn yhteydessä:</a:t>
            </a:r>
          </a:p>
          <a:p>
            <a:pPr lvl="1"/>
            <a:r>
              <a:rPr lang="en-US" dirty="0"/>
              <a:t>int[] </a:t>
            </a:r>
            <a:r>
              <a:rPr lang="en-US" dirty="0" err="1"/>
              <a:t>myArray</a:t>
            </a:r>
            <a:r>
              <a:rPr lang="en-US" dirty="0"/>
              <a:t> = new int[] {1, 3, 5, 7, 9}; </a:t>
            </a:r>
          </a:p>
          <a:p>
            <a:pPr lvl="1"/>
            <a:r>
              <a:rPr lang="en-US" dirty="0"/>
              <a:t>String[] </a:t>
            </a:r>
            <a:r>
              <a:rPr lang="en-US" dirty="0" err="1"/>
              <a:t>weekDays</a:t>
            </a:r>
            <a:r>
              <a:rPr lang="en-US" dirty="0"/>
              <a:t> = new String[] 	{"</a:t>
            </a:r>
            <a:r>
              <a:rPr lang="en-US" dirty="0" err="1"/>
              <a:t>Sun","Sat","Mon","Tue","Wed","Thu","Fri</a:t>
            </a:r>
            <a:r>
              <a:rPr lang="en-US" dirty="0"/>
              <a:t>"};</a:t>
            </a:r>
          </a:p>
          <a:p>
            <a:pPr lvl="1"/>
            <a:r>
              <a:rPr lang="fi-FI" dirty="0"/>
              <a:t>Tällöin taulukon kokoa ei tarvitse kertoa</a:t>
            </a:r>
          </a:p>
          <a:p>
            <a:r>
              <a:rPr lang="en-US" dirty="0"/>
              <a:t>Sama </a:t>
            </a:r>
            <a:r>
              <a:rPr lang="en-US" dirty="0" err="1"/>
              <a:t>voidaan</a:t>
            </a:r>
            <a:r>
              <a:rPr lang="en-US" dirty="0"/>
              <a:t> </a:t>
            </a:r>
            <a:r>
              <a:rPr lang="en-US" dirty="0" err="1"/>
              <a:t>tehdä</a:t>
            </a:r>
            <a:r>
              <a:rPr lang="en-US" dirty="0"/>
              <a:t> </a:t>
            </a:r>
            <a:r>
              <a:rPr lang="en-US" dirty="0" err="1"/>
              <a:t>lyhyemmin</a:t>
            </a:r>
            <a:r>
              <a:rPr lang="en-US" dirty="0"/>
              <a:t> </a:t>
            </a:r>
            <a:r>
              <a:rPr lang="en-US" dirty="0" err="1"/>
              <a:t>näin</a:t>
            </a:r>
            <a:r>
              <a:rPr lang="en-US" dirty="0"/>
              <a:t>:</a:t>
            </a:r>
          </a:p>
          <a:p>
            <a:pPr lvl="1"/>
            <a:r>
              <a:rPr lang="fi-FI" dirty="0" err="1"/>
              <a:t>int</a:t>
            </a:r>
            <a:r>
              <a:rPr lang="fi-FI" dirty="0"/>
              <a:t>[] </a:t>
            </a:r>
            <a:r>
              <a:rPr lang="fi-FI" dirty="0" err="1"/>
              <a:t>myArray</a:t>
            </a:r>
            <a:r>
              <a:rPr lang="fi-FI" dirty="0"/>
              <a:t> = {1, 3, 5, 7, 9};</a:t>
            </a:r>
          </a:p>
          <a:p>
            <a:pPr lvl="1"/>
            <a:r>
              <a:rPr lang="fi-FI" dirty="0" err="1"/>
              <a:t>String</a:t>
            </a:r>
            <a:r>
              <a:rPr lang="fi-FI" dirty="0"/>
              <a:t>[] </a:t>
            </a:r>
            <a:r>
              <a:rPr lang="fi-FI" dirty="0" err="1"/>
              <a:t>weekDays</a:t>
            </a:r>
            <a:r>
              <a:rPr lang="fi-FI" dirty="0"/>
              <a:t> =   {"Sun","</a:t>
            </a:r>
            <a:r>
              <a:rPr lang="fi-FI" dirty="0" err="1"/>
              <a:t>Sat</a:t>
            </a:r>
            <a:r>
              <a:rPr lang="fi-FI" dirty="0"/>
              <a:t>","</a:t>
            </a:r>
            <a:r>
              <a:rPr lang="fi-FI" dirty="0" err="1"/>
              <a:t>Mon</a:t>
            </a:r>
            <a:r>
              <a:rPr lang="fi-FI" dirty="0"/>
              <a:t>","Tue","</a:t>
            </a:r>
            <a:r>
              <a:rPr lang="fi-FI" dirty="0" err="1"/>
              <a:t>Wed</a:t>
            </a:r>
            <a:r>
              <a:rPr lang="fi-FI" dirty="0"/>
              <a:t>","</a:t>
            </a:r>
            <a:r>
              <a:rPr lang="fi-FI" dirty="0" err="1"/>
              <a:t>Thu</a:t>
            </a:r>
            <a:r>
              <a:rPr lang="fi-FI" dirty="0"/>
              <a:t>","</a:t>
            </a:r>
            <a:r>
              <a:rPr lang="fi-FI" dirty="0" err="1"/>
              <a:t>Fri</a:t>
            </a:r>
            <a:r>
              <a:rPr lang="fi-FI" dirty="0"/>
              <a:t>"};</a:t>
            </a:r>
            <a:endParaRPr lang="en-US" dirty="0"/>
          </a:p>
          <a:p>
            <a:endParaRPr lang="fi-FI" dirty="0"/>
          </a:p>
        </p:txBody>
      </p:sp>
    </p:spTree>
    <p:extLst>
      <p:ext uri="{BB962C8B-B14F-4D97-AF65-F5344CB8AC3E}">
        <p14:creationId xmlns:p14="http://schemas.microsoft.com/office/powerpoint/2010/main" val="3477834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B3FB6-32D7-9F49-E566-E05C51FE7C4B}"/>
              </a:ext>
            </a:extLst>
          </p:cNvPr>
          <p:cNvSpPr>
            <a:spLocks noGrp="1"/>
          </p:cNvSpPr>
          <p:nvPr>
            <p:ph type="title"/>
          </p:nvPr>
        </p:nvSpPr>
        <p:spPr/>
        <p:txBody>
          <a:bodyPr/>
          <a:lstStyle/>
          <a:p>
            <a:r>
              <a:rPr lang="fi-FI" dirty="0"/>
              <a:t>Esimerkki</a:t>
            </a:r>
          </a:p>
        </p:txBody>
      </p:sp>
      <p:sp>
        <p:nvSpPr>
          <p:cNvPr id="3" name="Content Placeholder 2">
            <a:extLst>
              <a:ext uri="{FF2B5EF4-FFF2-40B4-BE49-F238E27FC236}">
                <a16:creationId xmlns:a16="http://schemas.microsoft.com/office/drawing/2014/main" id="{0F30E220-65A7-6221-EC82-44F6A2A21682}"/>
              </a:ext>
            </a:extLst>
          </p:cNvPr>
          <p:cNvSpPr>
            <a:spLocks noGrp="1"/>
          </p:cNvSpPr>
          <p:nvPr>
            <p:ph idx="1"/>
          </p:nvPr>
        </p:nvSpPr>
        <p:spPr>
          <a:xfrm>
            <a:off x="838200" y="1825625"/>
            <a:ext cx="4654337" cy="4351338"/>
          </a:xfrm>
        </p:spPr>
        <p:txBody>
          <a:bodyPr/>
          <a:lstStyle/>
          <a:p>
            <a:r>
              <a:rPr lang="fi-FI" dirty="0"/>
              <a:t>Ohjelma, joka kysyy käyttäjältä lukuja ja toistaa ne</a:t>
            </a:r>
          </a:p>
          <a:p>
            <a:r>
              <a:rPr lang="fi-FI" dirty="0"/>
              <a:t>Muokkaa ohjelmaa siten, että se laskee lukujen keskiarvon</a:t>
            </a:r>
          </a:p>
          <a:p>
            <a:endParaRPr lang="fi-FI" dirty="0"/>
          </a:p>
        </p:txBody>
      </p:sp>
      <p:sp>
        <p:nvSpPr>
          <p:cNvPr id="5" name="Rectangle 2">
            <a:extLst>
              <a:ext uri="{FF2B5EF4-FFF2-40B4-BE49-F238E27FC236}">
                <a16:creationId xmlns:a16="http://schemas.microsoft.com/office/drawing/2014/main" id="{EE8FE31F-132D-7C42-13EF-47D9FEAB15A8}"/>
              </a:ext>
            </a:extLst>
          </p:cNvPr>
          <p:cNvSpPr>
            <a:spLocks noChangeArrowheads="1"/>
          </p:cNvSpPr>
          <p:nvPr/>
        </p:nvSpPr>
        <p:spPr bwMode="auto">
          <a:xfrm>
            <a:off x="5130458" y="305068"/>
            <a:ext cx="5787109" cy="62478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600" b="0" i="0" u="none" strike="noStrike" cap="none" normalizeH="0" baseline="0" dirty="0">
                <a:ln>
                  <a:noFill/>
                </a:ln>
                <a:solidFill>
                  <a:srgbClr val="0033B3"/>
                </a:solidFill>
                <a:effectLst/>
                <a:latin typeface="JetBrains Mono"/>
              </a:rPr>
              <a:t>import </a:t>
            </a:r>
            <a:r>
              <a:rPr kumimoji="0" lang="fi-FI" altLang="fi-FI" sz="1600" b="0" i="0" u="none" strike="noStrike" cap="none" normalizeH="0" baseline="0" dirty="0" err="1">
                <a:ln>
                  <a:noFill/>
                </a:ln>
                <a:solidFill>
                  <a:srgbClr val="000000"/>
                </a:solidFill>
                <a:effectLst/>
                <a:latin typeface="JetBrains Mono"/>
              </a:rPr>
              <a:t>java.util.</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err="1">
                <a:ln>
                  <a:noFill/>
                </a:ln>
                <a:solidFill>
                  <a:srgbClr val="0033B3"/>
                </a:solidFill>
                <a:effectLst/>
                <a:latin typeface="JetBrains Mono"/>
              </a:rPr>
              <a:t>public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class</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Main </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public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static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void</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627A"/>
                </a:solidFill>
                <a:effectLst/>
                <a:latin typeface="JetBrains Mono"/>
              </a:rPr>
              <a:t>main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args</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lukija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new</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System</a:t>
            </a:r>
            <a:r>
              <a:rPr kumimoji="0" lang="fi-FI" altLang="fi-FI" sz="1600" b="0" i="0" u="none" strike="noStrike" cap="none" normalizeH="0" baseline="0" dirty="0">
                <a:ln>
                  <a:noFill/>
                </a:ln>
                <a:solidFill>
                  <a:srgbClr val="080808"/>
                </a:solidFill>
                <a:effectLst/>
                <a:latin typeface="JetBrains Mono"/>
              </a:rPr>
              <a:t>.</a:t>
            </a:r>
            <a:r>
              <a:rPr kumimoji="0" lang="fi-FI" altLang="fi-FI" sz="1600" b="0" i="1" u="none" strike="noStrike" cap="none" normalizeH="0" baseline="0" dirty="0">
                <a:ln>
                  <a:noFill/>
                </a:ln>
                <a:solidFill>
                  <a:srgbClr val="871094"/>
                </a:solidFill>
                <a:effectLst/>
                <a:latin typeface="JetBrains Mono"/>
              </a:rPr>
              <a:t>in</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"Anna taulukon koko? "</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koko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Integer</a:t>
            </a:r>
            <a:r>
              <a:rPr kumimoji="0" lang="fi-FI" altLang="fi-FI" sz="1600" b="0" i="0" u="none" strike="noStrike" cap="none" normalizeH="0" baseline="0" dirty="0" err="1">
                <a:ln>
                  <a:noFill/>
                </a:ln>
                <a:solidFill>
                  <a:srgbClr val="080808"/>
                </a:solidFill>
                <a:effectLst/>
                <a:latin typeface="JetBrains Mono"/>
              </a:rPr>
              <a:t>.valueOf</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lukija</a:t>
            </a:r>
            <a:r>
              <a:rPr kumimoji="0" lang="fi-FI" altLang="fi-FI" sz="1600" b="0" i="0" u="none" strike="noStrike" cap="none" normalizeH="0" baseline="0" dirty="0" err="1">
                <a:ln>
                  <a:noFill/>
                </a:ln>
                <a:solidFill>
                  <a:srgbClr val="080808"/>
                </a:solidFill>
                <a:effectLst/>
                <a:latin typeface="JetBrains Mono"/>
              </a:rPr>
              <a:t>.nextLine</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luvut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new</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koko</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"Anna luvut:"</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indeksi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0</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while</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indeksi </a:t>
            </a:r>
            <a:r>
              <a:rPr kumimoji="0" lang="fi-FI" altLang="fi-FI" sz="1600" b="0" i="0" u="none" strike="noStrike" cap="none" normalizeH="0" baseline="0" dirty="0">
                <a:ln>
                  <a:noFill/>
                </a:ln>
                <a:solidFill>
                  <a:srgbClr val="080808"/>
                </a:solidFill>
                <a:effectLst/>
                <a:latin typeface="JetBrains Mono"/>
              </a:rPr>
              <a:t>&lt; </a:t>
            </a:r>
            <a:r>
              <a:rPr kumimoji="0" lang="fi-FI" altLang="fi-FI" sz="1600" b="0" i="0" u="none" strike="noStrike" cap="none" normalizeH="0" baseline="0" dirty="0" err="1">
                <a:ln>
                  <a:noFill/>
                </a:ln>
                <a:solidFill>
                  <a:srgbClr val="000000"/>
                </a:solidFill>
                <a:effectLst/>
                <a:latin typeface="JetBrains Mono"/>
              </a:rPr>
              <a:t>luvut</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0" u="none" strike="noStrike" cap="none" normalizeH="0" baseline="0" dirty="0" err="1">
                <a:ln>
                  <a:noFill/>
                </a:ln>
                <a:solidFill>
                  <a:srgbClr val="871094"/>
                </a:solidFill>
                <a:effectLst/>
                <a:latin typeface="JetBrains Mono"/>
              </a:rPr>
              <a:t>length</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luvut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indeksi</a:t>
            </a:r>
            <a:r>
              <a:rPr kumimoji="0" lang="fi-FI" altLang="fi-FI" sz="1600" b="0" i="0" u="none" strike="noStrike" cap="none" normalizeH="0" baseline="0" dirty="0">
                <a:ln>
                  <a:noFill/>
                </a:ln>
                <a:solidFill>
                  <a:srgbClr val="080808"/>
                </a:solidFill>
                <a:effectLst/>
                <a:latin typeface="JetBrains Mono"/>
              </a:rPr>
              <a:t>] = </a:t>
            </a:r>
            <a:r>
              <a:rPr kumimoji="0" lang="fi-FI" altLang="fi-FI" sz="1600" b="0" i="0" u="none" strike="noStrike" cap="none" normalizeH="0" baseline="0" dirty="0" err="1">
                <a:ln>
                  <a:noFill/>
                </a:ln>
                <a:solidFill>
                  <a:srgbClr val="000000"/>
                </a:solidFill>
                <a:effectLst/>
                <a:latin typeface="JetBrains Mono"/>
              </a:rPr>
              <a:t>Integer</a:t>
            </a:r>
            <a:r>
              <a:rPr kumimoji="0" lang="fi-FI" altLang="fi-FI" sz="1600" b="0" i="0" u="none" strike="noStrike" cap="none" normalizeH="0" baseline="0" dirty="0" err="1">
                <a:ln>
                  <a:noFill/>
                </a:ln>
                <a:solidFill>
                  <a:srgbClr val="080808"/>
                </a:solidFill>
                <a:effectLst/>
                <a:latin typeface="JetBrains Mono"/>
              </a:rPr>
              <a:t>.valueOf</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lukija</a:t>
            </a:r>
            <a:r>
              <a:rPr kumimoji="0" lang="fi-FI" altLang="fi-FI" sz="1600" b="0" i="0" u="none" strike="noStrike" cap="none" normalizeH="0" baseline="0" dirty="0" err="1">
                <a:ln>
                  <a:noFill/>
                </a:ln>
                <a:solidFill>
                  <a:srgbClr val="080808"/>
                </a:solidFill>
                <a:effectLst/>
                <a:latin typeface="JetBrains Mono"/>
              </a:rPr>
              <a:t>.nextLine</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indeksi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indeksi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1</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"Luvut:"</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33B3"/>
                </a:solidFill>
                <a:effectLst/>
                <a:latin typeface="JetBrains Mono"/>
              </a:rPr>
              <a:t>for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0</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&lt; </a:t>
            </a:r>
            <a:r>
              <a:rPr kumimoji="0" lang="fi-FI" altLang="fi-FI" sz="1600" b="0" i="0" u="none" strike="noStrike" cap="none" normalizeH="0" baseline="0" dirty="0">
                <a:ln>
                  <a:noFill/>
                </a:ln>
                <a:solidFill>
                  <a:srgbClr val="000000"/>
                </a:solidFill>
                <a:effectLst/>
                <a:latin typeface="JetBrains Mono"/>
              </a:rPr>
              <a:t>koko</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luvut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a:t>
            </a:r>
            <a:endParaRPr kumimoji="0" lang="fi-FI" altLang="fi-FI"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2733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Esimerkki</a:t>
            </a:r>
          </a:p>
        </p:txBody>
      </p:sp>
      <p:sp>
        <p:nvSpPr>
          <p:cNvPr id="3" name="Sisällön paikkamerkki 2"/>
          <p:cNvSpPr>
            <a:spLocks noGrp="1"/>
          </p:cNvSpPr>
          <p:nvPr>
            <p:ph idx="1"/>
          </p:nvPr>
        </p:nvSpPr>
        <p:spPr>
          <a:xfrm>
            <a:off x="838200" y="1825625"/>
            <a:ext cx="3604925" cy="4351338"/>
          </a:xfrm>
        </p:spPr>
        <p:txBody>
          <a:bodyPr>
            <a:normAutofit/>
          </a:bodyPr>
          <a:lstStyle/>
          <a:p>
            <a:r>
              <a:rPr lang="fi-FI" dirty="0"/>
              <a:t>Oheinen ohjelma etsii tietyn nimen taulukosta</a:t>
            </a:r>
          </a:p>
        </p:txBody>
      </p:sp>
      <p:sp>
        <p:nvSpPr>
          <p:cNvPr id="4" name="Rectangle 1">
            <a:extLst>
              <a:ext uri="{FF2B5EF4-FFF2-40B4-BE49-F238E27FC236}">
                <a16:creationId xmlns:a16="http://schemas.microsoft.com/office/drawing/2014/main" id="{B83CC344-CD63-822B-B8B2-93D6C0AA26EA}"/>
              </a:ext>
            </a:extLst>
          </p:cNvPr>
          <p:cNvSpPr>
            <a:spLocks noChangeArrowheads="1"/>
          </p:cNvSpPr>
          <p:nvPr/>
        </p:nvSpPr>
        <p:spPr bwMode="auto">
          <a:xfrm>
            <a:off x="4682464" y="579504"/>
            <a:ext cx="7302927" cy="60016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600" b="0" i="0" u="none" strike="noStrike" cap="none" normalizeH="0" baseline="0" dirty="0">
                <a:ln>
                  <a:noFill/>
                </a:ln>
                <a:solidFill>
                  <a:srgbClr val="0033B3"/>
                </a:solidFill>
                <a:effectLst/>
                <a:latin typeface="JetBrains Mono"/>
              </a:rPr>
              <a:t>import </a:t>
            </a:r>
            <a:r>
              <a:rPr kumimoji="0" lang="fi-FI" altLang="fi-FI" sz="1600" b="0" i="0" u="none" strike="noStrike" cap="none" normalizeH="0" baseline="0" dirty="0" err="1">
                <a:ln>
                  <a:noFill/>
                </a:ln>
                <a:solidFill>
                  <a:srgbClr val="000000"/>
                </a:solidFill>
                <a:effectLst/>
                <a:latin typeface="JetBrains Mono"/>
              </a:rPr>
              <a:t>java.util.</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err="1">
                <a:ln>
                  <a:noFill/>
                </a:ln>
                <a:solidFill>
                  <a:srgbClr val="0033B3"/>
                </a:solidFill>
                <a:effectLst/>
                <a:latin typeface="JetBrains Mono"/>
              </a:rPr>
              <a:t>public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class</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Main </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public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static</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void</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627A"/>
                </a:solidFill>
                <a:effectLst/>
                <a:latin typeface="JetBrains Mono"/>
              </a:rPr>
              <a:t>main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args</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lukija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new</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80808"/>
                </a:solidFill>
                <a:effectLst/>
                <a:latin typeface="JetBrains Mono"/>
              </a:rPr>
              <a:t>Scanner</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System</a:t>
            </a:r>
            <a:r>
              <a:rPr kumimoji="0" lang="fi-FI" altLang="fi-FI" sz="1600" b="0" i="0" u="none" strike="noStrike" cap="none" normalizeH="0" baseline="0" dirty="0">
                <a:ln>
                  <a:noFill/>
                </a:ln>
                <a:solidFill>
                  <a:srgbClr val="080808"/>
                </a:solidFill>
                <a:effectLst/>
                <a:latin typeface="JetBrains Mono"/>
              </a:rPr>
              <a:t>.</a:t>
            </a:r>
            <a:r>
              <a:rPr kumimoji="0" lang="fi-FI" altLang="fi-FI" sz="1600" b="0" i="1" u="none" strike="noStrike" cap="none" normalizeH="0" baseline="0" dirty="0">
                <a:ln>
                  <a:noFill/>
                </a:ln>
                <a:solidFill>
                  <a:srgbClr val="871094"/>
                </a:solidFill>
                <a:effectLst/>
                <a:latin typeface="JetBrains Mono"/>
              </a:rPr>
              <a:t>in</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nimet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"Jaakko"</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"Mari"</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"Mikko"</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"Jaana"</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"Timo"</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"Anna etsittävä nimi:"</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00000"/>
                </a:solidFill>
                <a:effectLst/>
                <a:latin typeface="JetBrains Mono"/>
              </a:rPr>
              <a:t> nimi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lukija</a:t>
            </a:r>
            <a:r>
              <a:rPr kumimoji="0" lang="fi-FI" altLang="fi-FI" sz="1600" b="0" i="0" u="none" strike="noStrike" cap="none" normalizeH="0" baseline="0" dirty="0" err="1">
                <a:ln>
                  <a:noFill/>
                </a:ln>
                <a:solidFill>
                  <a:srgbClr val="080808"/>
                </a:solidFill>
                <a:effectLst/>
                <a:latin typeface="JetBrains Mono"/>
              </a:rPr>
              <a:t>.nextLine</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paikka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1</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33B3"/>
                </a:solidFill>
                <a:effectLst/>
                <a:latin typeface="JetBrains Mono"/>
              </a:rPr>
              <a:t>for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0</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&lt; </a:t>
            </a:r>
            <a:r>
              <a:rPr kumimoji="0" lang="fi-FI" altLang="fi-FI" sz="1600" b="0" i="0" u="none" strike="noStrike" cap="none" normalizeH="0" baseline="0" dirty="0" err="1">
                <a:ln>
                  <a:noFill/>
                </a:ln>
                <a:solidFill>
                  <a:srgbClr val="000000"/>
                </a:solidFill>
                <a:effectLst/>
                <a:latin typeface="JetBrains Mono"/>
              </a:rPr>
              <a:t>nimet</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0" u="none" strike="noStrike" cap="none" normalizeH="0" baseline="0" dirty="0" err="1">
                <a:ln>
                  <a:noFill/>
                </a:ln>
                <a:solidFill>
                  <a:srgbClr val="871094"/>
                </a:solidFill>
                <a:effectLst/>
                <a:latin typeface="JetBrains Mono"/>
              </a:rPr>
              <a:t>length</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if</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nimi</a:t>
            </a:r>
            <a:r>
              <a:rPr kumimoji="0" lang="fi-FI" altLang="fi-FI" sz="1600" b="0" i="0" u="none" strike="noStrike" cap="none" normalizeH="0" baseline="0" dirty="0" err="1">
                <a:ln>
                  <a:noFill/>
                </a:ln>
                <a:solidFill>
                  <a:srgbClr val="080808"/>
                </a:solidFill>
                <a:effectLst/>
                <a:latin typeface="JetBrains Mono"/>
              </a:rPr>
              <a:t>.equals</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nimet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1" u="none" strike="noStrike" cap="none" normalizeH="0" baseline="0" dirty="0">
                <a:ln>
                  <a:noFill/>
                </a:ln>
                <a:solidFill>
                  <a:srgbClr val="8C8C8C"/>
                </a:solidFill>
                <a:effectLst/>
                <a:latin typeface="JetBrains Mono"/>
              </a:rPr>
              <a:t>// löytyi</a:t>
            </a:r>
            <a:br>
              <a:rPr kumimoji="0" lang="fi-FI" altLang="fi-FI" sz="1600" b="0" i="1" u="none" strike="noStrike" cap="none" normalizeH="0" baseline="0" dirty="0">
                <a:ln>
                  <a:noFill/>
                </a:ln>
                <a:solidFill>
                  <a:srgbClr val="8C8C8C"/>
                </a:solidFill>
                <a:effectLst/>
                <a:latin typeface="JetBrains Mono"/>
              </a:rPr>
            </a:br>
            <a:r>
              <a:rPr kumimoji="0" lang="fi-FI" altLang="fi-FI" sz="1600" b="0" i="1" u="none" strike="noStrike" cap="none" normalizeH="0" baseline="0" dirty="0">
                <a:ln>
                  <a:noFill/>
                </a:ln>
                <a:solidFill>
                  <a:srgbClr val="8C8C8C"/>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paikka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if</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paikka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1</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nimi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 löytyi kohdasta "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Integer</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080808"/>
                </a:solidFill>
                <a:effectLst/>
                <a:latin typeface="JetBrains Mono"/>
              </a:rPr>
              <a:t>toString</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paikka</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else</a:t>
            </a:r>
            <a:br>
              <a:rPr kumimoji="0" lang="fi-FI" altLang="fi-FI" sz="1600" b="0" i="0" u="none" strike="noStrike" cap="none" normalizeH="0" baseline="0" dirty="0">
                <a:ln>
                  <a:noFill/>
                </a:ln>
                <a:solidFill>
                  <a:srgbClr val="0033B3"/>
                </a:solidFill>
                <a:effectLst/>
                <a:latin typeface="JetBrains Mono"/>
              </a:rPr>
            </a:b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"ei löytynyt"</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a:t>
            </a:r>
            <a:endParaRPr kumimoji="0" lang="fi-FI" altLang="fi-FI"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5314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Taulukon järjestäminen</a:t>
            </a:r>
          </a:p>
        </p:txBody>
      </p:sp>
      <p:sp>
        <p:nvSpPr>
          <p:cNvPr id="3" name="Sisällön paikkamerkki 2"/>
          <p:cNvSpPr>
            <a:spLocks noGrp="1"/>
          </p:cNvSpPr>
          <p:nvPr>
            <p:ph idx="1"/>
          </p:nvPr>
        </p:nvSpPr>
        <p:spPr>
          <a:xfrm>
            <a:off x="838200" y="1825625"/>
            <a:ext cx="4445682" cy="4351338"/>
          </a:xfrm>
        </p:spPr>
        <p:txBody>
          <a:bodyPr/>
          <a:lstStyle/>
          <a:p>
            <a:r>
              <a:rPr lang="en-US" dirty="0" err="1"/>
              <a:t>Taulukko</a:t>
            </a:r>
            <a:r>
              <a:rPr lang="en-US" dirty="0"/>
              <a:t> </a:t>
            </a:r>
            <a:r>
              <a:rPr lang="en-US" dirty="0" err="1"/>
              <a:t>voidaan</a:t>
            </a:r>
            <a:r>
              <a:rPr lang="en-US" dirty="0"/>
              <a:t> </a:t>
            </a:r>
            <a:r>
              <a:rPr lang="en-US" dirty="0" err="1"/>
              <a:t>järjestää</a:t>
            </a:r>
            <a:r>
              <a:rPr lang="en-US" dirty="0"/>
              <a:t> </a:t>
            </a:r>
            <a:r>
              <a:rPr lang="en-US" dirty="0" err="1"/>
              <a:t>metodilla</a:t>
            </a:r>
            <a:r>
              <a:rPr lang="en-US" dirty="0"/>
              <a:t> </a:t>
            </a:r>
            <a:r>
              <a:rPr lang="en-US" dirty="0" err="1"/>
              <a:t>Arrays.sort</a:t>
            </a:r>
            <a:endParaRPr lang="en-US" dirty="0"/>
          </a:p>
          <a:p>
            <a:r>
              <a:rPr lang="en-US" dirty="0" err="1"/>
              <a:t>Kokeile</a:t>
            </a:r>
            <a:r>
              <a:rPr lang="en-US" dirty="0"/>
              <a:t> </a:t>
            </a:r>
            <a:r>
              <a:rPr lang="en-US" dirty="0" err="1"/>
              <a:t>järjestämistä</a:t>
            </a:r>
            <a:r>
              <a:rPr lang="en-US" dirty="0"/>
              <a:t> </a:t>
            </a:r>
            <a:r>
              <a:rPr lang="en-US" dirty="0" err="1"/>
              <a:t>edellisiin</a:t>
            </a:r>
            <a:r>
              <a:rPr lang="en-US" dirty="0"/>
              <a:t> </a:t>
            </a:r>
            <a:r>
              <a:rPr lang="en-US" dirty="0" err="1"/>
              <a:t>esimerkkeihin</a:t>
            </a:r>
            <a:endParaRPr lang="en-US" dirty="0"/>
          </a:p>
          <a:p>
            <a:pPr lvl="1"/>
            <a:endParaRPr lang="fi-FI" dirty="0"/>
          </a:p>
        </p:txBody>
      </p:sp>
      <p:sp>
        <p:nvSpPr>
          <p:cNvPr id="6" name="Rectangle 1">
            <a:extLst>
              <a:ext uri="{FF2B5EF4-FFF2-40B4-BE49-F238E27FC236}">
                <a16:creationId xmlns:a16="http://schemas.microsoft.com/office/drawing/2014/main" id="{27CBF90A-6DED-D3D7-65AC-D80B5A4406C5}"/>
              </a:ext>
            </a:extLst>
          </p:cNvPr>
          <p:cNvSpPr>
            <a:spLocks noChangeArrowheads="1"/>
          </p:cNvSpPr>
          <p:nvPr/>
        </p:nvSpPr>
        <p:spPr bwMode="auto">
          <a:xfrm>
            <a:off x="5707328" y="2604838"/>
            <a:ext cx="588529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b="0" i="0" u="none" strike="noStrike" cap="none" normalizeH="0" baseline="0" dirty="0" err="1">
                <a:ln>
                  <a:noFill/>
                </a:ln>
                <a:solidFill>
                  <a:srgbClr val="000000"/>
                </a:solidFill>
                <a:effectLst/>
                <a:latin typeface="JetBrains Mono"/>
              </a:rPr>
              <a:t>String</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00000"/>
                </a:solidFill>
                <a:effectLst/>
                <a:latin typeface="JetBrains Mono"/>
              </a:rPr>
              <a:t>nimet </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67D17"/>
                </a:solidFill>
                <a:effectLst/>
                <a:latin typeface="JetBrains Mono"/>
              </a:rPr>
              <a:t>"Jaakko"</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67D17"/>
                </a:solidFill>
                <a:effectLst/>
                <a:latin typeface="JetBrains Mono"/>
              </a:rPr>
              <a:t>"Mari"</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67D17"/>
                </a:solidFill>
                <a:effectLst/>
                <a:latin typeface="JetBrains Mono"/>
              </a:rPr>
              <a:t>"Mikko"</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67D17"/>
                </a:solidFill>
                <a:effectLst/>
                <a:latin typeface="JetBrains Mono"/>
              </a:rPr>
              <a:t>"Jaana"</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67D17"/>
                </a:solidFill>
                <a:effectLst/>
                <a:latin typeface="JetBrains Mono"/>
              </a:rPr>
              <a:t>"Timo"</a:t>
            </a:r>
            <a:r>
              <a:rPr kumimoji="0" lang="fi-FI" altLang="fi-FI" b="0" i="0" u="none" strike="noStrike" cap="none" normalizeH="0" baseline="0" dirty="0">
                <a:ln>
                  <a:noFill/>
                </a:ln>
                <a:solidFill>
                  <a:srgbClr val="080808"/>
                </a:solidFill>
                <a:effectLst/>
                <a:latin typeface="JetBrains Mono"/>
              </a:rPr>
              <a:t>};</a:t>
            </a:r>
            <a:br>
              <a:rPr kumimoji="0" lang="fi-FI" altLang="fi-FI" b="0" i="0" u="none" strike="noStrike" cap="none" normalizeH="0" baseline="0" dirty="0">
                <a:ln>
                  <a:noFill/>
                </a:ln>
                <a:solidFill>
                  <a:srgbClr val="080808"/>
                </a:solidFill>
                <a:effectLst/>
                <a:latin typeface="JetBrains Mono"/>
              </a:rPr>
            </a:br>
            <a:r>
              <a:rPr kumimoji="0" lang="fi-FI" altLang="fi-FI" b="0" i="0" u="none" strike="noStrike" cap="none" normalizeH="0" baseline="0" dirty="0" err="1">
                <a:ln>
                  <a:noFill/>
                </a:ln>
                <a:solidFill>
                  <a:srgbClr val="000000"/>
                </a:solidFill>
                <a:effectLst/>
                <a:latin typeface="JetBrains Mono"/>
              </a:rPr>
              <a:t>java.util.</a:t>
            </a:r>
            <a:r>
              <a:rPr kumimoji="0" lang="fi-FI" altLang="fi-FI" b="0" i="0" u="none" strike="noStrike" cap="none" normalizeH="0" baseline="0" dirty="0" err="1">
                <a:ln>
                  <a:noFill/>
                </a:ln>
                <a:solidFill>
                  <a:srgbClr val="080808"/>
                </a:solidFill>
                <a:effectLst/>
                <a:latin typeface="JetBrains Mono"/>
              </a:rPr>
              <a:t>Arrays.sort</a:t>
            </a:r>
            <a:r>
              <a:rPr kumimoji="0" lang="fi-FI" altLang="fi-FI" b="0" i="0" u="none" strike="noStrike" cap="none" normalizeH="0" baseline="0" dirty="0">
                <a:ln>
                  <a:noFill/>
                </a:ln>
                <a:solidFill>
                  <a:srgbClr val="080808"/>
                </a:solidFill>
                <a:effectLst/>
                <a:latin typeface="JetBrains Mono"/>
              </a:rPr>
              <a:t>(</a:t>
            </a:r>
            <a:r>
              <a:rPr kumimoji="0" lang="fi-FI" altLang="fi-FI" b="0" i="0" u="none" strike="noStrike" cap="none" normalizeH="0" baseline="0" dirty="0">
                <a:ln>
                  <a:noFill/>
                </a:ln>
                <a:solidFill>
                  <a:srgbClr val="000000"/>
                </a:solidFill>
                <a:effectLst/>
                <a:latin typeface="JetBrains Mono"/>
              </a:rPr>
              <a:t>nimet</a:t>
            </a:r>
            <a:r>
              <a:rPr kumimoji="0" lang="fi-FI" altLang="fi-FI" b="0" i="0" u="none" strike="noStrike" cap="none" normalizeH="0" baseline="0" dirty="0">
                <a:ln>
                  <a:noFill/>
                </a:ln>
                <a:solidFill>
                  <a:srgbClr val="080808"/>
                </a:solidFill>
                <a:effectLst/>
                <a:latin typeface="JetBrains Mono"/>
              </a:rPr>
              <a:t>);</a:t>
            </a:r>
            <a:br>
              <a:rPr kumimoji="0" lang="fi-FI" altLang="fi-FI" b="0" i="0" u="none" strike="noStrike" cap="none" normalizeH="0" baseline="0" dirty="0">
                <a:ln>
                  <a:noFill/>
                </a:ln>
                <a:solidFill>
                  <a:srgbClr val="080808"/>
                </a:solidFill>
                <a:effectLst/>
                <a:latin typeface="JetBrains Mono"/>
              </a:rPr>
            </a:br>
            <a:r>
              <a:rPr kumimoji="0" lang="fi-FI" altLang="fi-FI" b="0" i="0" u="none" strike="noStrike" cap="none" normalizeH="0" baseline="0" dirty="0">
                <a:ln>
                  <a:noFill/>
                </a:ln>
                <a:solidFill>
                  <a:srgbClr val="0033B3"/>
                </a:solidFill>
                <a:effectLst/>
                <a:latin typeface="JetBrains Mono"/>
              </a:rPr>
              <a:t>for </a:t>
            </a:r>
            <a:r>
              <a:rPr kumimoji="0" lang="fi-FI" altLang="fi-FI" b="0" i="0" u="none" strike="noStrike" cap="none" normalizeH="0" baseline="0" dirty="0">
                <a:ln>
                  <a:noFill/>
                </a:ln>
                <a:solidFill>
                  <a:srgbClr val="080808"/>
                </a:solidFill>
                <a:effectLst/>
                <a:latin typeface="JetBrains Mono"/>
              </a:rPr>
              <a:t>(</a:t>
            </a:r>
            <a:r>
              <a:rPr kumimoji="0" lang="fi-FI" altLang="fi-FI" b="0" i="0" u="none" strike="noStrike" cap="none" normalizeH="0" baseline="0" dirty="0" err="1">
                <a:ln>
                  <a:noFill/>
                </a:ln>
                <a:solidFill>
                  <a:srgbClr val="0033B3"/>
                </a:solidFill>
                <a:effectLst/>
                <a:latin typeface="JetBrains Mono"/>
              </a:rPr>
              <a:t>int</a:t>
            </a:r>
            <a:r>
              <a:rPr kumimoji="0" lang="fi-FI" altLang="fi-FI" b="0" i="0" u="none" strike="noStrike" cap="none" normalizeH="0" baseline="0" dirty="0">
                <a:ln>
                  <a:noFill/>
                </a:ln>
                <a:solidFill>
                  <a:srgbClr val="0033B3"/>
                </a:solidFill>
                <a:effectLst/>
                <a:latin typeface="JetBrains Mono"/>
              </a:rPr>
              <a:t> </a:t>
            </a:r>
            <a:r>
              <a:rPr kumimoji="0" lang="fi-FI" altLang="fi-FI" b="0" i="0" u="none" strike="noStrike" cap="none" normalizeH="0" baseline="0" dirty="0">
                <a:ln>
                  <a:noFill/>
                </a:ln>
                <a:solidFill>
                  <a:srgbClr val="000000"/>
                </a:solidFill>
                <a:effectLst/>
                <a:latin typeface="JetBrains Mono"/>
              </a:rPr>
              <a:t>i </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1750EB"/>
                </a:solidFill>
                <a:effectLst/>
                <a:latin typeface="JetBrains Mono"/>
              </a:rPr>
              <a:t>0</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00000"/>
                </a:solidFill>
                <a:effectLst/>
                <a:latin typeface="JetBrains Mono"/>
              </a:rPr>
              <a:t>i </a:t>
            </a:r>
            <a:r>
              <a:rPr kumimoji="0" lang="fi-FI" altLang="fi-FI" b="0" i="0" u="none" strike="noStrike" cap="none" normalizeH="0" baseline="0" dirty="0">
                <a:ln>
                  <a:noFill/>
                </a:ln>
                <a:solidFill>
                  <a:srgbClr val="080808"/>
                </a:solidFill>
                <a:effectLst/>
                <a:latin typeface="JetBrains Mono"/>
              </a:rPr>
              <a:t>&lt; </a:t>
            </a:r>
            <a:r>
              <a:rPr kumimoji="0" lang="fi-FI" altLang="fi-FI" b="0" i="0" u="none" strike="noStrike" cap="none" normalizeH="0" baseline="0" dirty="0" err="1">
                <a:ln>
                  <a:noFill/>
                </a:ln>
                <a:solidFill>
                  <a:srgbClr val="000000"/>
                </a:solidFill>
                <a:effectLst/>
                <a:latin typeface="JetBrains Mono"/>
              </a:rPr>
              <a:t>nimet</a:t>
            </a:r>
            <a:r>
              <a:rPr kumimoji="0" lang="fi-FI" altLang="fi-FI" b="0" i="0" u="none" strike="noStrike" cap="none" normalizeH="0" baseline="0" dirty="0" err="1">
                <a:ln>
                  <a:noFill/>
                </a:ln>
                <a:solidFill>
                  <a:srgbClr val="080808"/>
                </a:solidFill>
                <a:effectLst/>
                <a:latin typeface="JetBrains Mono"/>
              </a:rPr>
              <a:t>.</a:t>
            </a:r>
            <a:r>
              <a:rPr kumimoji="0" lang="fi-FI" altLang="fi-FI" b="0" i="0" u="none" strike="noStrike" cap="none" normalizeH="0" baseline="0" dirty="0" err="1">
                <a:ln>
                  <a:noFill/>
                </a:ln>
                <a:solidFill>
                  <a:srgbClr val="871094"/>
                </a:solidFill>
                <a:effectLst/>
                <a:latin typeface="JetBrains Mono"/>
              </a:rPr>
              <a:t>length</a:t>
            </a: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a:ln>
                  <a:noFill/>
                </a:ln>
                <a:solidFill>
                  <a:srgbClr val="000000"/>
                </a:solidFill>
                <a:effectLst/>
                <a:latin typeface="JetBrains Mono"/>
              </a:rPr>
              <a:t>i</a:t>
            </a:r>
            <a:r>
              <a:rPr kumimoji="0" lang="fi-FI" altLang="fi-FI" b="0" i="0" u="none" strike="noStrike" cap="none" normalizeH="0" baseline="0" dirty="0">
                <a:ln>
                  <a:noFill/>
                </a:ln>
                <a:solidFill>
                  <a:srgbClr val="080808"/>
                </a:solidFill>
                <a:effectLst/>
                <a:latin typeface="JetBrains Mono"/>
              </a:rPr>
              <a:t>++)</a:t>
            </a:r>
            <a:br>
              <a:rPr kumimoji="0" lang="fi-FI" altLang="fi-FI" b="0" i="0" u="none" strike="noStrike" cap="none" normalizeH="0" baseline="0" dirty="0">
                <a:ln>
                  <a:noFill/>
                </a:ln>
                <a:solidFill>
                  <a:srgbClr val="080808"/>
                </a:solidFill>
                <a:effectLst/>
                <a:latin typeface="JetBrains Mono"/>
              </a:rPr>
            </a:br>
            <a:r>
              <a:rPr kumimoji="0" lang="fi-FI" altLang="fi-FI" b="0" i="0" u="none" strike="noStrike" cap="none" normalizeH="0" baseline="0" dirty="0">
                <a:ln>
                  <a:noFill/>
                </a:ln>
                <a:solidFill>
                  <a:srgbClr val="080808"/>
                </a:solidFill>
                <a:effectLst/>
                <a:latin typeface="JetBrains Mono"/>
              </a:rPr>
              <a:t>    </a:t>
            </a:r>
            <a:r>
              <a:rPr kumimoji="0" lang="fi-FI" altLang="fi-FI" b="0" i="0" u="none" strike="noStrike" cap="none" normalizeH="0" baseline="0" dirty="0" err="1">
                <a:ln>
                  <a:noFill/>
                </a:ln>
                <a:solidFill>
                  <a:srgbClr val="000000"/>
                </a:solidFill>
                <a:effectLst/>
                <a:latin typeface="JetBrains Mono"/>
              </a:rPr>
              <a:t>System</a:t>
            </a:r>
            <a:r>
              <a:rPr kumimoji="0" lang="fi-FI" altLang="fi-FI" b="0" i="0" u="none" strike="noStrike" cap="none" normalizeH="0" baseline="0" dirty="0" err="1">
                <a:ln>
                  <a:noFill/>
                </a:ln>
                <a:solidFill>
                  <a:srgbClr val="080808"/>
                </a:solidFill>
                <a:effectLst/>
                <a:latin typeface="JetBrains Mono"/>
              </a:rPr>
              <a:t>.</a:t>
            </a:r>
            <a:r>
              <a:rPr kumimoji="0" lang="fi-FI" altLang="fi-FI" b="0" i="1" u="none" strike="noStrike" cap="none" normalizeH="0" baseline="0" dirty="0" err="1">
                <a:ln>
                  <a:noFill/>
                </a:ln>
                <a:solidFill>
                  <a:srgbClr val="871094"/>
                </a:solidFill>
                <a:effectLst/>
                <a:latin typeface="JetBrains Mono"/>
              </a:rPr>
              <a:t>out</a:t>
            </a:r>
            <a:r>
              <a:rPr kumimoji="0" lang="fi-FI" altLang="fi-FI" b="0" i="0" u="none" strike="noStrike" cap="none" normalizeH="0" baseline="0" dirty="0" err="1">
                <a:ln>
                  <a:noFill/>
                </a:ln>
                <a:solidFill>
                  <a:srgbClr val="080808"/>
                </a:solidFill>
                <a:effectLst/>
                <a:latin typeface="JetBrains Mono"/>
              </a:rPr>
              <a:t>.println</a:t>
            </a:r>
            <a:r>
              <a:rPr kumimoji="0" lang="fi-FI" altLang="fi-FI" b="0" i="0" u="none" strike="noStrike" cap="none" normalizeH="0" baseline="0" dirty="0">
                <a:ln>
                  <a:noFill/>
                </a:ln>
                <a:solidFill>
                  <a:srgbClr val="080808"/>
                </a:solidFill>
                <a:effectLst/>
                <a:latin typeface="JetBrains Mono"/>
              </a:rPr>
              <a:t>(</a:t>
            </a:r>
            <a:r>
              <a:rPr kumimoji="0" lang="fi-FI" altLang="fi-FI" b="0" i="0" u="none" strike="noStrike" cap="none" normalizeH="0" baseline="0" dirty="0">
                <a:ln>
                  <a:noFill/>
                </a:ln>
                <a:solidFill>
                  <a:srgbClr val="000000"/>
                </a:solidFill>
                <a:effectLst/>
                <a:latin typeface="JetBrains Mono"/>
              </a:rPr>
              <a:t>nimet</a:t>
            </a:r>
            <a:r>
              <a:rPr kumimoji="0" lang="fi-FI" altLang="fi-FI" b="0" i="0" u="none" strike="noStrike" cap="none" normalizeH="0" baseline="0" dirty="0">
                <a:ln>
                  <a:noFill/>
                </a:ln>
                <a:solidFill>
                  <a:srgbClr val="080808"/>
                </a:solidFill>
                <a:effectLst/>
                <a:latin typeface="JetBrains Mono"/>
              </a:rPr>
              <a:t>[</a:t>
            </a:r>
            <a:r>
              <a:rPr kumimoji="0" lang="fi-FI" altLang="fi-FI" b="0" i="0" u="none" strike="noStrike" cap="none" normalizeH="0" baseline="0" dirty="0">
                <a:ln>
                  <a:noFill/>
                </a:ln>
                <a:solidFill>
                  <a:srgbClr val="000000"/>
                </a:solidFill>
                <a:effectLst/>
                <a:latin typeface="JetBrains Mono"/>
              </a:rPr>
              <a:t>i</a:t>
            </a:r>
            <a:r>
              <a:rPr kumimoji="0" lang="fi-FI" altLang="fi-FI" b="0" i="0" u="none" strike="noStrike" cap="none" normalizeH="0" baseline="0" dirty="0">
                <a:ln>
                  <a:noFill/>
                </a:ln>
                <a:solidFill>
                  <a:srgbClr val="080808"/>
                </a:solidFill>
                <a:effectLst/>
                <a:latin typeface="JetBrains Mono"/>
              </a:rPr>
              <a:t>]);</a:t>
            </a:r>
            <a:endParaRPr kumimoji="0" lang="fi-FI" altLang="fi-FI"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3308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solidFill>
                  <a:srgbClr val="FF0000"/>
                </a:solidFill>
              </a:rPr>
              <a:t>Harjoituksia</a:t>
            </a:r>
          </a:p>
        </p:txBody>
      </p:sp>
      <p:sp>
        <p:nvSpPr>
          <p:cNvPr id="3" name="Content Placeholder 2"/>
          <p:cNvSpPr>
            <a:spLocks noGrp="1"/>
          </p:cNvSpPr>
          <p:nvPr>
            <p:ph idx="1"/>
          </p:nvPr>
        </p:nvSpPr>
        <p:spPr/>
        <p:txBody>
          <a:bodyPr/>
          <a:lstStyle/>
          <a:p>
            <a:r>
              <a:rPr lang="fi-FI" dirty="0"/>
              <a:t>Tee ohjelma, joka generoi 20 satunnaislukua välillä 1–50. </a:t>
            </a:r>
          </a:p>
          <a:p>
            <a:pPr lvl="1"/>
            <a:r>
              <a:rPr lang="fi-FI" dirty="0"/>
              <a:t>Ohjelma tallentaa luvut taulukkoon</a:t>
            </a:r>
          </a:p>
          <a:p>
            <a:pPr lvl="1"/>
            <a:r>
              <a:rPr lang="fi-FI" dirty="0"/>
              <a:t>Lopuksi taulukko järjestetään nousevaan järjestykseen ja tulostetaan</a:t>
            </a:r>
          </a:p>
          <a:p>
            <a:r>
              <a:rPr lang="fi-FI" dirty="0"/>
              <a:t>Tee ohjelma, joka kysyy 5 nimeä käyttäjältä</a:t>
            </a:r>
          </a:p>
          <a:p>
            <a:pPr lvl="1"/>
            <a:r>
              <a:rPr lang="fi-FI" dirty="0"/>
              <a:t>Ohjelma tallentaa nimet taulukkoon</a:t>
            </a:r>
          </a:p>
          <a:p>
            <a:pPr lvl="1"/>
            <a:r>
              <a:rPr lang="fi-FI" dirty="0"/>
              <a:t>Lopuksi taulukko järjestetään aakkosjärjestykseen ja tulostetaan</a:t>
            </a:r>
          </a:p>
          <a:p>
            <a:pPr lvl="1"/>
            <a:endParaRPr lang="fi-FI" dirty="0"/>
          </a:p>
        </p:txBody>
      </p:sp>
    </p:spTree>
    <p:extLst>
      <p:ext uri="{BB962C8B-B14F-4D97-AF65-F5344CB8AC3E}">
        <p14:creationId xmlns:p14="http://schemas.microsoft.com/office/powerpoint/2010/main" val="1508043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9221-C6EB-FE33-06DD-4CB8815F7AA4}"/>
              </a:ext>
            </a:extLst>
          </p:cNvPr>
          <p:cNvSpPr>
            <a:spLocks noGrp="1"/>
          </p:cNvSpPr>
          <p:nvPr>
            <p:ph type="ctrTitle"/>
          </p:nvPr>
        </p:nvSpPr>
        <p:spPr/>
        <p:txBody>
          <a:bodyPr/>
          <a:lstStyle/>
          <a:p>
            <a:r>
              <a:rPr lang="fi-FI" dirty="0"/>
              <a:t>Aikavaativuus</a:t>
            </a:r>
          </a:p>
        </p:txBody>
      </p:sp>
      <p:sp>
        <p:nvSpPr>
          <p:cNvPr id="3" name="Subtitle 2">
            <a:extLst>
              <a:ext uri="{FF2B5EF4-FFF2-40B4-BE49-F238E27FC236}">
                <a16:creationId xmlns:a16="http://schemas.microsoft.com/office/drawing/2014/main" id="{CA598C8D-49B2-FCE2-BA7B-F428CE91E4DB}"/>
              </a:ext>
            </a:extLst>
          </p:cNvPr>
          <p:cNvSpPr>
            <a:spLocks noGrp="1"/>
          </p:cNvSpPr>
          <p:nvPr>
            <p:ph type="subTitle" idx="1"/>
          </p:nvPr>
        </p:nvSpPr>
        <p:spPr/>
        <p:txBody>
          <a:bodyPr/>
          <a:lstStyle/>
          <a:p>
            <a:r>
              <a:rPr lang="fi-FI" dirty="0">
                <a:hlinkClick r:id="rId2"/>
              </a:rPr>
              <a:t>https://tira.mooc.fi/syksy-2023/osa1/</a:t>
            </a:r>
            <a:r>
              <a:rPr lang="fi-FI" dirty="0"/>
              <a:t> </a:t>
            </a:r>
          </a:p>
        </p:txBody>
      </p:sp>
    </p:spTree>
    <p:extLst>
      <p:ext uri="{BB962C8B-B14F-4D97-AF65-F5344CB8AC3E}">
        <p14:creationId xmlns:p14="http://schemas.microsoft.com/office/powerpoint/2010/main" val="935852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64AF-F084-7458-39B6-2BA6D01747CE}"/>
              </a:ext>
            </a:extLst>
          </p:cNvPr>
          <p:cNvSpPr>
            <a:spLocks noGrp="1"/>
          </p:cNvSpPr>
          <p:nvPr>
            <p:ph type="title"/>
          </p:nvPr>
        </p:nvSpPr>
        <p:spPr>
          <a:xfrm>
            <a:off x="838200" y="377399"/>
            <a:ext cx="10515600" cy="1325563"/>
          </a:xfrm>
        </p:spPr>
        <p:txBody>
          <a:bodyPr/>
          <a:lstStyle/>
          <a:p>
            <a:r>
              <a:rPr lang="fi-FI" dirty="0"/>
              <a:t>Aikavaativuus</a:t>
            </a:r>
          </a:p>
        </p:txBody>
      </p:sp>
      <p:sp>
        <p:nvSpPr>
          <p:cNvPr id="3" name="Content Placeholder 2">
            <a:extLst>
              <a:ext uri="{FF2B5EF4-FFF2-40B4-BE49-F238E27FC236}">
                <a16:creationId xmlns:a16="http://schemas.microsoft.com/office/drawing/2014/main" id="{822DA6E0-D1D2-8ABA-D7D0-F57C82DD1287}"/>
              </a:ext>
            </a:extLst>
          </p:cNvPr>
          <p:cNvSpPr>
            <a:spLocks noGrp="1"/>
          </p:cNvSpPr>
          <p:nvPr>
            <p:ph idx="1"/>
          </p:nvPr>
        </p:nvSpPr>
        <p:spPr>
          <a:xfrm>
            <a:off x="838200" y="1844036"/>
            <a:ext cx="10860536" cy="2858057"/>
          </a:xfrm>
        </p:spPr>
        <p:txBody>
          <a:bodyPr>
            <a:normAutofit/>
          </a:bodyPr>
          <a:lstStyle/>
          <a:p>
            <a:r>
              <a:rPr lang="fi-FI" sz="2000" dirty="0"/>
              <a:t>Aikavaativuus (</a:t>
            </a:r>
            <a:r>
              <a:rPr lang="fi-FI" sz="2000" dirty="0" err="1"/>
              <a:t>time</a:t>
            </a:r>
            <a:r>
              <a:rPr lang="fi-FI" sz="2000" dirty="0"/>
              <a:t> </a:t>
            </a:r>
            <a:r>
              <a:rPr lang="fi-FI" sz="2000" dirty="0" err="1"/>
              <a:t>complexity</a:t>
            </a:r>
            <a:r>
              <a:rPr lang="fi-FI" sz="2000" dirty="0"/>
              <a:t>) on tapa mitata algoritmin tehokkuutta. Aikavaativuuden avulla pystyy arvioimaan, miten nopeasti algoritmi toimii.</a:t>
            </a:r>
          </a:p>
          <a:p>
            <a:r>
              <a:rPr lang="fi-FI" sz="2000" b="0" i="0" dirty="0">
                <a:solidFill>
                  <a:srgbClr val="000000"/>
                </a:solidFill>
                <a:effectLst/>
              </a:rPr>
              <a:t>Aikavaativuus ilmoitetaan </a:t>
            </a:r>
            <a:r>
              <a:rPr lang="fi-FI" sz="2000" b="0" i="1" dirty="0">
                <a:solidFill>
                  <a:srgbClr val="000000"/>
                </a:solidFill>
                <a:effectLst/>
              </a:rPr>
              <a:t>O</a:t>
            </a:r>
            <a:r>
              <a:rPr lang="fi-FI" sz="2000" b="0" i="0" dirty="0">
                <a:solidFill>
                  <a:srgbClr val="000000"/>
                </a:solidFill>
                <a:effectLst/>
              </a:rPr>
              <a:t>-merkinnän avulla niin, että muuttuja </a:t>
            </a:r>
            <a:r>
              <a:rPr lang="fi-FI" sz="2000" b="0" i="1" dirty="0">
                <a:solidFill>
                  <a:srgbClr val="000000"/>
                </a:solidFill>
                <a:effectLst/>
              </a:rPr>
              <a:t>n</a:t>
            </a:r>
            <a:r>
              <a:rPr lang="fi-FI" sz="2000" b="0" i="0" dirty="0">
                <a:solidFill>
                  <a:srgbClr val="000000"/>
                </a:solidFill>
                <a:effectLst/>
              </a:rPr>
              <a:t> kuvaa aineiston (esim. listan) kokoa. </a:t>
            </a:r>
          </a:p>
          <a:p>
            <a:r>
              <a:rPr lang="fi-FI" sz="2000" b="0" i="0" dirty="0">
                <a:solidFill>
                  <a:srgbClr val="000000"/>
                </a:solidFill>
                <a:effectLst/>
              </a:rPr>
              <a:t>Aikavaativuus ilmaisee algoritmin tehokkuuden suuruusluokan, jossa parametrina on </a:t>
            </a:r>
            <a:r>
              <a:rPr lang="fi-FI" sz="2000" b="0" i="1" dirty="0">
                <a:solidFill>
                  <a:srgbClr val="000000"/>
                </a:solidFill>
                <a:effectLst/>
              </a:rPr>
              <a:t>n</a:t>
            </a:r>
            <a:r>
              <a:rPr lang="fi-FI" sz="2000" b="0" i="0" dirty="0">
                <a:solidFill>
                  <a:srgbClr val="000000"/>
                </a:solidFill>
                <a:effectLst/>
              </a:rPr>
              <a:t>. </a:t>
            </a:r>
          </a:p>
          <a:p>
            <a:r>
              <a:rPr lang="fi-FI" sz="2000" dirty="0">
                <a:solidFill>
                  <a:srgbClr val="000000"/>
                </a:solidFill>
              </a:rPr>
              <a:t>Alla on tavallisimmat aikavaativuudet</a:t>
            </a:r>
            <a:endParaRPr lang="fi-FI" sz="2000" dirty="0"/>
          </a:p>
        </p:txBody>
      </p:sp>
      <p:graphicFrame>
        <p:nvGraphicFramePr>
          <p:cNvPr id="5" name="Table 4">
            <a:extLst>
              <a:ext uri="{FF2B5EF4-FFF2-40B4-BE49-F238E27FC236}">
                <a16:creationId xmlns:a16="http://schemas.microsoft.com/office/drawing/2014/main" id="{CD6DF079-5CFE-2B18-C020-64F9554E0646}"/>
              </a:ext>
            </a:extLst>
          </p:cNvPr>
          <p:cNvGraphicFramePr>
            <a:graphicFrameLocks noGrp="1"/>
          </p:cNvGraphicFramePr>
          <p:nvPr>
            <p:extLst>
              <p:ext uri="{D42A27DB-BD31-4B8C-83A1-F6EECF244321}">
                <p14:modId xmlns:p14="http://schemas.microsoft.com/office/powerpoint/2010/main" val="3867966903"/>
              </p:ext>
            </p:extLst>
          </p:nvPr>
        </p:nvGraphicFramePr>
        <p:xfrm>
          <a:off x="2717546" y="4087177"/>
          <a:ext cx="6021418" cy="2485457"/>
        </p:xfrm>
        <a:graphic>
          <a:graphicData uri="http://schemas.openxmlformats.org/drawingml/2006/table">
            <a:tbl>
              <a:tblPr>
                <a:tableStyleId>{5C22544A-7EE6-4342-B048-85BDC9FD1C3A}</a:tableStyleId>
              </a:tblPr>
              <a:tblGrid>
                <a:gridCol w="2683229">
                  <a:extLst>
                    <a:ext uri="{9D8B030D-6E8A-4147-A177-3AD203B41FA5}">
                      <a16:colId xmlns:a16="http://schemas.microsoft.com/office/drawing/2014/main" val="1109733166"/>
                    </a:ext>
                  </a:extLst>
                </a:gridCol>
                <a:gridCol w="3338189">
                  <a:extLst>
                    <a:ext uri="{9D8B030D-6E8A-4147-A177-3AD203B41FA5}">
                      <a16:colId xmlns:a16="http://schemas.microsoft.com/office/drawing/2014/main" val="3963572634"/>
                    </a:ext>
                  </a:extLst>
                </a:gridCol>
              </a:tblGrid>
              <a:tr h="412305">
                <a:tc>
                  <a:txBody>
                    <a:bodyPr/>
                    <a:lstStyle/>
                    <a:p>
                      <a:pPr algn="l" fontAlgn="ctr"/>
                      <a:r>
                        <a:rPr lang="fi-FI" sz="1330" u="none" strike="noStrike">
                          <a:effectLst/>
                        </a:rPr>
                        <a:t>O(1)</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dirty="0">
                          <a:effectLst/>
                        </a:rPr>
                        <a:t>Vakioaikainen</a:t>
                      </a:r>
                      <a:endParaRPr lang="fi-FI" sz="900" b="0" i="0" u="none" strike="noStrike" dirty="0">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3980922909"/>
                  </a:ext>
                </a:extLst>
              </a:tr>
              <a:tr h="423932">
                <a:tc>
                  <a:txBody>
                    <a:bodyPr/>
                    <a:lstStyle/>
                    <a:p>
                      <a:pPr algn="l" fontAlgn="ctr"/>
                      <a:r>
                        <a:rPr lang="fi-FI" sz="1330" u="none" strike="noStrike">
                          <a:effectLst/>
                        </a:rPr>
                        <a:t>O(logn)</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a:effectLst/>
                        </a:rPr>
                        <a:t>Logaritminen</a:t>
                      </a:r>
                      <a:endParaRPr lang="fi-FI" sz="900" b="0" i="0" u="none" strike="noStrike">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3790242695"/>
                  </a:ext>
                </a:extLst>
              </a:tr>
              <a:tr h="412305">
                <a:tc>
                  <a:txBody>
                    <a:bodyPr/>
                    <a:lstStyle/>
                    <a:p>
                      <a:pPr algn="l" fontAlgn="ctr"/>
                      <a:r>
                        <a:rPr lang="fi-FI" sz="1330" u="none" strike="noStrike">
                          <a:effectLst/>
                        </a:rPr>
                        <a:t>O(n)</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a:effectLst/>
                        </a:rPr>
                        <a:t>Lineaarinen</a:t>
                      </a:r>
                      <a:endParaRPr lang="fi-FI" sz="900" b="0" i="0" u="none" strike="noStrike">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3737098920"/>
                  </a:ext>
                </a:extLst>
              </a:tr>
              <a:tr h="412305">
                <a:tc>
                  <a:txBody>
                    <a:bodyPr/>
                    <a:lstStyle/>
                    <a:p>
                      <a:pPr algn="l" fontAlgn="ctr"/>
                      <a:r>
                        <a:rPr lang="fi-FI" sz="1330" u="none" strike="noStrike">
                          <a:effectLst/>
                        </a:rPr>
                        <a:t>O(nlogn)</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a:effectLst/>
                        </a:rPr>
                        <a:t>–</a:t>
                      </a:r>
                      <a:endParaRPr lang="fi-FI" sz="900" b="0" i="0" u="none" strike="noStrike">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3262608024"/>
                  </a:ext>
                </a:extLst>
              </a:tr>
              <a:tr h="412305">
                <a:tc>
                  <a:txBody>
                    <a:bodyPr/>
                    <a:lstStyle/>
                    <a:p>
                      <a:pPr algn="l" fontAlgn="ctr"/>
                      <a:r>
                        <a:rPr lang="fi-FI" sz="1330" u="none" strike="noStrike">
                          <a:effectLst/>
                        </a:rPr>
                        <a:t>O(n</a:t>
                      </a:r>
                      <a:r>
                        <a:rPr lang="fi-FI" sz="770" u="none" strike="noStrike">
                          <a:effectLst/>
                        </a:rPr>
                        <a:t>2</a:t>
                      </a:r>
                      <a:r>
                        <a:rPr lang="fi-FI" sz="1330" u="none" strike="noStrike">
                          <a:effectLst/>
                        </a:rPr>
                        <a:t>)</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a:effectLst/>
                        </a:rPr>
                        <a:t>Neliöllinen</a:t>
                      </a:r>
                      <a:endParaRPr lang="fi-FI" sz="900" b="0" i="0" u="none" strike="noStrike">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1782073365"/>
                  </a:ext>
                </a:extLst>
              </a:tr>
              <a:tr h="412305">
                <a:tc>
                  <a:txBody>
                    <a:bodyPr/>
                    <a:lstStyle/>
                    <a:p>
                      <a:pPr algn="l" fontAlgn="ctr"/>
                      <a:r>
                        <a:rPr lang="fi-FI" sz="1330" u="none" strike="noStrike">
                          <a:effectLst/>
                        </a:rPr>
                        <a:t>O(n</a:t>
                      </a:r>
                      <a:r>
                        <a:rPr lang="fi-FI" sz="770" u="none" strike="noStrike">
                          <a:effectLst/>
                        </a:rPr>
                        <a:t>3</a:t>
                      </a:r>
                      <a:r>
                        <a:rPr lang="fi-FI" sz="1330" u="none" strike="noStrike">
                          <a:effectLst/>
                        </a:rPr>
                        <a:t>)</a:t>
                      </a:r>
                      <a:endParaRPr lang="fi-FI" sz="1330" b="0" i="0" u="none" strike="noStrike">
                        <a:solidFill>
                          <a:srgbClr val="000000"/>
                        </a:solidFill>
                        <a:effectLst/>
                        <a:latin typeface="Times New Roman" panose="02020603050405020304" pitchFamily="18" charset="0"/>
                      </a:endParaRPr>
                    </a:p>
                  </a:txBody>
                  <a:tcPr marL="6350" marR="6350" marT="25400" marB="25400" anchor="ctr"/>
                </a:tc>
                <a:tc>
                  <a:txBody>
                    <a:bodyPr/>
                    <a:lstStyle/>
                    <a:p>
                      <a:pPr algn="l" fontAlgn="ctr"/>
                      <a:r>
                        <a:rPr lang="fi-FI" sz="900" u="none" strike="noStrike" dirty="0">
                          <a:effectLst/>
                        </a:rPr>
                        <a:t>Kuutiollinen</a:t>
                      </a:r>
                      <a:endParaRPr lang="fi-FI" sz="900" b="0" i="0" u="none" strike="noStrike" dirty="0">
                        <a:solidFill>
                          <a:srgbClr val="000000"/>
                        </a:solidFill>
                        <a:effectLst/>
                        <a:latin typeface="Arial" panose="020B0604020202020204" pitchFamily="34" charset="0"/>
                      </a:endParaRPr>
                    </a:p>
                  </a:txBody>
                  <a:tcPr marL="6350" marR="6350" marT="25400" marB="25400" anchor="ctr"/>
                </a:tc>
                <a:extLst>
                  <a:ext uri="{0D108BD9-81ED-4DB2-BD59-A6C34878D82A}">
                    <a16:rowId xmlns:a16="http://schemas.microsoft.com/office/drawing/2014/main" val="1225433631"/>
                  </a:ext>
                </a:extLst>
              </a:tr>
            </a:tbl>
          </a:graphicData>
        </a:graphic>
      </p:graphicFrame>
    </p:spTree>
    <p:extLst>
      <p:ext uri="{BB962C8B-B14F-4D97-AF65-F5344CB8AC3E}">
        <p14:creationId xmlns:p14="http://schemas.microsoft.com/office/powerpoint/2010/main" val="2925384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1787-C924-26A3-6F12-3087BF77651A}"/>
              </a:ext>
            </a:extLst>
          </p:cNvPr>
          <p:cNvSpPr>
            <a:spLocks noGrp="1"/>
          </p:cNvSpPr>
          <p:nvPr>
            <p:ph type="title"/>
          </p:nvPr>
        </p:nvSpPr>
        <p:spPr/>
        <p:txBody>
          <a:bodyPr/>
          <a:lstStyle/>
          <a:p>
            <a:r>
              <a:rPr lang="fi-FI" dirty="0"/>
              <a:t>Aikavaativuus</a:t>
            </a:r>
          </a:p>
        </p:txBody>
      </p:sp>
      <p:sp>
        <p:nvSpPr>
          <p:cNvPr id="3" name="Content Placeholder 2">
            <a:extLst>
              <a:ext uri="{FF2B5EF4-FFF2-40B4-BE49-F238E27FC236}">
                <a16:creationId xmlns:a16="http://schemas.microsoft.com/office/drawing/2014/main" id="{1AD2EB5B-5888-9B99-6F5A-D1B94E3D5C7D}"/>
              </a:ext>
            </a:extLst>
          </p:cNvPr>
          <p:cNvSpPr>
            <a:spLocks noGrp="1"/>
          </p:cNvSpPr>
          <p:nvPr>
            <p:ph idx="1"/>
          </p:nvPr>
        </p:nvSpPr>
        <p:spPr/>
        <p:txBody>
          <a:bodyPr>
            <a:normAutofit fontScale="92500" lnSpcReduction="10000"/>
          </a:bodyPr>
          <a:lstStyle/>
          <a:p>
            <a:r>
              <a:rPr lang="fi-FI" dirty="0"/>
              <a:t>Jos algoritmissa on yksittäisiä komentoja, joiden määrä ei riipu syötteen koosta, komentojen aikavaativuus on </a:t>
            </a:r>
            <a:r>
              <a:rPr lang="fi-FI" i="1" dirty="0"/>
              <a:t>O(1)</a:t>
            </a:r>
          </a:p>
          <a:p>
            <a:r>
              <a:rPr lang="fi-FI" dirty="0"/>
              <a:t>Jos algoritmissa on silmukka, jonka kierrosten määrä on samaa luokkaa kuin syötteen koko, silmukan aikavaativuus on </a:t>
            </a:r>
            <a:r>
              <a:rPr lang="fi-FI" i="1" dirty="0"/>
              <a:t>O(n)</a:t>
            </a:r>
          </a:p>
          <a:p>
            <a:r>
              <a:rPr lang="fi-FI" dirty="0"/>
              <a:t>Jos algoritmissa on sisäkkäisiä silmukoita, algoritmin aikavaativuus saadaan kertomalla niiden aikavaativuudet keskenään. Jos sisäkkäisiä silmukoita on kaksi, on aikavaativuus </a:t>
            </a:r>
            <a:r>
              <a:rPr lang="fi-FI" i="1" dirty="0"/>
              <a:t>O(n</a:t>
            </a:r>
            <a:r>
              <a:rPr lang="fi-FI" i="1" baseline="30000" dirty="0"/>
              <a:t>2</a:t>
            </a:r>
            <a:r>
              <a:rPr lang="fi-FI" i="1" dirty="0"/>
              <a:t>). </a:t>
            </a:r>
            <a:r>
              <a:rPr lang="fi-FI" dirty="0"/>
              <a:t>Kolmen sisäkkäisen silmukan tapauksessa aikavaativuus on </a:t>
            </a:r>
            <a:r>
              <a:rPr lang="fi-FI" i="1" dirty="0"/>
              <a:t>O(n</a:t>
            </a:r>
            <a:r>
              <a:rPr lang="fi-FI" i="1" baseline="30000" dirty="0"/>
              <a:t>3</a:t>
            </a:r>
            <a:r>
              <a:rPr lang="fi-FI" i="1" dirty="0"/>
              <a:t>). </a:t>
            </a:r>
          </a:p>
          <a:p>
            <a:r>
              <a:rPr lang="fi-FI" dirty="0"/>
              <a:t>Jos algoritmissa on peräkkäisiä osia, koko algoritmin aikavaativuus on suurimman yksittäisen osan aikavaativuus.</a:t>
            </a:r>
          </a:p>
          <a:p>
            <a:r>
              <a:rPr lang="fi-FI" dirty="0">
                <a:hlinkClick r:id="rId2"/>
              </a:rPr>
              <a:t>https://tira.mooc.fi/syksy-2023/osa1/#algoritmin-tehokkuus</a:t>
            </a:r>
            <a:r>
              <a:rPr lang="fi-FI" dirty="0"/>
              <a:t> </a:t>
            </a:r>
          </a:p>
          <a:p>
            <a:endParaRPr lang="fi-FI" dirty="0"/>
          </a:p>
          <a:p>
            <a:endParaRPr lang="fi-FI" dirty="0"/>
          </a:p>
        </p:txBody>
      </p:sp>
    </p:spTree>
    <p:extLst>
      <p:ext uri="{BB962C8B-B14F-4D97-AF65-F5344CB8AC3E}">
        <p14:creationId xmlns:p14="http://schemas.microsoft.com/office/powerpoint/2010/main" val="35575093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0E86-7F95-ACAE-B39B-F7B917CCB216}"/>
              </a:ext>
            </a:extLst>
          </p:cNvPr>
          <p:cNvSpPr>
            <a:spLocks noGrp="1"/>
          </p:cNvSpPr>
          <p:nvPr>
            <p:ph type="title"/>
          </p:nvPr>
        </p:nvSpPr>
        <p:spPr/>
        <p:txBody>
          <a:bodyPr/>
          <a:lstStyle/>
          <a:p>
            <a:r>
              <a:rPr lang="fi-FI" dirty="0"/>
              <a:t>Algoritmin suoritusajan mittaaminen</a:t>
            </a:r>
          </a:p>
        </p:txBody>
      </p:sp>
      <p:sp>
        <p:nvSpPr>
          <p:cNvPr id="3" name="Content Placeholder 2">
            <a:extLst>
              <a:ext uri="{FF2B5EF4-FFF2-40B4-BE49-F238E27FC236}">
                <a16:creationId xmlns:a16="http://schemas.microsoft.com/office/drawing/2014/main" id="{438D884B-530B-893D-56DE-436F90F30B00}"/>
              </a:ext>
            </a:extLst>
          </p:cNvPr>
          <p:cNvSpPr>
            <a:spLocks noGrp="1"/>
          </p:cNvSpPr>
          <p:nvPr>
            <p:ph idx="1"/>
          </p:nvPr>
        </p:nvSpPr>
        <p:spPr>
          <a:xfrm>
            <a:off x="838200" y="1825625"/>
            <a:ext cx="4678885" cy="4351338"/>
          </a:xfrm>
        </p:spPr>
        <p:txBody>
          <a:bodyPr/>
          <a:lstStyle/>
          <a:p>
            <a:r>
              <a:rPr lang="fi-FI" dirty="0"/>
              <a:t>Algoritmien tehokkuutta voi tutkia mittaamalla algoritmin suoritusaikaa.</a:t>
            </a:r>
          </a:p>
          <a:p>
            <a:r>
              <a:rPr lang="fi-FI" dirty="0"/>
              <a:t>Eri tapoja suoritusajan mittaamiseen löytyy linkistä:</a:t>
            </a:r>
          </a:p>
          <a:p>
            <a:pPr lvl="1"/>
            <a:r>
              <a:rPr lang="fi-FI" dirty="0">
                <a:hlinkClick r:id="rId2"/>
              </a:rPr>
              <a:t>https://www.tutorialspoint.com/how-to-measure-execution-time-for-a-java-method</a:t>
            </a:r>
            <a:r>
              <a:rPr lang="fi-FI" dirty="0"/>
              <a:t> </a:t>
            </a:r>
          </a:p>
        </p:txBody>
      </p:sp>
      <p:sp>
        <p:nvSpPr>
          <p:cNvPr id="4" name="Rectangle 1">
            <a:extLst>
              <a:ext uri="{FF2B5EF4-FFF2-40B4-BE49-F238E27FC236}">
                <a16:creationId xmlns:a16="http://schemas.microsoft.com/office/drawing/2014/main" id="{96947F8E-A657-29B3-132E-A1BE7A12555B}"/>
              </a:ext>
            </a:extLst>
          </p:cNvPr>
          <p:cNvSpPr>
            <a:spLocks noChangeArrowheads="1"/>
          </p:cNvSpPr>
          <p:nvPr/>
        </p:nvSpPr>
        <p:spPr bwMode="auto">
          <a:xfrm>
            <a:off x="5984001" y="1414562"/>
            <a:ext cx="5369799" cy="52629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200" b="0" i="0" u="none" strike="noStrike" cap="none" normalizeH="0" baseline="0" dirty="0">
                <a:ln>
                  <a:noFill/>
                </a:ln>
                <a:solidFill>
                  <a:srgbClr val="0033B3"/>
                </a:solidFill>
                <a:effectLst/>
                <a:latin typeface="JetBrains Mono"/>
              </a:rPr>
              <a:t>import </a:t>
            </a:r>
            <a:r>
              <a:rPr kumimoji="0" lang="fi-FI" altLang="fi-FI" sz="1200" b="0" i="0" u="none" strike="noStrike" cap="none" normalizeH="0" baseline="0" dirty="0" err="1">
                <a:ln>
                  <a:noFill/>
                </a:ln>
                <a:solidFill>
                  <a:srgbClr val="000000"/>
                </a:solidFill>
                <a:effectLst/>
                <a:latin typeface="JetBrains Mono"/>
              </a:rPr>
              <a:t>java.time.Duration</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033B3"/>
                </a:solidFill>
                <a:effectLst/>
                <a:latin typeface="JetBrains Mono"/>
              </a:rPr>
              <a:t>import </a:t>
            </a:r>
            <a:r>
              <a:rPr kumimoji="0" lang="fi-FI" altLang="fi-FI" sz="1200" b="0" i="0" u="none" strike="noStrike" cap="none" normalizeH="0" baseline="0" dirty="0" err="1">
                <a:ln>
                  <a:noFill/>
                </a:ln>
                <a:solidFill>
                  <a:srgbClr val="000000"/>
                </a:solidFill>
                <a:effectLst/>
                <a:latin typeface="JetBrains Mono"/>
              </a:rPr>
              <a:t>java.time.Instant</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err="1">
                <a:ln>
                  <a:noFill/>
                </a:ln>
                <a:solidFill>
                  <a:srgbClr val="0033B3"/>
                </a:solidFill>
                <a:effectLst/>
                <a:latin typeface="JetBrains Mono"/>
              </a:rPr>
              <a:t>class</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Example</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public</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void</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627A"/>
                </a:solidFill>
                <a:effectLst/>
                <a:latin typeface="JetBrains Mono"/>
              </a:rPr>
              <a:t>test</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int</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num</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1750EB"/>
                </a:solidFill>
                <a:effectLst/>
                <a:latin typeface="JetBrains Mono"/>
              </a:rPr>
              <a:t>0</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33B3"/>
                </a:solidFill>
                <a:effectLst/>
                <a:latin typeface="JetBrains Mono"/>
              </a:rPr>
              <a:t>for</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err="1">
                <a:ln>
                  <a:noFill/>
                </a:ln>
                <a:solidFill>
                  <a:srgbClr val="0033B3"/>
                </a:solidFill>
                <a:effectLst/>
                <a:latin typeface="JetBrains Mono"/>
              </a:rPr>
              <a:t>int</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i</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1750EB"/>
                </a:solidFill>
                <a:effectLst/>
                <a:latin typeface="JetBrains Mono"/>
              </a:rPr>
              <a:t>0</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i</a:t>
            </a:r>
            <a:r>
              <a:rPr kumimoji="0" lang="fi-FI" altLang="fi-FI" sz="1200" b="0" i="0" u="none" strike="noStrike" cap="none" normalizeH="0" baseline="0" dirty="0">
                <a:ln>
                  <a:noFill/>
                </a:ln>
                <a:solidFill>
                  <a:srgbClr val="080808"/>
                </a:solidFill>
                <a:effectLst/>
                <a:latin typeface="JetBrains Mono"/>
              </a:rPr>
              <a:t>&lt;=</a:t>
            </a:r>
            <a:r>
              <a:rPr kumimoji="0" lang="fi-FI" altLang="fi-FI" sz="1200" b="0" i="0" u="none" strike="noStrike" cap="none" normalizeH="0" baseline="0" dirty="0">
                <a:ln>
                  <a:noFill/>
                </a:ln>
                <a:solidFill>
                  <a:srgbClr val="1750EB"/>
                </a:solidFill>
                <a:effectLst/>
                <a:latin typeface="JetBrains Mono"/>
              </a:rPr>
              <a:t>50</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i</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num</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err="1">
                <a:ln>
                  <a:noFill/>
                </a:ln>
                <a:solidFill>
                  <a:srgbClr val="000000"/>
                </a:solidFill>
                <a:effectLst/>
                <a:latin typeface="JetBrains Mono"/>
              </a:rPr>
              <a:t>num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0" u="none" strike="noStrike" cap="none" normalizeH="0" baseline="0" dirty="0" err="1">
                <a:ln>
                  <a:noFill/>
                </a:ln>
                <a:solidFill>
                  <a:srgbClr val="000000"/>
                </a:solidFill>
                <a:effectLst/>
                <a:latin typeface="JetBrains Mono"/>
              </a:rPr>
              <a:t>i</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871094"/>
                </a:solidFill>
                <a:effectLst/>
                <a:latin typeface="JetBrains Mono"/>
              </a:rPr>
              <a:t>out</a:t>
            </a:r>
            <a:r>
              <a:rPr kumimoji="0" lang="fi-FI" altLang="fi-FI" sz="1200" b="0" i="0" u="none" strike="noStrike" cap="none" normalizeH="0" baseline="0" dirty="0" err="1">
                <a:ln>
                  <a:noFill/>
                </a:ln>
                <a:solidFill>
                  <a:srgbClr val="080808"/>
                </a:solidFill>
                <a:effectLst/>
                <a:latin typeface="JetBrains Mono"/>
              </a:rPr>
              <a:t>.print</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err="1">
                <a:ln>
                  <a:noFill/>
                </a:ln>
                <a:solidFill>
                  <a:srgbClr val="000000"/>
                </a:solidFill>
                <a:effectLst/>
                <a:latin typeface="JetBrains Mono"/>
              </a:rPr>
              <a:t>num</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67D17"/>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public</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static</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void</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a:ln>
                  <a:noFill/>
                </a:ln>
                <a:solidFill>
                  <a:srgbClr val="00627A"/>
                </a:solidFill>
                <a:effectLst/>
                <a:latin typeface="JetBrains Mono"/>
              </a:rPr>
              <a:t>main</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err="1">
                <a:ln>
                  <a:noFill/>
                </a:ln>
                <a:solidFill>
                  <a:srgbClr val="000000"/>
                </a:solidFill>
                <a:effectLst/>
                <a:latin typeface="JetBrains Mono"/>
              </a:rPr>
              <a:t>String</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args</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Example</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obj</a:t>
            </a:r>
            <a:r>
              <a:rPr kumimoji="0" lang="fi-FI" altLang="fi-FI" sz="1200" b="0" i="0" u="none" strike="noStrike" cap="none" normalizeH="0" baseline="0" dirty="0">
                <a:ln>
                  <a:noFill/>
                </a:ln>
                <a:solidFill>
                  <a:srgbClr val="000000"/>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33B3"/>
                </a:solidFill>
                <a:effectLst/>
                <a:latin typeface="JetBrains Mono"/>
              </a:rPr>
              <a:t>new</a:t>
            </a:r>
            <a:r>
              <a:rPr kumimoji="0" lang="fi-FI" altLang="fi-FI" sz="1200" b="0" i="0" u="none" strike="noStrike" cap="none" normalizeH="0" baseline="0" dirty="0">
                <a:ln>
                  <a:noFill/>
                </a:ln>
                <a:solidFill>
                  <a:srgbClr val="0033B3"/>
                </a:solidFill>
                <a:effectLst/>
                <a:latin typeface="JetBrains Mono"/>
              </a:rPr>
              <a:t> </a:t>
            </a:r>
            <a:r>
              <a:rPr kumimoji="0" lang="fi-FI" altLang="fi-FI" sz="1200" b="0" i="0" u="none" strike="noStrike" cap="none" normalizeH="0" baseline="0" dirty="0" err="1">
                <a:ln>
                  <a:noFill/>
                </a:ln>
                <a:solidFill>
                  <a:srgbClr val="080808"/>
                </a:solidFill>
                <a:effectLst/>
                <a:latin typeface="JetBrains Mono"/>
              </a:rPr>
              <a:t>Example</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33B3"/>
                </a:solidFill>
                <a:effectLst/>
                <a:latin typeface="JetBrains Mono"/>
              </a:rPr>
              <a:t>long </a:t>
            </a:r>
            <a:r>
              <a:rPr kumimoji="0" lang="fi-FI" altLang="fi-FI" sz="1200" b="0" i="0" u="none" strike="noStrike" cap="none" normalizeH="0" baseline="0" dirty="0">
                <a:ln>
                  <a:noFill/>
                </a:ln>
                <a:solidFill>
                  <a:srgbClr val="000000"/>
                </a:solidFill>
                <a:effectLst/>
                <a:latin typeface="JetBrains Mono"/>
              </a:rPr>
              <a:t>start1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nanoTime</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obj</a:t>
            </a:r>
            <a:r>
              <a:rPr kumimoji="0" lang="fi-FI" altLang="fi-FI" sz="1200" b="0" i="0" u="none" strike="noStrike" cap="none" normalizeH="0" baseline="0" dirty="0" err="1">
                <a:ln>
                  <a:noFill/>
                </a:ln>
                <a:solidFill>
                  <a:srgbClr val="080808"/>
                </a:solidFill>
                <a:effectLst/>
                <a:latin typeface="JetBrains Mono"/>
              </a:rPr>
              <a:t>.test</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33B3"/>
                </a:solidFill>
                <a:effectLst/>
                <a:latin typeface="JetBrains Mono"/>
              </a:rPr>
              <a:t>long </a:t>
            </a:r>
            <a:r>
              <a:rPr kumimoji="0" lang="fi-FI" altLang="fi-FI" sz="1200" b="0" i="0" u="none" strike="noStrike" cap="none" normalizeH="0" baseline="0" dirty="0">
                <a:ln>
                  <a:noFill/>
                </a:ln>
                <a:solidFill>
                  <a:srgbClr val="000000"/>
                </a:solidFill>
                <a:effectLst/>
                <a:latin typeface="JetBrains Mono"/>
              </a:rPr>
              <a:t>end1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nanoTime</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871094"/>
                </a:solidFill>
                <a:effectLst/>
                <a:latin typeface="JetBrains Mono"/>
              </a:rPr>
              <a:t>out</a:t>
            </a:r>
            <a:r>
              <a:rPr kumimoji="0" lang="fi-FI" altLang="fi-FI" sz="1200" b="0" i="0" u="none" strike="noStrike" cap="none" normalizeH="0" baseline="0" dirty="0" err="1">
                <a:ln>
                  <a:noFill/>
                </a:ln>
                <a:solidFill>
                  <a:srgbClr val="080808"/>
                </a:solidFill>
                <a:effectLst/>
                <a:latin typeface="JetBrains Mono"/>
              </a:rPr>
              <a:t>.println</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67D17"/>
                </a:solidFill>
                <a:effectLst/>
                <a:latin typeface="JetBrains Mono"/>
              </a:rPr>
              <a:t>"</a:t>
            </a:r>
            <a:r>
              <a:rPr kumimoji="0" lang="fi-FI" altLang="fi-FI" sz="1200" b="0" i="0" u="none" strike="noStrike" cap="none" normalizeH="0" baseline="0" dirty="0" err="1">
                <a:ln>
                  <a:noFill/>
                </a:ln>
                <a:solidFill>
                  <a:srgbClr val="067D17"/>
                </a:solidFill>
                <a:effectLst/>
                <a:latin typeface="JetBrains Mono"/>
              </a:rPr>
              <a:t>Elapsed</a:t>
            </a:r>
            <a:r>
              <a:rPr kumimoji="0" lang="fi-FI" altLang="fi-FI" sz="1200" b="0" i="0" u="none" strike="noStrike" cap="none" normalizeH="0" baseline="0" dirty="0">
                <a:ln>
                  <a:noFill/>
                </a:ln>
                <a:solidFill>
                  <a:srgbClr val="067D17"/>
                </a:solidFill>
                <a:effectLst/>
                <a:latin typeface="JetBrains Mono"/>
              </a:rPr>
              <a:t> Time in </a:t>
            </a:r>
            <a:r>
              <a:rPr kumimoji="0" lang="fi-FI" altLang="fi-FI" sz="1200" b="0" i="0" u="none" strike="noStrike" cap="none" normalizeH="0" baseline="0" dirty="0" err="1">
                <a:ln>
                  <a:noFill/>
                </a:ln>
                <a:solidFill>
                  <a:srgbClr val="067D17"/>
                </a:solidFill>
                <a:effectLst/>
                <a:latin typeface="JetBrains Mono"/>
              </a:rPr>
              <a:t>nanoseconds</a:t>
            </a:r>
            <a:r>
              <a:rPr kumimoji="0" lang="fi-FI" altLang="fi-FI" sz="1200" b="0" i="0" u="none" strike="noStrike" cap="none" normalizeH="0" baseline="0" dirty="0">
                <a:ln>
                  <a:noFill/>
                </a:ln>
                <a:solidFill>
                  <a:srgbClr val="067D17"/>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end1</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00000"/>
                </a:solidFill>
                <a:effectLst/>
                <a:latin typeface="JetBrains Mono"/>
              </a:rPr>
              <a:t>start1</a:t>
            </a:r>
            <a:r>
              <a:rPr kumimoji="0" lang="fi-FI" altLang="fi-FI" sz="1200" b="0" i="0" u="none" strike="noStrike" cap="none" normalizeH="0" baseline="0" dirty="0">
                <a:ln>
                  <a:noFill/>
                </a:ln>
                <a:solidFill>
                  <a:srgbClr val="080808"/>
                </a:solidFill>
                <a:effectLst/>
                <a:latin typeface="JetBrains Mono"/>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33B3"/>
                </a:solidFill>
                <a:effectLst/>
                <a:latin typeface="JetBrains Mono"/>
              </a:rPr>
              <a:t>long </a:t>
            </a:r>
            <a:r>
              <a:rPr kumimoji="0" lang="fi-FI" altLang="fi-FI" sz="1200" b="0" i="0" u="none" strike="noStrike" cap="none" normalizeH="0" baseline="0" dirty="0">
                <a:ln>
                  <a:noFill/>
                </a:ln>
                <a:solidFill>
                  <a:srgbClr val="000000"/>
                </a:solidFill>
                <a:effectLst/>
                <a:latin typeface="JetBrains Mono"/>
              </a:rPr>
              <a:t>start2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currentTimeMillis</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obj</a:t>
            </a:r>
            <a:r>
              <a:rPr kumimoji="0" lang="fi-FI" altLang="fi-FI" sz="1200" b="0" i="0" u="none" strike="noStrike" cap="none" normalizeH="0" baseline="0" dirty="0" err="1">
                <a:ln>
                  <a:noFill/>
                </a:ln>
                <a:solidFill>
                  <a:srgbClr val="080808"/>
                </a:solidFill>
                <a:effectLst/>
                <a:latin typeface="JetBrains Mono"/>
              </a:rPr>
              <a:t>.test</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33B3"/>
                </a:solidFill>
                <a:effectLst/>
                <a:latin typeface="JetBrains Mono"/>
              </a:rPr>
              <a:t>long </a:t>
            </a:r>
            <a:r>
              <a:rPr kumimoji="0" lang="fi-FI" altLang="fi-FI" sz="1200" b="0" i="0" u="none" strike="noStrike" cap="none" normalizeH="0" baseline="0" dirty="0">
                <a:ln>
                  <a:noFill/>
                </a:ln>
                <a:solidFill>
                  <a:srgbClr val="000000"/>
                </a:solidFill>
                <a:effectLst/>
                <a:latin typeface="JetBrains Mono"/>
              </a:rPr>
              <a:t>end2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currentTimeMillis</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871094"/>
                </a:solidFill>
                <a:effectLst/>
                <a:latin typeface="JetBrains Mono"/>
              </a:rPr>
              <a:t>out</a:t>
            </a:r>
            <a:r>
              <a:rPr kumimoji="0" lang="fi-FI" altLang="fi-FI" sz="1200" b="0" i="0" u="none" strike="noStrike" cap="none" normalizeH="0" baseline="0" dirty="0" err="1">
                <a:ln>
                  <a:noFill/>
                </a:ln>
                <a:solidFill>
                  <a:srgbClr val="080808"/>
                </a:solidFill>
                <a:effectLst/>
                <a:latin typeface="JetBrains Mono"/>
              </a:rPr>
              <a:t>.println</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67D17"/>
                </a:solidFill>
                <a:effectLst/>
                <a:latin typeface="JetBrains Mono"/>
              </a:rPr>
              <a:t>"</a:t>
            </a:r>
            <a:r>
              <a:rPr kumimoji="0" lang="fi-FI" altLang="fi-FI" sz="1200" b="0" i="0" u="none" strike="noStrike" cap="none" normalizeH="0" baseline="0" dirty="0" err="1">
                <a:ln>
                  <a:noFill/>
                </a:ln>
                <a:solidFill>
                  <a:srgbClr val="067D17"/>
                </a:solidFill>
                <a:effectLst/>
                <a:latin typeface="JetBrains Mono"/>
              </a:rPr>
              <a:t>Elapsed</a:t>
            </a:r>
            <a:r>
              <a:rPr kumimoji="0" lang="fi-FI" altLang="fi-FI" sz="1200" b="0" i="0" u="none" strike="noStrike" cap="none" normalizeH="0" baseline="0" dirty="0">
                <a:ln>
                  <a:noFill/>
                </a:ln>
                <a:solidFill>
                  <a:srgbClr val="067D17"/>
                </a:solidFill>
                <a:effectLst/>
                <a:latin typeface="JetBrains Mono"/>
              </a:rPr>
              <a:t> Time in </a:t>
            </a:r>
            <a:r>
              <a:rPr kumimoji="0" lang="fi-FI" altLang="fi-FI" sz="1200" b="0" i="0" u="none" strike="noStrike" cap="none" normalizeH="0" baseline="0" dirty="0" err="1">
                <a:ln>
                  <a:noFill/>
                </a:ln>
                <a:solidFill>
                  <a:srgbClr val="067D17"/>
                </a:solidFill>
                <a:effectLst/>
                <a:latin typeface="JetBrains Mono"/>
              </a:rPr>
              <a:t>milliseconds</a:t>
            </a:r>
            <a:r>
              <a:rPr kumimoji="0" lang="fi-FI" altLang="fi-FI" sz="1200" b="0" i="0" u="none" strike="noStrike" cap="none" normalizeH="0" baseline="0" dirty="0">
                <a:ln>
                  <a:noFill/>
                </a:ln>
                <a:solidFill>
                  <a:srgbClr val="067D17"/>
                </a:solidFill>
                <a:effectLst/>
                <a:latin typeface="JetBrains Mono"/>
              </a:rPr>
              <a:t>: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end2</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00000"/>
                </a:solidFill>
                <a:effectLst/>
                <a:latin typeface="JetBrains Mono"/>
              </a:rPr>
              <a:t>start2</a:t>
            </a:r>
            <a:r>
              <a:rPr kumimoji="0" lang="fi-FI" altLang="fi-FI" sz="1200" b="0" i="0" u="none" strike="noStrike" cap="none" normalizeH="0" baseline="0" dirty="0">
                <a:ln>
                  <a:noFill/>
                </a:ln>
                <a:solidFill>
                  <a:srgbClr val="080808"/>
                </a:solidFill>
                <a:effectLst/>
                <a:latin typeface="JetBrains Mono"/>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Instant</a:t>
            </a:r>
            <a:r>
              <a:rPr kumimoji="0" lang="fi-FI" altLang="fi-FI" sz="1200" b="0" i="0" u="none" strike="noStrike" cap="none" normalizeH="0" baseline="0" dirty="0">
                <a:ln>
                  <a:noFill/>
                </a:ln>
                <a:solidFill>
                  <a:srgbClr val="000000"/>
                </a:solidFill>
                <a:effectLst/>
                <a:latin typeface="JetBrains Mono"/>
              </a:rPr>
              <a:t> inst1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Instant</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now</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obj</a:t>
            </a:r>
            <a:r>
              <a:rPr kumimoji="0" lang="fi-FI" altLang="fi-FI" sz="1200" b="0" i="0" u="none" strike="noStrike" cap="none" normalizeH="0" baseline="0" dirty="0" err="1">
                <a:ln>
                  <a:noFill/>
                </a:ln>
                <a:solidFill>
                  <a:srgbClr val="080808"/>
                </a:solidFill>
                <a:effectLst/>
                <a:latin typeface="JetBrains Mono"/>
              </a:rPr>
              <a:t>.test</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Instant</a:t>
            </a:r>
            <a:r>
              <a:rPr kumimoji="0" lang="fi-FI" altLang="fi-FI" sz="1200" b="0" i="0" u="none" strike="noStrike" cap="none" normalizeH="0" baseline="0" dirty="0">
                <a:ln>
                  <a:noFill/>
                </a:ln>
                <a:solidFill>
                  <a:srgbClr val="000000"/>
                </a:solidFill>
                <a:effectLst/>
                <a:latin typeface="JetBrains Mono"/>
              </a:rPr>
              <a:t> inst2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Instant</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now</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System</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871094"/>
                </a:solidFill>
                <a:effectLst/>
                <a:latin typeface="JetBrains Mono"/>
              </a:rPr>
              <a:t>out</a:t>
            </a:r>
            <a:r>
              <a:rPr kumimoji="0" lang="fi-FI" altLang="fi-FI" sz="1200" b="0" i="0" u="none" strike="noStrike" cap="none" normalizeH="0" baseline="0" dirty="0" err="1">
                <a:ln>
                  <a:noFill/>
                </a:ln>
                <a:solidFill>
                  <a:srgbClr val="080808"/>
                </a:solidFill>
                <a:effectLst/>
                <a:latin typeface="JetBrains Mono"/>
              </a:rPr>
              <a:t>.println</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67D17"/>
                </a:solidFill>
                <a:effectLst/>
                <a:latin typeface="JetBrains Mono"/>
              </a:rPr>
              <a:t>"</a:t>
            </a:r>
            <a:r>
              <a:rPr kumimoji="0" lang="fi-FI" altLang="fi-FI" sz="1200" b="0" i="0" u="none" strike="noStrike" cap="none" normalizeH="0" baseline="0" dirty="0" err="1">
                <a:ln>
                  <a:noFill/>
                </a:ln>
                <a:solidFill>
                  <a:srgbClr val="067D17"/>
                </a:solidFill>
                <a:effectLst/>
                <a:latin typeface="JetBrains Mono"/>
              </a:rPr>
              <a:t>Elapsed</a:t>
            </a:r>
            <a:r>
              <a:rPr kumimoji="0" lang="fi-FI" altLang="fi-FI" sz="1200" b="0" i="0" u="none" strike="noStrike" cap="none" normalizeH="0" baseline="0" dirty="0">
                <a:ln>
                  <a:noFill/>
                </a:ln>
                <a:solidFill>
                  <a:srgbClr val="067D17"/>
                </a:solidFill>
                <a:effectLst/>
                <a:latin typeface="JetBrains Mono"/>
              </a:rPr>
              <a:t> Time: "</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err="1">
                <a:ln>
                  <a:noFill/>
                </a:ln>
                <a:solidFill>
                  <a:srgbClr val="000000"/>
                </a:solidFill>
                <a:effectLst/>
                <a:latin typeface="JetBrains Mono"/>
              </a:rPr>
              <a:t>Duration</a:t>
            </a:r>
            <a:r>
              <a:rPr kumimoji="0" lang="fi-FI" altLang="fi-FI" sz="1200" b="0" i="0" u="none" strike="noStrike" cap="none" normalizeH="0" baseline="0" dirty="0" err="1">
                <a:ln>
                  <a:noFill/>
                </a:ln>
                <a:solidFill>
                  <a:srgbClr val="080808"/>
                </a:solidFill>
                <a:effectLst/>
                <a:latin typeface="JetBrains Mono"/>
              </a:rPr>
              <a:t>.</a:t>
            </a:r>
            <a:r>
              <a:rPr kumimoji="0" lang="fi-FI" altLang="fi-FI" sz="1200" b="0" i="1" u="none" strike="noStrike" cap="none" normalizeH="0" baseline="0" dirty="0" err="1">
                <a:ln>
                  <a:noFill/>
                </a:ln>
                <a:solidFill>
                  <a:srgbClr val="080808"/>
                </a:solidFill>
                <a:effectLst/>
                <a:latin typeface="JetBrains Mono"/>
              </a:rPr>
              <a:t>between</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a:ln>
                  <a:noFill/>
                </a:ln>
                <a:solidFill>
                  <a:srgbClr val="000000"/>
                </a:solidFill>
                <a:effectLst/>
                <a:latin typeface="JetBrains Mono"/>
              </a:rPr>
              <a:t>inst1</a:t>
            </a:r>
            <a:r>
              <a:rPr kumimoji="0" lang="fi-FI" altLang="fi-FI" sz="1200" b="0" i="0" u="none" strike="noStrike" cap="none" normalizeH="0" baseline="0" dirty="0">
                <a:ln>
                  <a:noFill/>
                </a:ln>
                <a:solidFill>
                  <a:srgbClr val="080808"/>
                </a:solidFill>
                <a:effectLst/>
                <a:latin typeface="JetBrains Mono"/>
              </a:rPr>
              <a:t>, </a:t>
            </a:r>
            <a:r>
              <a:rPr kumimoji="0" lang="fi-FI" altLang="fi-FI" sz="1200" b="0" i="0" u="none" strike="noStrike" cap="none" normalizeH="0" baseline="0" dirty="0">
                <a:ln>
                  <a:noFill/>
                </a:ln>
                <a:solidFill>
                  <a:srgbClr val="000000"/>
                </a:solidFill>
                <a:effectLst/>
                <a:latin typeface="JetBrains Mono"/>
              </a:rPr>
              <a:t>inst2</a:t>
            </a:r>
            <a:r>
              <a:rPr kumimoji="0" lang="fi-FI" altLang="fi-FI" sz="1200" b="0" i="0" u="none" strike="noStrike" cap="none" normalizeH="0" baseline="0" dirty="0">
                <a:ln>
                  <a:noFill/>
                </a:ln>
                <a:solidFill>
                  <a:srgbClr val="080808"/>
                </a:solidFill>
                <a:effectLst/>
                <a:latin typeface="JetBrains Mono"/>
              </a:rPr>
              <a:t>).</a:t>
            </a:r>
            <a:r>
              <a:rPr kumimoji="0" lang="fi-FI" altLang="fi-FI" sz="1200" b="0" i="0" u="none" strike="noStrike" cap="none" normalizeH="0" baseline="0" dirty="0" err="1">
                <a:ln>
                  <a:noFill/>
                </a:ln>
                <a:solidFill>
                  <a:srgbClr val="080808"/>
                </a:solidFill>
                <a:effectLst/>
                <a:latin typeface="JetBrains Mono"/>
              </a:rPr>
              <a:t>toString</a:t>
            </a:r>
            <a:r>
              <a:rPr kumimoji="0" lang="fi-FI" altLang="fi-FI" sz="1200" b="0" i="0" u="none" strike="noStrike" cap="none" normalizeH="0" baseline="0" dirty="0">
                <a:ln>
                  <a:noFill/>
                </a:ln>
                <a:solidFill>
                  <a:srgbClr val="080808"/>
                </a:solidFill>
                <a:effectLst/>
                <a:latin typeface="JetBrains Mono"/>
              </a:rPr>
              <a:t>());</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    }</a:t>
            </a:r>
            <a:br>
              <a:rPr kumimoji="0" lang="fi-FI" altLang="fi-FI" sz="1200" b="0" i="0" u="none" strike="noStrike" cap="none" normalizeH="0" baseline="0" dirty="0">
                <a:ln>
                  <a:noFill/>
                </a:ln>
                <a:solidFill>
                  <a:srgbClr val="080808"/>
                </a:solidFill>
                <a:effectLst/>
                <a:latin typeface="JetBrains Mono"/>
              </a:rPr>
            </a:br>
            <a:r>
              <a:rPr kumimoji="0" lang="fi-FI" altLang="fi-FI" sz="1200" b="0" i="0" u="none" strike="noStrike" cap="none" normalizeH="0" baseline="0" dirty="0">
                <a:ln>
                  <a:noFill/>
                </a:ln>
                <a:solidFill>
                  <a:srgbClr val="080808"/>
                </a:solidFill>
                <a:effectLst/>
                <a:latin typeface="JetBrains Mono"/>
              </a:rPr>
              <a:t>}</a:t>
            </a:r>
            <a:endParaRPr kumimoji="0" lang="fi-FI" altLang="fi-FI"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2411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095EF-B39E-D59F-0B79-3C3917D3453A}"/>
              </a:ext>
            </a:extLst>
          </p:cNvPr>
          <p:cNvSpPr>
            <a:spLocks noGrp="1"/>
          </p:cNvSpPr>
          <p:nvPr>
            <p:ph type="ctrTitle"/>
          </p:nvPr>
        </p:nvSpPr>
        <p:spPr/>
        <p:txBody>
          <a:bodyPr/>
          <a:lstStyle/>
          <a:p>
            <a:r>
              <a:rPr lang="fi-FI" dirty="0"/>
              <a:t>Järjestämätön ja järjestetty taulukko</a:t>
            </a:r>
          </a:p>
        </p:txBody>
      </p:sp>
      <p:sp>
        <p:nvSpPr>
          <p:cNvPr id="3" name="Subtitle 2">
            <a:extLst>
              <a:ext uri="{FF2B5EF4-FFF2-40B4-BE49-F238E27FC236}">
                <a16:creationId xmlns:a16="http://schemas.microsoft.com/office/drawing/2014/main" id="{D10CDA6A-F1B7-8CF5-4C89-D47E0F4D5041}"/>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1723914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F5F7-76FF-59BB-C50E-68B790D32E89}"/>
              </a:ext>
            </a:extLst>
          </p:cNvPr>
          <p:cNvSpPr>
            <a:spLocks noGrp="1"/>
          </p:cNvSpPr>
          <p:nvPr>
            <p:ph type="title"/>
          </p:nvPr>
        </p:nvSpPr>
        <p:spPr/>
        <p:txBody>
          <a:bodyPr/>
          <a:lstStyle/>
          <a:p>
            <a:r>
              <a:rPr lang="fi-FI" dirty="0"/>
              <a:t>Järjestämätön taulukko</a:t>
            </a:r>
          </a:p>
        </p:txBody>
      </p:sp>
      <p:sp>
        <p:nvSpPr>
          <p:cNvPr id="3" name="Content Placeholder 2">
            <a:extLst>
              <a:ext uri="{FF2B5EF4-FFF2-40B4-BE49-F238E27FC236}">
                <a16:creationId xmlns:a16="http://schemas.microsoft.com/office/drawing/2014/main" id="{49481E1E-17DC-3C5F-6909-211BBDE90630}"/>
              </a:ext>
            </a:extLst>
          </p:cNvPr>
          <p:cNvSpPr>
            <a:spLocks noGrp="1"/>
          </p:cNvSpPr>
          <p:nvPr>
            <p:ph idx="1"/>
          </p:nvPr>
        </p:nvSpPr>
        <p:spPr>
          <a:xfrm>
            <a:off x="838200" y="1825625"/>
            <a:ext cx="6658627" cy="4351338"/>
          </a:xfrm>
        </p:spPr>
        <p:txBody>
          <a:bodyPr/>
          <a:lstStyle/>
          <a:p>
            <a:r>
              <a:rPr lang="fi-FI" dirty="0"/>
              <a:t>Haku järjestämättömästä taulukosta tapahtuu siten, että käydään taulukkoa läpi alusta alkaen niin kauan, että etsittävä alkio löytyy.</a:t>
            </a:r>
          </a:p>
          <a:p>
            <a:r>
              <a:rPr lang="fi-FI" dirty="0"/>
              <a:t>Tätä kutsutaan lineaariseksi hauksi</a:t>
            </a:r>
          </a:p>
          <a:p>
            <a:r>
              <a:rPr lang="fi-FI" dirty="0"/>
              <a:t>Operaation aikavaativuus on </a:t>
            </a:r>
            <a:r>
              <a:rPr lang="fi-FI" b="0" i="1" dirty="0">
                <a:solidFill>
                  <a:srgbClr val="000000"/>
                </a:solidFill>
                <a:effectLst/>
                <a:latin typeface="KaTeX_Math"/>
              </a:rPr>
              <a:t>O</a:t>
            </a:r>
            <a:r>
              <a:rPr lang="fi-FI" b="0" i="0" dirty="0">
                <a:solidFill>
                  <a:srgbClr val="000000"/>
                </a:solidFill>
                <a:effectLst/>
                <a:latin typeface="KaTeX_Main"/>
              </a:rPr>
              <a:t>(</a:t>
            </a:r>
            <a:r>
              <a:rPr lang="fi-FI" b="0" i="1" dirty="0">
                <a:solidFill>
                  <a:srgbClr val="000000"/>
                </a:solidFill>
                <a:effectLst/>
                <a:latin typeface="KaTeX_Math"/>
              </a:rPr>
              <a:t>n</a:t>
            </a:r>
            <a:r>
              <a:rPr lang="fi-FI" b="0" i="0" dirty="0">
                <a:solidFill>
                  <a:srgbClr val="000000"/>
                </a:solidFill>
                <a:effectLst/>
                <a:latin typeface="KaTeX_Main"/>
              </a:rPr>
              <a:t>) (vaikka haku loppuu aiemmin, jos etsittävä tieto on listan alussa).</a:t>
            </a:r>
          </a:p>
          <a:p>
            <a:pPr lvl="1"/>
            <a:r>
              <a:rPr lang="fi-FI" altLang="fi-FI" dirty="0"/>
              <a:t>(Keskimäärin hakuaika on puolet alkioiden määrästä (N/2))</a:t>
            </a:r>
          </a:p>
          <a:p>
            <a:endParaRPr lang="fi-FI" dirty="0"/>
          </a:p>
        </p:txBody>
      </p:sp>
      <p:sp>
        <p:nvSpPr>
          <p:cNvPr id="4" name="Rectangle 1">
            <a:extLst>
              <a:ext uri="{FF2B5EF4-FFF2-40B4-BE49-F238E27FC236}">
                <a16:creationId xmlns:a16="http://schemas.microsoft.com/office/drawing/2014/main" id="{1A23FEDB-08C7-D24C-C42E-058926CCB059}"/>
              </a:ext>
            </a:extLst>
          </p:cNvPr>
          <p:cNvSpPr>
            <a:spLocks noChangeArrowheads="1"/>
          </p:cNvSpPr>
          <p:nvPr/>
        </p:nvSpPr>
        <p:spPr bwMode="auto">
          <a:xfrm>
            <a:off x="8069371" y="1582867"/>
            <a:ext cx="3581400" cy="35394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nimet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"Jaakko"</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"Mari"</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"Mikko"</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"Jaana"</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67D17"/>
                </a:solidFill>
                <a:effectLst/>
                <a:latin typeface="JetBrains Mono"/>
              </a:rPr>
              <a:t>"Timo"</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err="1">
                <a:ln>
                  <a:noFill/>
                </a:ln>
                <a:solidFill>
                  <a:srgbClr val="000000"/>
                </a:solidFill>
                <a:effectLst/>
                <a:latin typeface="JetBrains Mono"/>
              </a:rPr>
              <a:t>System</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1" u="none" strike="noStrike" cap="none" normalizeH="0" baseline="0" dirty="0" err="1">
                <a:ln>
                  <a:noFill/>
                </a:ln>
                <a:solidFill>
                  <a:srgbClr val="871094"/>
                </a:solidFill>
                <a:effectLst/>
                <a:latin typeface="JetBrains Mono"/>
              </a:rPr>
              <a:t>out</a:t>
            </a:r>
            <a:r>
              <a:rPr kumimoji="0" lang="fi-FI" altLang="fi-FI" sz="1600" b="0" i="0" u="none" strike="noStrike" cap="none" normalizeH="0" baseline="0" dirty="0" err="1">
                <a:ln>
                  <a:noFill/>
                </a:ln>
                <a:solidFill>
                  <a:srgbClr val="080808"/>
                </a:solidFill>
                <a:effectLst/>
                <a:latin typeface="JetBrains Mono"/>
              </a:rPr>
              <a:t>.println</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67D17"/>
                </a:solidFill>
                <a:effectLst/>
                <a:latin typeface="JetBrains Mono"/>
              </a:rPr>
              <a:t>"Anna etsittävä nimi:"</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err="1">
                <a:ln>
                  <a:noFill/>
                </a:ln>
                <a:solidFill>
                  <a:srgbClr val="000000"/>
                </a:solidFill>
                <a:effectLst/>
                <a:latin typeface="JetBrains Mono"/>
              </a:rPr>
              <a:t>String</a:t>
            </a:r>
            <a:r>
              <a:rPr kumimoji="0" lang="fi-FI" altLang="fi-FI" sz="1600" b="0" i="0" u="none" strike="noStrike" cap="none" normalizeH="0" baseline="0" dirty="0">
                <a:ln>
                  <a:noFill/>
                </a:ln>
                <a:solidFill>
                  <a:srgbClr val="000000"/>
                </a:solidFill>
                <a:effectLst/>
                <a:latin typeface="JetBrains Mono"/>
              </a:rPr>
              <a:t> nimi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0000"/>
                </a:solidFill>
                <a:effectLst/>
                <a:latin typeface="JetBrains Mono"/>
              </a:rPr>
              <a:t>lukija</a:t>
            </a:r>
            <a:r>
              <a:rPr kumimoji="0" lang="fi-FI" altLang="fi-FI" sz="1600" b="0" i="0" u="none" strike="noStrike" cap="none" normalizeH="0" baseline="0" dirty="0" err="1">
                <a:ln>
                  <a:noFill/>
                </a:ln>
                <a:solidFill>
                  <a:srgbClr val="080808"/>
                </a:solidFill>
                <a:effectLst/>
                <a:latin typeface="JetBrains Mono"/>
              </a:rPr>
              <a:t>.nextLine</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paikka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1</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033B3"/>
                </a:solidFill>
                <a:effectLst/>
                <a:latin typeface="JetBrains Mono"/>
              </a:rPr>
              <a:t>for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33B3"/>
                </a:solidFill>
                <a:effectLst/>
                <a:latin typeface="JetBrains Mono"/>
              </a:rPr>
              <a:t>int</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1750EB"/>
                </a:solidFill>
                <a:effectLst/>
                <a:latin typeface="JetBrains Mono"/>
              </a:rPr>
              <a:t>0</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 </a:t>
            </a:r>
            <a:r>
              <a:rPr kumimoji="0" lang="fi-FI" altLang="fi-FI" sz="1600" b="0" i="0" u="none" strike="noStrike" cap="none" normalizeH="0" baseline="0" dirty="0">
                <a:ln>
                  <a:noFill/>
                </a:ln>
                <a:solidFill>
                  <a:srgbClr val="080808"/>
                </a:solidFill>
                <a:effectLst/>
                <a:latin typeface="JetBrains Mono"/>
              </a:rPr>
              <a:t>&lt; </a:t>
            </a:r>
            <a:r>
              <a:rPr kumimoji="0" lang="fi-FI" altLang="fi-FI" sz="1600" b="0" i="0" u="none" strike="noStrike" cap="none" normalizeH="0" baseline="0" dirty="0" err="1">
                <a:ln>
                  <a:noFill/>
                </a:ln>
                <a:solidFill>
                  <a:srgbClr val="000000"/>
                </a:solidFill>
                <a:effectLst/>
                <a:latin typeface="JetBrains Mono"/>
              </a:rPr>
              <a:t>nimet</a:t>
            </a:r>
            <a:r>
              <a:rPr kumimoji="0" lang="fi-FI" altLang="fi-FI" sz="1600" b="0" i="0" u="none" strike="noStrike" cap="none" normalizeH="0" baseline="0" dirty="0" err="1">
                <a:ln>
                  <a:noFill/>
                </a:ln>
                <a:solidFill>
                  <a:srgbClr val="080808"/>
                </a:solidFill>
                <a:effectLst/>
                <a:latin typeface="JetBrains Mono"/>
              </a:rPr>
              <a:t>.</a:t>
            </a:r>
            <a:r>
              <a:rPr kumimoji="0" lang="fi-FI" altLang="fi-FI" sz="1600" b="0" i="0" u="none" strike="noStrike" cap="none" normalizeH="0" baseline="0" dirty="0" err="1">
                <a:ln>
                  <a:noFill/>
                </a:ln>
                <a:solidFill>
                  <a:srgbClr val="871094"/>
                </a:solidFill>
                <a:effectLst/>
                <a:latin typeface="JetBrains Mono"/>
              </a:rPr>
              <a:t>length</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if</a:t>
            </a:r>
            <a:r>
              <a:rPr kumimoji="0" lang="fi-FI" altLang="fi-FI" sz="1600" b="0" i="0" u="none" strike="noStrike" cap="none" normalizeH="0" baseline="0" dirty="0">
                <a:ln>
                  <a:noFill/>
                </a:ln>
                <a:solidFill>
                  <a:srgbClr val="0033B3"/>
                </a:solidFill>
                <a:effectLst/>
                <a:latin typeface="JetBrains Mono"/>
              </a:rPr>
              <a:t> </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err="1">
                <a:ln>
                  <a:noFill/>
                </a:ln>
                <a:solidFill>
                  <a:srgbClr val="000000"/>
                </a:solidFill>
                <a:effectLst/>
                <a:latin typeface="JetBrains Mono"/>
              </a:rPr>
              <a:t>nimi</a:t>
            </a:r>
            <a:r>
              <a:rPr kumimoji="0" lang="fi-FI" altLang="fi-FI" sz="1600" b="0" i="0" u="none" strike="noStrike" cap="none" normalizeH="0" baseline="0" dirty="0" err="1">
                <a:ln>
                  <a:noFill/>
                </a:ln>
                <a:solidFill>
                  <a:srgbClr val="080808"/>
                </a:solidFill>
                <a:effectLst/>
                <a:latin typeface="JetBrains Mono"/>
              </a:rPr>
              <a:t>.equals</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nimet</a:t>
            </a:r>
            <a:r>
              <a:rPr kumimoji="0" lang="fi-FI" altLang="fi-FI" sz="1600" b="0" i="0" u="none" strike="noStrike" cap="none" normalizeH="0" baseline="0" dirty="0">
                <a:ln>
                  <a:noFill/>
                </a:ln>
                <a:solidFill>
                  <a:srgbClr val="080808"/>
                </a:solidFill>
                <a:effectLst/>
                <a:latin typeface="JetBrains Mono"/>
              </a:rPr>
              <a:t>[</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1" u="none" strike="noStrike" cap="none" normalizeH="0" baseline="0" dirty="0">
                <a:ln>
                  <a:noFill/>
                </a:ln>
                <a:solidFill>
                  <a:srgbClr val="8C8C8C"/>
                </a:solidFill>
                <a:effectLst/>
                <a:latin typeface="JetBrains Mono"/>
              </a:rPr>
              <a:t>// löytyi</a:t>
            </a:r>
            <a:br>
              <a:rPr kumimoji="0" lang="fi-FI" altLang="fi-FI" sz="1600" b="0" i="1" u="none" strike="noStrike" cap="none" normalizeH="0" baseline="0" dirty="0">
                <a:ln>
                  <a:noFill/>
                </a:ln>
                <a:solidFill>
                  <a:srgbClr val="8C8C8C"/>
                </a:solidFill>
                <a:effectLst/>
                <a:latin typeface="JetBrains Mono"/>
              </a:rPr>
            </a:br>
            <a:r>
              <a:rPr kumimoji="0" lang="fi-FI" altLang="fi-FI" sz="1600" b="0" i="1" u="none" strike="noStrike" cap="none" normalizeH="0" baseline="0" dirty="0">
                <a:ln>
                  <a:noFill/>
                </a:ln>
                <a:solidFill>
                  <a:srgbClr val="8C8C8C"/>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paikka </a:t>
            </a: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a:ln>
                  <a:noFill/>
                </a:ln>
                <a:solidFill>
                  <a:srgbClr val="000000"/>
                </a:solidFill>
                <a:effectLst/>
                <a:latin typeface="JetBrains Mono"/>
              </a:rPr>
              <a:t>i</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r>
              <a:rPr kumimoji="0" lang="fi-FI" altLang="fi-FI" sz="1600" b="0" i="0" u="none" strike="noStrike" cap="none" normalizeH="0" baseline="0" dirty="0" err="1">
                <a:ln>
                  <a:noFill/>
                </a:ln>
                <a:solidFill>
                  <a:srgbClr val="0033B3"/>
                </a:solidFill>
                <a:effectLst/>
                <a:latin typeface="JetBrains Mono"/>
              </a:rPr>
              <a:t>break</a:t>
            </a:r>
            <a:r>
              <a:rPr kumimoji="0" lang="fi-FI" altLang="fi-FI" sz="1600" b="0" i="0" u="none" strike="noStrike" cap="none" normalizeH="0" baseline="0" dirty="0">
                <a:ln>
                  <a:noFill/>
                </a:ln>
                <a:solidFill>
                  <a:srgbClr val="080808"/>
                </a:solidFill>
                <a:effectLst/>
                <a:latin typeface="JetBrains Mono"/>
              </a:rPr>
              <a:t>;</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    }</a:t>
            </a:r>
            <a:br>
              <a:rPr kumimoji="0" lang="fi-FI" altLang="fi-FI" sz="1600" b="0" i="0" u="none" strike="noStrike" cap="none" normalizeH="0" baseline="0" dirty="0">
                <a:ln>
                  <a:noFill/>
                </a:ln>
                <a:solidFill>
                  <a:srgbClr val="080808"/>
                </a:solidFill>
                <a:effectLst/>
                <a:latin typeface="JetBrains Mono"/>
              </a:rPr>
            </a:br>
            <a:r>
              <a:rPr kumimoji="0" lang="fi-FI" altLang="fi-FI" sz="1600" b="0" i="0" u="none" strike="noStrike" cap="none" normalizeH="0" baseline="0" dirty="0">
                <a:ln>
                  <a:noFill/>
                </a:ln>
                <a:solidFill>
                  <a:srgbClr val="080808"/>
                </a:solidFill>
                <a:effectLst/>
                <a:latin typeface="JetBrains Mono"/>
              </a:rPr>
              <a:t>}</a:t>
            </a:r>
            <a:endParaRPr kumimoji="0" lang="fi-FI" altLang="fi-FI"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8840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7047-7CA8-1297-D7F2-25F15B5BCC75}"/>
              </a:ext>
            </a:extLst>
          </p:cNvPr>
          <p:cNvSpPr>
            <a:spLocks noGrp="1"/>
          </p:cNvSpPr>
          <p:nvPr>
            <p:ph type="title"/>
          </p:nvPr>
        </p:nvSpPr>
        <p:spPr/>
        <p:txBody>
          <a:bodyPr/>
          <a:lstStyle/>
          <a:p>
            <a:r>
              <a:rPr lang="fi-FI" dirty="0"/>
              <a:t>Järjestetty taulukko (lista)</a:t>
            </a:r>
          </a:p>
        </p:txBody>
      </p:sp>
      <p:sp>
        <p:nvSpPr>
          <p:cNvPr id="3" name="Content Placeholder 2">
            <a:extLst>
              <a:ext uri="{FF2B5EF4-FFF2-40B4-BE49-F238E27FC236}">
                <a16:creationId xmlns:a16="http://schemas.microsoft.com/office/drawing/2014/main" id="{9FD84CC9-8BA9-812F-180E-3298ACC23583}"/>
              </a:ext>
            </a:extLst>
          </p:cNvPr>
          <p:cNvSpPr>
            <a:spLocks noGrp="1"/>
          </p:cNvSpPr>
          <p:nvPr>
            <p:ph idx="1"/>
          </p:nvPr>
        </p:nvSpPr>
        <p:spPr/>
        <p:txBody>
          <a:bodyPr/>
          <a:lstStyle/>
          <a:p>
            <a:pPr eaLnBrk="1" hangingPunct="1">
              <a:lnSpc>
                <a:spcPct val="80000"/>
              </a:lnSpc>
            </a:pPr>
            <a:r>
              <a:rPr lang="fi-FI" altLang="fi-FI" sz="2800" dirty="0"/>
              <a:t>Järjestetty taulukko pidetään (aakkos- tai numero-) järjestyksessä koko ajan</a:t>
            </a:r>
          </a:p>
          <a:p>
            <a:pPr lvl="1">
              <a:lnSpc>
                <a:spcPct val="80000"/>
              </a:lnSpc>
            </a:pPr>
            <a:r>
              <a:rPr lang="fi-FI" altLang="fi-FI" dirty="0"/>
              <a:t>Uusi tieto voidaan laittaa oikealle paikalle heti aluksi tai sitten taulukko voidaan järjestää uudestaan tarpeen vaatiessa</a:t>
            </a:r>
          </a:p>
          <a:p>
            <a:pPr lvl="1">
              <a:lnSpc>
                <a:spcPct val="80000"/>
              </a:lnSpc>
            </a:pPr>
            <a:r>
              <a:rPr lang="fi-FI" altLang="fi-FI" dirty="0"/>
              <a:t>(C#:</a:t>
            </a:r>
            <a:r>
              <a:rPr lang="fi-FI" altLang="fi-FI" dirty="0" err="1"/>
              <a:t>ssa</a:t>
            </a:r>
            <a:r>
              <a:rPr lang="fi-FI" altLang="fi-FI" dirty="0"/>
              <a:t> on valmiina </a:t>
            </a:r>
            <a:r>
              <a:rPr lang="fi-FI" altLang="fi-FI" dirty="0" err="1"/>
              <a:t>sorted</a:t>
            </a:r>
            <a:r>
              <a:rPr lang="fi-FI" altLang="fi-FI" dirty="0"/>
              <a:t> </a:t>
            </a:r>
            <a:r>
              <a:rPr lang="fi-FI" altLang="fi-FI" u="sng" dirty="0" err="1"/>
              <a:t>list</a:t>
            </a:r>
            <a:r>
              <a:rPr lang="fi-FI" altLang="fi-FI" dirty="0"/>
              <a:t>, mutta Javassa ei).</a:t>
            </a:r>
          </a:p>
          <a:p>
            <a:pPr eaLnBrk="1" hangingPunct="1">
              <a:lnSpc>
                <a:spcPct val="80000"/>
              </a:lnSpc>
            </a:pPr>
            <a:r>
              <a:rPr lang="fi-FI" altLang="fi-FI" sz="2800" dirty="0"/>
              <a:t>Alkion hakeminen järjestetystä taulukosta paljon nopeampaa kuin järjestämättömästä taulukosta, jos käytetään binäärihakua</a:t>
            </a:r>
          </a:p>
          <a:p>
            <a:pPr eaLnBrk="1" hangingPunct="1">
              <a:lnSpc>
                <a:spcPct val="80000"/>
              </a:lnSpc>
            </a:pPr>
            <a:r>
              <a:rPr lang="fi-FI" altLang="fi-FI" dirty="0"/>
              <a:t>Binäärihaku on selitetty täällä: </a:t>
            </a:r>
          </a:p>
          <a:p>
            <a:pPr lvl="1">
              <a:lnSpc>
                <a:spcPct val="80000"/>
              </a:lnSpc>
            </a:pPr>
            <a:r>
              <a:rPr lang="fi-FI" altLang="fi-FI" dirty="0">
                <a:hlinkClick r:id="rId2"/>
              </a:rPr>
              <a:t>http://www.cs.toronto.edu/~reid/search/bincode.html</a:t>
            </a:r>
            <a:r>
              <a:rPr lang="fi-FI" altLang="fi-FI" dirty="0"/>
              <a:t> </a:t>
            </a:r>
          </a:p>
          <a:p>
            <a:pPr>
              <a:lnSpc>
                <a:spcPct val="80000"/>
              </a:lnSpc>
            </a:pPr>
            <a:r>
              <a:rPr lang="fi-FI" altLang="fi-FI" dirty="0"/>
              <a:t>Oikeasti binäärihakua ei tarvitse toteuttaa itse. Javassa on valmiiksi </a:t>
            </a:r>
            <a:r>
              <a:rPr lang="fi-FI" altLang="fi-FI" dirty="0" err="1"/>
              <a:t>Arrays.binarySearch</a:t>
            </a:r>
            <a:r>
              <a:rPr lang="fi-FI" altLang="fi-FI" dirty="0"/>
              <a:t>(). Myös listassa (</a:t>
            </a:r>
            <a:r>
              <a:rPr lang="fi-FI" altLang="fi-FI" dirty="0" err="1"/>
              <a:t>ArrayList</a:t>
            </a:r>
            <a:r>
              <a:rPr lang="fi-FI" altLang="fi-FI" dirty="0"/>
              <a:t>) on valmis hakumetodi.</a:t>
            </a:r>
          </a:p>
          <a:p>
            <a:pPr lvl="1">
              <a:lnSpc>
                <a:spcPct val="80000"/>
              </a:lnSpc>
            </a:pPr>
            <a:endParaRPr lang="fi-FI" altLang="fi-FI" dirty="0"/>
          </a:p>
          <a:p>
            <a:endParaRPr lang="fi-FI" dirty="0"/>
          </a:p>
        </p:txBody>
      </p:sp>
    </p:spTree>
    <p:extLst>
      <p:ext uri="{BB962C8B-B14F-4D97-AF65-F5344CB8AC3E}">
        <p14:creationId xmlns:p14="http://schemas.microsoft.com/office/powerpoint/2010/main" val="2331945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00DA-85EB-F17D-0B3C-1A42BBCCC1E6}"/>
              </a:ext>
            </a:extLst>
          </p:cNvPr>
          <p:cNvSpPr>
            <a:spLocks noGrp="1"/>
          </p:cNvSpPr>
          <p:nvPr>
            <p:ph type="title"/>
          </p:nvPr>
        </p:nvSpPr>
        <p:spPr/>
        <p:txBody>
          <a:bodyPr/>
          <a:lstStyle/>
          <a:p>
            <a:r>
              <a:rPr lang="fi-FI" dirty="0"/>
              <a:t>Binäärihaku</a:t>
            </a:r>
          </a:p>
        </p:txBody>
      </p:sp>
      <p:sp>
        <p:nvSpPr>
          <p:cNvPr id="3" name="Content Placeholder 2">
            <a:extLst>
              <a:ext uri="{FF2B5EF4-FFF2-40B4-BE49-F238E27FC236}">
                <a16:creationId xmlns:a16="http://schemas.microsoft.com/office/drawing/2014/main" id="{0652145F-712E-8B5C-21C7-43B8C276092E}"/>
              </a:ext>
            </a:extLst>
          </p:cNvPr>
          <p:cNvSpPr>
            <a:spLocks noGrp="1"/>
          </p:cNvSpPr>
          <p:nvPr>
            <p:ph idx="1"/>
          </p:nvPr>
        </p:nvSpPr>
        <p:spPr/>
        <p:txBody>
          <a:bodyPr>
            <a:normAutofit/>
          </a:bodyPr>
          <a:lstStyle/>
          <a:p>
            <a:r>
              <a:rPr lang="fi-FI" altLang="fi-FI" sz="2400" dirty="0"/>
              <a:t>Jos taulukko on järjestyksessä, voidaan haku tehdä nopeasti (ajassa log</a:t>
            </a:r>
            <a:r>
              <a:rPr lang="fi-FI" altLang="fi-FI" sz="2400" baseline="-25000" dirty="0"/>
              <a:t>2</a:t>
            </a:r>
            <a:r>
              <a:rPr lang="fi-FI" altLang="fi-FI" sz="2400" dirty="0"/>
              <a:t>N) käyttäen puolitushakua eli binäärihakua.</a:t>
            </a:r>
          </a:p>
          <a:p>
            <a:pPr lvl="2" eaLnBrk="1" hangingPunct="1">
              <a:lnSpc>
                <a:spcPct val="90000"/>
              </a:lnSpc>
              <a:buClr>
                <a:schemeClr val="accent2"/>
              </a:buClr>
              <a:buFont typeface="Wingdings" panose="05000000000000000000" pitchFamily="2" charset="2"/>
              <a:buNone/>
            </a:pPr>
            <a:r>
              <a:rPr lang="fi-FI" altLang="fi-FI" sz="2400" dirty="0"/>
              <a:t>		N			log</a:t>
            </a:r>
            <a:r>
              <a:rPr lang="fi-FI" altLang="fi-FI" sz="2400" baseline="-25000" dirty="0"/>
              <a:t>2</a:t>
            </a:r>
            <a:r>
              <a:rPr lang="fi-FI" altLang="fi-FI" sz="2400" dirty="0"/>
              <a:t>N</a:t>
            </a:r>
          </a:p>
          <a:p>
            <a:pPr lvl="2" eaLnBrk="1" hangingPunct="1">
              <a:lnSpc>
                <a:spcPct val="90000"/>
              </a:lnSpc>
              <a:buClr>
                <a:schemeClr val="accent2"/>
              </a:buClr>
              <a:buFont typeface="Wingdings" panose="05000000000000000000" pitchFamily="2" charset="2"/>
              <a:buNone/>
            </a:pPr>
            <a:r>
              <a:rPr lang="fi-FI" altLang="fi-FI" sz="2400" dirty="0"/>
              <a:t>		1000			10</a:t>
            </a:r>
          </a:p>
          <a:p>
            <a:pPr lvl="2" eaLnBrk="1" hangingPunct="1">
              <a:lnSpc>
                <a:spcPct val="90000"/>
              </a:lnSpc>
              <a:buClr>
                <a:schemeClr val="accent2"/>
              </a:buClr>
              <a:buFont typeface="Wingdings" panose="05000000000000000000" pitchFamily="2" charset="2"/>
              <a:buNone/>
            </a:pPr>
            <a:r>
              <a:rPr lang="fi-FI" altLang="fi-FI" sz="2400" dirty="0"/>
              <a:t>		1000000		20</a:t>
            </a:r>
          </a:p>
          <a:p>
            <a:endParaRPr lang="fi-FI" altLang="fi-FI" sz="2400" dirty="0"/>
          </a:p>
          <a:p>
            <a:r>
              <a:rPr lang="fi-FI" sz="2400" dirty="0"/>
              <a:t>Jos taulukko ei ole järjestyksessä, joudutaan käyttämään lineaarista hakua eli käymään taulukkoa läpi alusta saakka. Järjestämätöntä taulukkoa ei kannata käyttää yleensä hakurakenteena</a:t>
            </a:r>
          </a:p>
          <a:p>
            <a:endParaRPr lang="fi-FI" sz="2400" dirty="0"/>
          </a:p>
        </p:txBody>
      </p:sp>
      <p:pic>
        <p:nvPicPr>
          <p:cNvPr id="4" name="Picture 3">
            <a:extLst>
              <a:ext uri="{FF2B5EF4-FFF2-40B4-BE49-F238E27FC236}">
                <a16:creationId xmlns:a16="http://schemas.microsoft.com/office/drawing/2014/main" id="{78804212-1E47-8836-B862-A3ED87B7F230}"/>
              </a:ext>
            </a:extLst>
          </p:cNvPr>
          <p:cNvPicPr>
            <a:picLocks noChangeAspect="1"/>
          </p:cNvPicPr>
          <p:nvPr/>
        </p:nvPicPr>
        <p:blipFill>
          <a:blip r:embed="rId2"/>
          <a:stretch>
            <a:fillRect/>
          </a:stretch>
        </p:blipFill>
        <p:spPr>
          <a:xfrm>
            <a:off x="6887150" y="2684069"/>
            <a:ext cx="3098716" cy="947449"/>
          </a:xfrm>
          <a:prstGeom prst="rect">
            <a:avLst/>
          </a:prstGeom>
        </p:spPr>
      </p:pic>
      <p:sp>
        <p:nvSpPr>
          <p:cNvPr id="6" name="TextBox 5">
            <a:extLst>
              <a:ext uri="{FF2B5EF4-FFF2-40B4-BE49-F238E27FC236}">
                <a16:creationId xmlns:a16="http://schemas.microsoft.com/office/drawing/2014/main" id="{EAFFE4BA-44F4-3EF6-B80E-8DA9DBE2E7F6}"/>
              </a:ext>
            </a:extLst>
          </p:cNvPr>
          <p:cNvSpPr txBox="1"/>
          <p:nvPr/>
        </p:nvSpPr>
        <p:spPr>
          <a:xfrm>
            <a:off x="790128" y="5762002"/>
            <a:ext cx="6097022" cy="369332"/>
          </a:xfrm>
          <a:prstGeom prst="rect">
            <a:avLst/>
          </a:prstGeom>
          <a:noFill/>
        </p:spPr>
        <p:txBody>
          <a:bodyPr wrap="square">
            <a:spAutoFit/>
          </a:bodyPr>
          <a:lstStyle/>
          <a:p>
            <a:pPr lvl="1"/>
            <a:r>
              <a:rPr lang="fi-FI" altLang="fi-FI" dirty="0">
                <a:hlinkClick r:id="rId3"/>
              </a:rPr>
              <a:t>http://www.cs.toronto.edu/~reid/search/bincode.html</a:t>
            </a:r>
            <a:r>
              <a:rPr lang="fi-FI" altLang="fi-FI" dirty="0"/>
              <a:t> </a:t>
            </a:r>
          </a:p>
        </p:txBody>
      </p:sp>
    </p:spTree>
    <p:extLst>
      <p:ext uri="{BB962C8B-B14F-4D97-AF65-F5344CB8AC3E}">
        <p14:creationId xmlns:p14="http://schemas.microsoft.com/office/powerpoint/2010/main" val="3980510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fi-FI" altLang="fi-FI" sz="3500" dirty="0"/>
              <a:t>Binäärihaku järjestetystä taulukosta</a:t>
            </a:r>
          </a:p>
        </p:txBody>
      </p:sp>
      <p:sp>
        <p:nvSpPr>
          <p:cNvPr id="34819" name="Rectangle 3"/>
          <p:cNvSpPr>
            <a:spLocks noGrp="1" noChangeArrowheads="1"/>
          </p:cNvSpPr>
          <p:nvPr>
            <p:ph type="body" idx="1"/>
          </p:nvPr>
        </p:nvSpPr>
        <p:spPr/>
        <p:txBody>
          <a:bodyPr/>
          <a:lstStyle/>
          <a:p>
            <a:pPr eaLnBrk="1" hangingPunct="1">
              <a:lnSpc>
                <a:spcPct val="80000"/>
              </a:lnSpc>
            </a:pPr>
            <a:r>
              <a:rPr lang="fi-FI" altLang="fi-FI" sz="3100" dirty="0"/>
              <a:t>Linkkejä</a:t>
            </a:r>
          </a:p>
          <a:p>
            <a:pPr lvl="1">
              <a:lnSpc>
                <a:spcPct val="80000"/>
              </a:lnSpc>
            </a:pPr>
            <a:r>
              <a:rPr lang="fi-FI" altLang="fi-FI" sz="2000" dirty="0">
                <a:hlinkClick r:id="rId2"/>
              </a:rPr>
              <a:t>http://www.cs.toronto.edu/~reid/search/bincode.html</a:t>
            </a:r>
            <a:r>
              <a:rPr lang="fi-FI" altLang="fi-FI" sz="2000" dirty="0"/>
              <a:t> </a:t>
            </a:r>
          </a:p>
          <a:p>
            <a:pPr lvl="1">
              <a:lnSpc>
                <a:spcPct val="80000"/>
              </a:lnSpc>
            </a:pPr>
            <a:r>
              <a:rPr lang="fi-FI" altLang="fi-FI" sz="2000" dirty="0">
                <a:hlinkClick r:id="rId3"/>
              </a:rPr>
              <a:t>https://fi.wikipedia.org/wiki/Puolitushaku</a:t>
            </a:r>
            <a:r>
              <a:rPr lang="fi-FI" altLang="fi-FI" sz="2000" dirty="0"/>
              <a:t> </a:t>
            </a:r>
          </a:p>
          <a:p>
            <a:pPr>
              <a:lnSpc>
                <a:spcPct val="80000"/>
              </a:lnSpc>
            </a:pPr>
            <a:r>
              <a:rPr lang="fi-FI" altLang="fi-FI" sz="3100" dirty="0"/>
              <a:t>Puolitushaussa tutkittava alue jaetaan kahtia, katsotaan kummassa puoliskossa tieto on, ja jatketaan hakua tässä puoliskossa.</a:t>
            </a:r>
          </a:p>
          <a:p>
            <a:pPr>
              <a:lnSpc>
                <a:spcPct val="80000"/>
              </a:lnSpc>
            </a:pPr>
            <a:r>
              <a:rPr lang="fi-FI" altLang="fi-FI" sz="3100" dirty="0"/>
              <a:t>Haetaan lukua 4 alla olevasta taulukosta</a:t>
            </a:r>
          </a:p>
        </p:txBody>
      </p:sp>
      <p:sp>
        <p:nvSpPr>
          <p:cNvPr id="2" name="Rectangle 1"/>
          <p:cNvSpPr/>
          <p:nvPr/>
        </p:nvSpPr>
        <p:spPr>
          <a:xfrm>
            <a:off x="969818"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a:t>
            </a:r>
          </a:p>
        </p:txBody>
      </p:sp>
      <p:sp>
        <p:nvSpPr>
          <p:cNvPr id="5" name="Rectangle 4"/>
          <p:cNvSpPr/>
          <p:nvPr/>
        </p:nvSpPr>
        <p:spPr>
          <a:xfrm>
            <a:off x="1579419"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3</a:t>
            </a:r>
          </a:p>
        </p:txBody>
      </p:sp>
      <p:sp>
        <p:nvSpPr>
          <p:cNvPr id="6" name="Rectangle 5"/>
          <p:cNvSpPr/>
          <p:nvPr/>
        </p:nvSpPr>
        <p:spPr>
          <a:xfrm>
            <a:off x="2161312"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4</a:t>
            </a:r>
          </a:p>
        </p:txBody>
      </p:sp>
      <p:sp>
        <p:nvSpPr>
          <p:cNvPr id="7" name="Rectangle 6"/>
          <p:cNvSpPr/>
          <p:nvPr/>
        </p:nvSpPr>
        <p:spPr>
          <a:xfrm>
            <a:off x="2743205"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9</a:t>
            </a:r>
          </a:p>
        </p:txBody>
      </p:sp>
      <p:sp>
        <p:nvSpPr>
          <p:cNvPr id="12" name="Rectangle 11"/>
          <p:cNvSpPr/>
          <p:nvPr/>
        </p:nvSpPr>
        <p:spPr>
          <a:xfrm>
            <a:off x="3352806"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11</a:t>
            </a:r>
          </a:p>
        </p:txBody>
      </p:sp>
      <p:sp>
        <p:nvSpPr>
          <p:cNvPr id="13" name="Rectangle 12"/>
          <p:cNvSpPr/>
          <p:nvPr/>
        </p:nvSpPr>
        <p:spPr>
          <a:xfrm>
            <a:off x="3962407"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12</a:t>
            </a:r>
          </a:p>
        </p:txBody>
      </p:sp>
      <p:sp>
        <p:nvSpPr>
          <p:cNvPr id="14" name="Rectangle 13"/>
          <p:cNvSpPr/>
          <p:nvPr/>
        </p:nvSpPr>
        <p:spPr>
          <a:xfrm>
            <a:off x="4544300"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14</a:t>
            </a:r>
          </a:p>
        </p:txBody>
      </p:sp>
      <p:sp>
        <p:nvSpPr>
          <p:cNvPr id="15" name="Rectangle 14"/>
          <p:cNvSpPr/>
          <p:nvPr/>
        </p:nvSpPr>
        <p:spPr>
          <a:xfrm>
            <a:off x="5126193"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15</a:t>
            </a:r>
          </a:p>
        </p:txBody>
      </p:sp>
      <p:sp>
        <p:nvSpPr>
          <p:cNvPr id="16" name="Rectangle 15"/>
          <p:cNvSpPr/>
          <p:nvPr/>
        </p:nvSpPr>
        <p:spPr>
          <a:xfrm>
            <a:off x="5735794"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18</a:t>
            </a:r>
          </a:p>
        </p:txBody>
      </p:sp>
      <p:sp>
        <p:nvSpPr>
          <p:cNvPr id="17" name="Rectangle 16"/>
          <p:cNvSpPr/>
          <p:nvPr/>
        </p:nvSpPr>
        <p:spPr>
          <a:xfrm>
            <a:off x="6345395"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19</a:t>
            </a:r>
          </a:p>
        </p:txBody>
      </p:sp>
      <p:sp>
        <p:nvSpPr>
          <p:cNvPr id="18" name="Rectangle 17"/>
          <p:cNvSpPr/>
          <p:nvPr/>
        </p:nvSpPr>
        <p:spPr>
          <a:xfrm>
            <a:off x="6927288"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21</a:t>
            </a:r>
          </a:p>
        </p:txBody>
      </p:sp>
      <p:sp>
        <p:nvSpPr>
          <p:cNvPr id="19" name="Rectangle 18"/>
          <p:cNvSpPr/>
          <p:nvPr/>
        </p:nvSpPr>
        <p:spPr>
          <a:xfrm>
            <a:off x="7509181"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23</a:t>
            </a:r>
          </a:p>
        </p:txBody>
      </p:sp>
      <p:sp>
        <p:nvSpPr>
          <p:cNvPr id="20" name="Rectangle 19"/>
          <p:cNvSpPr/>
          <p:nvPr/>
        </p:nvSpPr>
        <p:spPr>
          <a:xfrm>
            <a:off x="8118782"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24</a:t>
            </a:r>
          </a:p>
        </p:txBody>
      </p:sp>
      <p:sp>
        <p:nvSpPr>
          <p:cNvPr id="21" name="Rectangle 20"/>
          <p:cNvSpPr/>
          <p:nvPr/>
        </p:nvSpPr>
        <p:spPr>
          <a:xfrm>
            <a:off x="8728383"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28</a:t>
            </a:r>
          </a:p>
        </p:txBody>
      </p:sp>
      <p:sp>
        <p:nvSpPr>
          <p:cNvPr id="22" name="Rectangle 21"/>
          <p:cNvSpPr/>
          <p:nvPr/>
        </p:nvSpPr>
        <p:spPr>
          <a:xfrm>
            <a:off x="9310276"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29</a:t>
            </a:r>
          </a:p>
        </p:txBody>
      </p:sp>
      <p:sp>
        <p:nvSpPr>
          <p:cNvPr id="23" name="Rectangle 22"/>
          <p:cNvSpPr/>
          <p:nvPr/>
        </p:nvSpPr>
        <p:spPr>
          <a:xfrm>
            <a:off x="9892169" y="4754563"/>
            <a:ext cx="60960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a:t>31</a:t>
            </a:r>
          </a:p>
        </p:txBody>
      </p:sp>
      <p:sp>
        <p:nvSpPr>
          <p:cNvPr id="3" name="TextBox 2"/>
          <p:cNvSpPr txBox="1"/>
          <p:nvPr/>
        </p:nvSpPr>
        <p:spPr>
          <a:xfrm>
            <a:off x="969818" y="5397500"/>
            <a:ext cx="498406" cy="369332"/>
          </a:xfrm>
          <a:prstGeom prst="rect">
            <a:avLst/>
          </a:prstGeom>
          <a:noFill/>
        </p:spPr>
        <p:txBody>
          <a:bodyPr wrap="none" rtlCol="0">
            <a:spAutoFit/>
          </a:bodyPr>
          <a:lstStyle/>
          <a:p>
            <a:r>
              <a:rPr lang="fi-FI" dirty="0" err="1"/>
              <a:t>left</a:t>
            </a:r>
            <a:endParaRPr lang="fi-FI" dirty="0"/>
          </a:p>
        </p:txBody>
      </p:sp>
      <p:sp>
        <p:nvSpPr>
          <p:cNvPr id="25" name="TextBox 24"/>
          <p:cNvSpPr txBox="1"/>
          <p:nvPr/>
        </p:nvSpPr>
        <p:spPr>
          <a:xfrm>
            <a:off x="9947766" y="5350431"/>
            <a:ext cx="623376" cy="369332"/>
          </a:xfrm>
          <a:prstGeom prst="rect">
            <a:avLst/>
          </a:prstGeom>
          <a:noFill/>
        </p:spPr>
        <p:txBody>
          <a:bodyPr wrap="none" rtlCol="0">
            <a:spAutoFit/>
          </a:bodyPr>
          <a:lstStyle/>
          <a:p>
            <a:r>
              <a:rPr lang="fi-FI" dirty="0" err="1"/>
              <a:t>right</a:t>
            </a:r>
            <a:endParaRPr lang="fi-FI" dirty="0"/>
          </a:p>
        </p:txBody>
      </p:sp>
      <p:sp>
        <p:nvSpPr>
          <p:cNvPr id="26" name="TextBox 25"/>
          <p:cNvSpPr txBox="1"/>
          <p:nvPr/>
        </p:nvSpPr>
        <p:spPr>
          <a:xfrm>
            <a:off x="5679058" y="5397500"/>
            <a:ext cx="833883" cy="369332"/>
          </a:xfrm>
          <a:prstGeom prst="rect">
            <a:avLst/>
          </a:prstGeom>
          <a:noFill/>
        </p:spPr>
        <p:txBody>
          <a:bodyPr wrap="none" rtlCol="0">
            <a:spAutoFit/>
          </a:bodyPr>
          <a:lstStyle/>
          <a:p>
            <a:r>
              <a:rPr lang="fi-FI" dirty="0" err="1"/>
              <a:t>middle</a:t>
            </a:r>
            <a:endParaRPr lang="fi-FI" dirty="0"/>
          </a:p>
        </p:txBody>
      </p:sp>
    </p:spTree>
    <p:extLst>
      <p:ext uri="{BB962C8B-B14F-4D97-AF65-F5344CB8AC3E}">
        <p14:creationId xmlns:p14="http://schemas.microsoft.com/office/powerpoint/2010/main" val="2918873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BAF37-EEC8-D4B6-F554-C0D2ADAE3B6D}"/>
              </a:ext>
            </a:extLst>
          </p:cNvPr>
          <p:cNvSpPr>
            <a:spLocks noGrp="1"/>
          </p:cNvSpPr>
          <p:nvPr>
            <p:ph type="title"/>
          </p:nvPr>
        </p:nvSpPr>
        <p:spPr/>
        <p:txBody>
          <a:bodyPr/>
          <a:lstStyle/>
          <a:p>
            <a:r>
              <a:rPr lang="fi-FI" dirty="0"/>
              <a:t>Binäärihaku</a:t>
            </a:r>
          </a:p>
        </p:txBody>
      </p:sp>
      <p:sp>
        <p:nvSpPr>
          <p:cNvPr id="3" name="Content Placeholder 2">
            <a:extLst>
              <a:ext uri="{FF2B5EF4-FFF2-40B4-BE49-F238E27FC236}">
                <a16:creationId xmlns:a16="http://schemas.microsoft.com/office/drawing/2014/main" id="{EA0C41EE-3BB1-8B8A-456E-FB4744321E5D}"/>
              </a:ext>
            </a:extLst>
          </p:cNvPr>
          <p:cNvSpPr>
            <a:spLocks noGrp="1"/>
          </p:cNvSpPr>
          <p:nvPr>
            <p:ph idx="1"/>
          </p:nvPr>
        </p:nvSpPr>
        <p:spPr>
          <a:xfrm>
            <a:off x="838200" y="1825625"/>
            <a:ext cx="4476366" cy="4351338"/>
          </a:xfrm>
        </p:spPr>
        <p:txBody>
          <a:bodyPr/>
          <a:lstStyle/>
          <a:p>
            <a:r>
              <a:rPr lang="fi-FI" dirty="0"/>
              <a:t>Ohessa on binääri- eli puolitushaun toteutus.</a:t>
            </a:r>
          </a:p>
          <a:p>
            <a:r>
              <a:rPr lang="fi-FI" dirty="0"/>
              <a:t>Algoritmi palauttaa haettavan alkion indeksin tai -1, jos tietoa ei löydy.</a:t>
            </a:r>
          </a:p>
          <a:p>
            <a:r>
              <a:rPr lang="fi-FI" dirty="0"/>
              <a:t>Kokeile oheista algoritmia debuggerin kanssa</a:t>
            </a:r>
          </a:p>
        </p:txBody>
      </p:sp>
      <p:sp>
        <p:nvSpPr>
          <p:cNvPr id="4" name="Rectangle 1">
            <a:extLst>
              <a:ext uri="{FF2B5EF4-FFF2-40B4-BE49-F238E27FC236}">
                <a16:creationId xmlns:a16="http://schemas.microsoft.com/office/drawing/2014/main" id="{53F074C2-8981-FA2C-0C28-41E77AD67240}"/>
              </a:ext>
            </a:extLst>
          </p:cNvPr>
          <p:cNvSpPr>
            <a:spLocks noChangeArrowheads="1"/>
          </p:cNvSpPr>
          <p:nvPr/>
        </p:nvSpPr>
        <p:spPr bwMode="auto">
          <a:xfrm>
            <a:off x="6382389" y="480156"/>
            <a:ext cx="4308113" cy="61247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400" b="0" i="0" u="none" strike="noStrike" cap="none" normalizeH="0" baseline="0" dirty="0" err="1">
                <a:ln>
                  <a:noFill/>
                </a:ln>
                <a:solidFill>
                  <a:srgbClr val="0033B3"/>
                </a:solidFill>
                <a:effectLst/>
                <a:latin typeface="JetBrains Mono"/>
              </a:rPr>
              <a:t>public</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class</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a:ln>
                  <a:noFill/>
                </a:ln>
                <a:solidFill>
                  <a:srgbClr val="000000"/>
                </a:solidFill>
                <a:effectLst/>
                <a:latin typeface="JetBrains Mono"/>
              </a:rPr>
              <a:t>Main </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public</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static</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627A"/>
                </a:solidFill>
                <a:effectLst/>
                <a:latin typeface="JetBrains Mono"/>
              </a:rPr>
              <a:t>binarySearch</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key</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000000"/>
                </a:solidFill>
                <a:effectLst/>
                <a:latin typeface="JetBrains Mono"/>
              </a:rPr>
              <a:t>data</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low</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0</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high</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data</a:t>
            </a:r>
            <a:r>
              <a:rPr kumimoji="0" lang="fi-FI" altLang="fi-FI" sz="1400" b="0" i="0" u="none" strike="noStrike" cap="none" normalizeH="0" baseline="0" dirty="0" err="1">
                <a:ln>
                  <a:noFill/>
                </a:ln>
                <a:solidFill>
                  <a:srgbClr val="080808"/>
                </a:solidFill>
                <a:effectLst/>
                <a:latin typeface="JetBrains Mono"/>
              </a:rPr>
              <a:t>.</a:t>
            </a:r>
            <a:r>
              <a:rPr kumimoji="0" lang="fi-FI" altLang="fi-FI" sz="1400" b="0" i="0" u="none" strike="noStrike" cap="none" normalizeH="0" baseline="0" dirty="0" err="1">
                <a:ln>
                  <a:noFill/>
                </a:ln>
                <a:solidFill>
                  <a:srgbClr val="871094"/>
                </a:solidFill>
                <a:effectLst/>
                <a:latin typeface="JetBrains Mono"/>
              </a:rPr>
              <a:t>length</a:t>
            </a:r>
            <a:r>
              <a:rPr kumimoji="0" lang="fi-FI" altLang="fi-FI" sz="1400" b="0" i="0" u="none" strike="noStrike" cap="none" normalizeH="0" baseline="0" dirty="0">
                <a:ln>
                  <a:noFill/>
                </a:ln>
                <a:solidFill>
                  <a:srgbClr val="871094"/>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1</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while</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0000"/>
                </a:solidFill>
                <a:effectLst/>
                <a:latin typeface="JetBrains Mono"/>
              </a:rPr>
              <a:t>high</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&gt;= </a:t>
            </a:r>
            <a:r>
              <a:rPr kumimoji="0" lang="fi-FI" altLang="fi-FI" sz="1400" b="0" i="0" u="none" strike="noStrike" cap="none" normalizeH="0" baseline="0" dirty="0" err="1">
                <a:ln>
                  <a:noFill/>
                </a:ln>
                <a:solidFill>
                  <a:srgbClr val="000000"/>
                </a:solidFill>
                <a:effectLst/>
                <a:latin typeface="JetBrains Mono"/>
              </a:rPr>
              <a:t>low</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low</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high</a:t>
            </a:r>
            <a:r>
              <a:rPr kumimoji="0" lang="fi-FI" altLang="fi-FI" sz="1400" b="0" i="0" u="none" strike="noStrike" cap="none" normalizeH="0" baseline="0" dirty="0">
                <a:ln>
                  <a:noFill/>
                </a:ln>
                <a:solidFill>
                  <a:srgbClr val="080808"/>
                </a:solidFill>
                <a:effectLst/>
                <a:latin typeface="JetBrains Mono"/>
              </a:rPr>
              <a:t>) / </a:t>
            </a:r>
            <a:r>
              <a:rPr kumimoji="0" lang="fi-FI" altLang="fi-FI" sz="1400" b="0" i="0" u="none" strike="noStrike" cap="none" normalizeH="0" baseline="0" dirty="0">
                <a:ln>
                  <a:noFill/>
                </a:ln>
                <a:solidFill>
                  <a:srgbClr val="1750EB"/>
                </a:solidFill>
                <a:effectLst/>
                <a:latin typeface="JetBrains Mono"/>
              </a:rPr>
              <a:t>2</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if</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000000"/>
                </a:solidFill>
                <a:effectLst/>
                <a:latin typeface="JetBrains Mono"/>
              </a:rPr>
              <a:t>data</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80808"/>
                </a:solidFill>
                <a:effectLst/>
                <a:latin typeface="JetBrains Mono"/>
              </a:rPr>
              <a:t>] == </a:t>
            </a:r>
            <a:r>
              <a:rPr kumimoji="0" lang="fi-FI" altLang="fi-FI" sz="1400" b="0" i="0" u="none" strike="noStrike" cap="none" normalizeH="0" baseline="0" dirty="0" err="1">
                <a:ln>
                  <a:noFill/>
                </a:ln>
                <a:solidFill>
                  <a:srgbClr val="000000"/>
                </a:solidFill>
                <a:effectLst/>
                <a:latin typeface="JetBrains Mono"/>
              </a:rPr>
              <a:t>key</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return</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if</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000000"/>
                </a:solidFill>
                <a:effectLst/>
                <a:latin typeface="JetBrains Mono"/>
              </a:rPr>
              <a:t>data</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80808"/>
                </a:solidFill>
                <a:effectLst/>
                <a:latin typeface="JetBrains Mono"/>
              </a:rPr>
              <a:t>] &lt; </a:t>
            </a:r>
            <a:r>
              <a:rPr kumimoji="0" lang="fi-FI" altLang="fi-FI" sz="1400" b="0" i="0" u="none" strike="noStrike" cap="none" normalizeH="0" baseline="0" dirty="0" err="1">
                <a:ln>
                  <a:noFill/>
                </a:ln>
                <a:solidFill>
                  <a:srgbClr val="000000"/>
                </a:solidFill>
                <a:effectLst/>
                <a:latin typeface="JetBrains Mono"/>
              </a:rPr>
              <a:t>key</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low</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1</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if</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000000"/>
                </a:solidFill>
                <a:effectLst/>
                <a:latin typeface="JetBrains Mono"/>
              </a:rPr>
              <a:t>data</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80808"/>
                </a:solidFill>
                <a:effectLst/>
                <a:latin typeface="JetBrains Mono"/>
              </a:rPr>
              <a:t>] &gt; </a:t>
            </a:r>
            <a:r>
              <a:rPr kumimoji="0" lang="fi-FI" altLang="fi-FI" sz="1400" b="0" i="0" u="none" strike="noStrike" cap="none" normalizeH="0" baseline="0" dirty="0" err="1">
                <a:ln>
                  <a:noFill/>
                </a:ln>
                <a:solidFill>
                  <a:srgbClr val="000000"/>
                </a:solidFill>
                <a:effectLst/>
                <a:latin typeface="JetBrains Mono"/>
              </a:rPr>
              <a:t>key</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high</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middle</a:t>
            </a:r>
            <a:r>
              <a:rPr kumimoji="0" lang="fi-FI" altLang="fi-FI" sz="1400" b="0" i="0" u="none" strike="noStrike" cap="none" normalizeH="0" baseline="0" dirty="0">
                <a:ln>
                  <a:noFill/>
                </a:ln>
                <a:solidFill>
                  <a:srgbClr val="000000"/>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1</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return</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1750EB"/>
                </a:solidFill>
                <a:effectLst/>
                <a:latin typeface="JetBrains Mono"/>
              </a:rPr>
              <a:t>1</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public</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static</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void</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a:ln>
                  <a:noFill/>
                </a:ln>
                <a:solidFill>
                  <a:srgbClr val="00627A"/>
                </a:solidFill>
                <a:effectLst/>
                <a:latin typeface="JetBrains Mono"/>
              </a:rPr>
              <a:t>main</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err="1">
                <a:ln>
                  <a:noFill/>
                </a:ln>
                <a:solidFill>
                  <a:srgbClr val="000000"/>
                </a:solidFill>
                <a:effectLst/>
                <a:latin typeface="JetBrains Mono"/>
              </a:rPr>
              <a:t>String</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args</a:t>
            </a: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000000"/>
                </a:solidFill>
                <a:effectLst/>
                <a:latin typeface="JetBrains Mono"/>
              </a:rPr>
              <a:t>data </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1</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4</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5</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6</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22</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44</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55</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77</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87</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87</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1750EB"/>
                </a:solidFill>
                <a:effectLst/>
                <a:latin typeface="JetBrains Mono"/>
              </a:rPr>
              <a:t>90</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33B3"/>
                </a:solidFill>
                <a:effectLst/>
                <a:latin typeface="JetBrains Mono"/>
              </a:rPr>
              <a:t>int</a:t>
            </a:r>
            <a:r>
              <a:rPr kumimoji="0" lang="fi-FI" altLang="fi-FI" sz="1400" b="0" i="0" u="none" strike="noStrike" cap="none" normalizeH="0" baseline="0" dirty="0">
                <a:ln>
                  <a:noFill/>
                </a:ln>
                <a:solidFill>
                  <a:srgbClr val="0033B3"/>
                </a:solidFill>
                <a:effectLst/>
                <a:latin typeface="JetBrains Mono"/>
              </a:rPr>
              <a:t> </a:t>
            </a:r>
            <a:r>
              <a:rPr kumimoji="0" lang="fi-FI" altLang="fi-FI" sz="1400" b="0" i="0" u="none" strike="noStrike" cap="none" normalizeH="0" baseline="0" dirty="0">
                <a:ln>
                  <a:noFill/>
                </a:ln>
                <a:solidFill>
                  <a:srgbClr val="000000"/>
                </a:solidFill>
                <a:effectLst/>
                <a:latin typeface="JetBrains Mono"/>
              </a:rPr>
              <a:t>paikka </a:t>
            </a:r>
            <a:r>
              <a:rPr kumimoji="0" lang="fi-FI" altLang="fi-FI" sz="1400" b="0" i="0" u="none" strike="noStrike" cap="none" normalizeH="0" baseline="0" dirty="0">
                <a:ln>
                  <a:noFill/>
                </a:ln>
                <a:solidFill>
                  <a:srgbClr val="080808"/>
                </a:solidFill>
                <a:effectLst/>
                <a:latin typeface="JetBrains Mono"/>
              </a:rPr>
              <a:t>= </a:t>
            </a:r>
            <a:r>
              <a:rPr kumimoji="0" lang="fi-FI" altLang="fi-FI" sz="1400" b="0" i="1" u="none" strike="noStrike" cap="none" normalizeH="0" baseline="0" dirty="0" err="1">
                <a:ln>
                  <a:noFill/>
                </a:ln>
                <a:solidFill>
                  <a:srgbClr val="080808"/>
                </a:solidFill>
                <a:effectLst/>
                <a:latin typeface="JetBrains Mono"/>
              </a:rPr>
              <a:t>binarySearch</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1750EB"/>
                </a:solidFill>
                <a:effectLst/>
                <a:latin typeface="JetBrains Mono"/>
              </a:rPr>
              <a:t>6</a:t>
            </a: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a:ln>
                  <a:noFill/>
                </a:ln>
                <a:solidFill>
                  <a:srgbClr val="000000"/>
                </a:solidFill>
                <a:effectLst/>
                <a:latin typeface="JetBrains Mono"/>
              </a:rPr>
              <a:t>data</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r>
              <a:rPr kumimoji="0" lang="fi-FI" altLang="fi-FI" sz="1400" b="0" i="0" u="none" strike="noStrike" cap="none" normalizeH="0" baseline="0" dirty="0" err="1">
                <a:ln>
                  <a:noFill/>
                </a:ln>
                <a:solidFill>
                  <a:srgbClr val="000000"/>
                </a:solidFill>
                <a:effectLst/>
                <a:latin typeface="JetBrains Mono"/>
              </a:rPr>
              <a:t>System</a:t>
            </a:r>
            <a:r>
              <a:rPr kumimoji="0" lang="fi-FI" altLang="fi-FI" sz="1400" b="0" i="0" u="none" strike="noStrike" cap="none" normalizeH="0" baseline="0" dirty="0" err="1">
                <a:ln>
                  <a:noFill/>
                </a:ln>
                <a:solidFill>
                  <a:srgbClr val="080808"/>
                </a:solidFill>
                <a:effectLst/>
                <a:latin typeface="JetBrains Mono"/>
              </a:rPr>
              <a:t>.</a:t>
            </a:r>
            <a:r>
              <a:rPr kumimoji="0" lang="fi-FI" altLang="fi-FI" sz="1400" b="0" i="1" u="none" strike="noStrike" cap="none" normalizeH="0" baseline="0" dirty="0" err="1">
                <a:ln>
                  <a:noFill/>
                </a:ln>
                <a:solidFill>
                  <a:srgbClr val="871094"/>
                </a:solidFill>
                <a:effectLst/>
                <a:latin typeface="JetBrains Mono"/>
              </a:rPr>
              <a:t>out</a:t>
            </a:r>
            <a:r>
              <a:rPr kumimoji="0" lang="fi-FI" altLang="fi-FI" sz="1400" b="0" i="0" u="none" strike="noStrike" cap="none" normalizeH="0" baseline="0" dirty="0" err="1">
                <a:ln>
                  <a:noFill/>
                </a:ln>
                <a:solidFill>
                  <a:srgbClr val="080808"/>
                </a:solidFill>
                <a:effectLst/>
                <a:latin typeface="JetBrains Mono"/>
              </a:rPr>
              <a:t>.println</a:t>
            </a:r>
            <a:r>
              <a:rPr kumimoji="0" lang="fi-FI" altLang="fi-FI" sz="1400" b="0" i="0" u="none" strike="noStrike" cap="none" normalizeH="0" baseline="0" dirty="0">
                <a:ln>
                  <a:noFill/>
                </a:ln>
                <a:solidFill>
                  <a:srgbClr val="080808"/>
                </a:solidFill>
                <a:effectLst/>
                <a:latin typeface="JetBrains Mono"/>
              </a:rPr>
              <a:t>(</a:t>
            </a:r>
            <a:r>
              <a:rPr kumimoji="0" lang="fi-FI" altLang="fi-FI" sz="1400" b="0" i="0" u="none" strike="noStrike" cap="none" normalizeH="0" baseline="0" dirty="0">
                <a:ln>
                  <a:noFill/>
                </a:ln>
                <a:solidFill>
                  <a:srgbClr val="000000"/>
                </a:solidFill>
                <a:effectLst/>
                <a:latin typeface="JetBrains Mono"/>
              </a:rPr>
              <a:t>paikka</a:t>
            </a:r>
            <a:r>
              <a:rPr kumimoji="0" lang="fi-FI" altLang="fi-FI" sz="1400" b="0" i="0" u="none" strike="noStrike" cap="none" normalizeH="0" baseline="0" dirty="0">
                <a:ln>
                  <a:noFill/>
                </a:ln>
                <a:solidFill>
                  <a:srgbClr val="080808"/>
                </a:solidFill>
                <a:effectLst/>
                <a:latin typeface="JetBrains Mono"/>
              </a:rPr>
              <a:t>);</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    }</a:t>
            </a:r>
            <a:br>
              <a:rPr kumimoji="0" lang="fi-FI" altLang="fi-FI" sz="1400" b="0" i="0" u="none" strike="noStrike" cap="none" normalizeH="0" baseline="0" dirty="0">
                <a:ln>
                  <a:noFill/>
                </a:ln>
                <a:solidFill>
                  <a:srgbClr val="080808"/>
                </a:solidFill>
                <a:effectLst/>
                <a:latin typeface="JetBrains Mono"/>
              </a:rPr>
            </a:br>
            <a:r>
              <a:rPr kumimoji="0" lang="fi-FI" altLang="fi-FI" sz="1400" b="0" i="0" u="none" strike="noStrike" cap="none" normalizeH="0" baseline="0" dirty="0">
                <a:ln>
                  <a:noFill/>
                </a:ln>
                <a:solidFill>
                  <a:srgbClr val="080808"/>
                </a:solidFill>
                <a:effectLst/>
                <a:latin typeface="JetBrains Mono"/>
              </a:rPr>
              <a:t>}</a:t>
            </a:r>
            <a:endParaRPr kumimoji="0" lang="fi-FI" altLang="fi-FI"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086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5408D-B30F-79F2-AA87-029269AEA60E}"/>
              </a:ext>
            </a:extLst>
          </p:cNvPr>
          <p:cNvSpPr>
            <a:spLocks noGrp="1"/>
          </p:cNvSpPr>
          <p:nvPr>
            <p:ph type="title"/>
          </p:nvPr>
        </p:nvSpPr>
        <p:spPr/>
        <p:txBody>
          <a:bodyPr/>
          <a:lstStyle/>
          <a:p>
            <a:r>
              <a:rPr lang="fi-FI" dirty="0">
                <a:solidFill>
                  <a:srgbClr val="FF0000"/>
                </a:solidFill>
              </a:rPr>
              <a:t>Tehtävä</a:t>
            </a:r>
          </a:p>
        </p:txBody>
      </p:sp>
      <p:sp>
        <p:nvSpPr>
          <p:cNvPr id="3" name="Content Placeholder 2">
            <a:extLst>
              <a:ext uri="{FF2B5EF4-FFF2-40B4-BE49-F238E27FC236}">
                <a16:creationId xmlns:a16="http://schemas.microsoft.com/office/drawing/2014/main" id="{E3AC22DE-7D10-8393-2D78-DE407A5E82FD}"/>
              </a:ext>
            </a:extLst>
          </p:cNvPr>
          <p:cNvSpPr>
            <a:spLocks noGrp="1"/>
          </p:cNvSpPr>
          <p:nvPr>
            <p:ph idx="1"/>
          </p:nvPr>
        </p:nvSpPr>
        <p:spPr/>
        <p:txBody>
          <a:bodyPr/>
          <a:lstStyle/>
          <a:p>
            <a:r>
              <a:rPr lang="fi-FI" altLang="fi-FI" dirty="0"/>
              <a:t>Tee sovellus, joka luo taulukkoon 1000000 satunnaislukua välillä 0-999999.</a:t>
            </a:r>
          </a:p>
          <a:p>
            <a:r>
              <a:rPr lang="fi-FI" altLang="fi-FI" dirty="0"/>
              <a:t>Järjestä taulukko nousevaan järjestykseen.</a:t>
            </a:r>
          </a:p>
          <a:p>
            <a:r>
              <a:rPr lang="fi-FI" altLang="fi-FI" dirty="0"/>
              <a:t>1. Tee metodi lineaarista hakua varten. Mittaa metodin suoritusaika.</a:t>
            </a:r>
          </a:p>
          <a:p>
            <a:r>
              <a:rPr lang="fi-FI" altLang="fi-FI" dirty="0"/>
              <a:t>2. Tee metodi binäärihakua varten. Mittaa metodin suoritusaika.</a:t>
            </a:r>
          </a:p>
          <a:p>
            <a:r>
              <a:rPr lang="fi-FI" altLang="fi-FI" dirty="0"/>
              <a:t>3. Kokeile </a:t>
            </a:r>
            <a:r>
              <a:rPr lang="fi-FI" altLang="fi-FI" dirty="0" err="1"/>
              <a:t>Arrays.binarySearch</a:t>
            </a:r>
            <a:r>
              <a:rPr lang="fi-FI" altLang="fi-FI" dirty="0"/>
              <a:t>-metodia. Mittaa metodin suoritusaika.</a:t>
            </a:r>
          </a:p>
          <a:p>
            <a:endParaRPr lang="fi-FI" altLang="fi-FI" dirty="0"/>
          </a:p>
          <a:p>
            <a:r>
              <a:rPr lang="fi-FI" altLang="fi-FI" dirty="0"/>
              <a:t>Päteekö metodien 1 ja 2 välillä teoria, että lineaarinen haku on luokkaa O(n) ja binäärihaku on luokkaa O(</a:t>
            </a:r>
            <a:r>
              <a:rPr lang="fi-FI" altLang="fi-FI" sz="2800" dirty="0"/>
              <a:t>l</a:t>
            </a:r>
            <a:r>
              <a:rPr lang="fi-FI" altLang="fi-FI" sz="2800" dirty="0">
                <a:highlight>
                  <a:srgbClr val="FFFF00"/>
                </a:highlight>
              </a:rPr>
              <a:t>og</a:t>
            </a:r>
            <a:r>
              <a:rPr lang="fi-FI" altLang="fi-FI" sz="2800" baseline="-25000" dirty="0">
                <a:highlight>
                  <a:srgbClr val="FFFF00"/>
                </a:highlight>
              </a:rPr>
              <a:t>2</a:t>
            </a:r>
            <a:r>
              <a:rPr lang="fi-FI" altLang="fi-FI" sz="2800" dirty="0">
                <a:highlight>
                  <a:srgbClr val="FFFF00"/>
                </a:highlight>
              </a:rPr>
              <a:t>N</a:t>
            </a:r>
            <a:r>
              <a:rPr lang="fi-FI" altLang="fi-FI" sz="2800" dirty="0"/>
              <a:t>)?</a:t>
            </a:r>
          </a:p>
        </p:txBody>
      </p:sp>
    </p:spTree>
    <p:extLst>
      <p:ext uri="{BB962C8B-B14F-4D97-AF65-F5344CB8AC3E}">
        <p14:creationId xmlns:p14="http://schemas.microsoft.com/office/powerpoint/2010/main" val="6413493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3A14-A7F2-D909-7280-DB20463E6ED0}"/>
              </a:ext>
            </a:extLst>
          </p:cNvPr>
          <p:cNvSpPr>
            <a:spLocks noGrp="1"/>
          </p:cNvSpPr>
          <p:nvPr>
            <p:ph type="ctrTitle"/>
          </p:nvPr>
        </p:nvSpPr>
        <p:spPr/>
        <p:txBody>
          <a:bodyPr/>
          <a:lstStyle/>
          <a:p>
            <a:r>
              <a:rPr lang="fi-FI" dirty="0"/>
              <a:t>Järjestämisalgoritmit</a:t>
            </a:r>
          </a:p>
        </p:txBody>
      </p:sp>
      <p:sp>
        <p:nvSpPr>
          <p:cNvPr id="3" name="Subtitle 2">
            <a:extLst>
              <a:ext uri="{FF2B5EF4-FFF2-40B4-BE49-F238E27FC236}">
                <a16:creationId xmlns:a16="http://schemas.microsoft.com/office/drawing/2014/main" id="{61DE272F-17DB-17B6-8611-71B11F19ACF2}"/>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2733575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Järjestäminen</a:t>
            </a:r>
          </a:p>
        </p:txBody>
      </p:sp>
      <p:sp>
        <p:nvSpPr>
          <p:cNvPr id="38915" name="Rectangle 3"/>
          <p:cNvSpPr>
            <a:spLocks noChangeArrowheads="1"/>
          </p:cNvSpPr>
          <p:nvPr/>
        </p:nvSpPr>
        <p:spPr bwMode="auto">
          <a:xfrm>
            <a:off x="834081" y="1600201"/>
            <a:ext cx="1056502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2400" dirty="0"/>
              <a:t>Järjestäminen eli lajittelu on tietojenkäsittelyn perusasioita. Sovelluksia on lukemattomia:</a:t>
            </a:r>
          </a:p>
          <a:p>
            <a:pPr lvl="1" eaLnBrk="1" hangingPunct="1"/>
            <a:r>
              <a:rPr lang="fi-FI" altLang="fi-FI" sz="2000" dirty="0"/>
              <a:t>Henkilörekisterit</a:t>
            </a:r>
          </a:p>
          <a:p>
            <a:pPr lvl="1" eaLnBrk="1" hangingPunct="1"/>
            <a:r>
              <a:rPr lang="fi-FI" altLang="fi-FI" sz="2000" dirty="0"/>
              <a:t>Opintosuoritukset</a:t>
            </a:r>
          </a:p>
          <a:p>
            <a:pPr lvl="1" eaLnBrk="1" hangingPunct="1"/>
            <a:r>
              <a:rPr lang="fi-FI" altLang="fi-FI" sz="2000" dirty="0"/>
              <a:t>Tilitapahtumat, </a:t>
            </a:r>
            <a:r>
              <a:rPr lang="fi-FI" altLang="fi-FI" sz="2000" dirty="0" err="1"/>
              <a:t>jne</a:t>
            </a:r>
            <a:endParaRPr lang="fi-FI" altLang="fi-FI" sz="2000" dirty="0"/>
          </a:p>
          <a:p>
            <a:pPr eaLnBrk="1" hangingPunct="1"/>
            <a:r>
              <a:rPr lang="fi-FI" altLang="fi-FI" sz="2400" dirty="0"/>
              <a:t>Perusajatukset</a:t>
            </a:r>
          </a:p>
          <a:p>
            <a:pPr lvl="1" eaLnBrk="1" hangingPunct="1"/>
            <a:r>
              <a:rPr lang="fi-FI" altLang="fi-FI" sz="2000" dirty="0"/>
              <a:t>Järjestetään tiedostoja, jotka koostuvat tietueista</a:t>
            </a:r>
          </a:p>
          <a:p>
            <a:pPr lvl="1" eaLnBrk="1" hangingPunct="1"/>
            <a:r>
              <a:rPr lang="fi-FI" altLang="fi-FI" sz="2000" dirty="0"/>
              <a:t>Jokaisessa tietueessa on yksi tai useampi avain, jonka perusteella järjestetään</a:t>
            </a:r>
          </a:p>
          <a:p>
            <a:pPr lvl="1" eaLnBrk="1" hangingPunct="1"/>
            <a:r>
              <a:rPr lang="fi-FI" altLang="fi-FI" sz="2000" dirty="0"/>
              <a:t>Jos järjestetään keskusmuistissa, on kyse sisäisestä järjestämisestä.</a:t>
            </a:r>
          </a:p>
          <a:p>
            <a:pPr lvl="1" eaLnBrk="1" hangingPunct="1"/>
            <a:r>
              <a:rPr lang="fi-FI" altLang="fi-FI" sz="2000" dirty="0"/>
              <a:t>Jos järjestetään levyllä (tiedot ei mahdu keskusmuistiin), on kyse ulkoisesta järjestämisestä</a:t>
            </a:r>
          </a:p>
        </p:txBody>
      </p:sp>
    </p:spTree>
    <p:extLst>
      <p:ext uri="{BB962C8B-B14F-4D97-AF65-F5344CB8AC3E}">
        <p14:creationId xmlns:p14="http://schemas.microsoft.com/office/powerpoint/2010/main" val="3483691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Yksinkertaiset menetelmät</a:t>
            </a:r>
          </a:p>
        </p:txBody>
      </p:sp>
      <p:sp>
        <p:nvSpPr>
          <p:cNvPr id="39939"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2400" dirty="0"/>
              <a:t>Järjestämisen perusmenetelmät perustuvat vierekkäisten alkioiden vertailuun ja niiden vaihtamiseen keskenään.</a:t>
            </a:r>
          </a:p>
          <a:p>
            <a:pPr eaLnBrk="1" hangingPunct="1"/>
            <a:r>
              <a:rPr lang="fi-FI" altLang="fi-FI" sz="2400" dirty="0"/>
              <a:t>Yksinkertaisia järjestämisalgoritmeja ovat</a:t>
            </a:r>
          </a:p>
          <a:p>
            <a:pPr lvl="1" eaLnBrk="1" hangingPunct="1"/>
            <a:r>
              <a:rPr lang="fi-FI" altLang="fi-FI" sz="2400" dirty="0"/>
              <a:t>Valintajärjestäminen (</a:t>
            </a:r>
            <a:r>
              <a:rPr lang="fi-FI" altLang="fi-FI" sz="2400" dirty="0" err="1"/>
              <a:t>selection</a:t>
            </a:r>
            <a:r>
              <a:rPr lang="fi-FI" altLang="fi-FI" sz="2400" dirty="0"/>
              <a:t> </a:t>
            </a:r>
            <a:r>
              <a:rPr lang="fi-FI" altLang="fi-FI" sz="2400" dirty="0" err="1"/>
              <a:t>sort</a:t>
            </a:r>
            <a:r>
              <a:rPr lang="fi-FI" altLang="fi-FI" sz="2400" dirty="0"/>
              <a:t>)</a:t>
            </a:r>
          </a:p>
          <a:p>
            <a:pPr lvl="1" eaLnBrk="1" hangingPunct="1"/>
            <a:r>
              <a:rPr lang="fi-FI" altLang="fi-FI" sz="2400" dirty="0"/>
              <a:t>Lisäysjärjestäminen (</a:t>
            </a:r>
            <a:r>
              <a:rPr lang="fi-FI" altLang="fi-FI" sz="2400" dirty="0" err="1"/>
              <a:t>insertion</a:t>
            </a:r>
            <a:r>
              <a:rPr lang="fi-FI" altLang="fi-FI" sz="2400" dirty="0"/>
              <a:t> </a:t>
            </a:r>
            <a:r>
              <a:rPr lang="fi-FI" altLang="fi-FI" sz="2400" dirty="0" err="1"/>
              <a:t>sort</a:t>
            </a:r>
            <a:r>
              <a:rPr lang="fi-FI" altLang="fi-FI" sz="2400" dirty="0"/>
              <a:t>)</a:t>
            </a:r>
          </a:p>
          <a:p>
            <a:pPr lvl="1" eaLnBrk="1" hangingPunct="1"/>
            <a:r>
              <a:rPr lang="fi-FI" altLang="fi-FI" sz="2400" dirty="0"/>
              <a:t>Kuplajärjestäminen (</a:t>
            </a:r>
            <a:r>
              <a:rPr lang="fi-FI" altLang="fi-FI" sz="2400" dirty="0" err="1"/>
              <a:t>bubble</a:t>
            </a:r>
            <a:r>
              <a:rPr lang="fi-FI" altLang="fi-FI" sz="2400" dirty="0"/>
              <a:t> </a:t>
            </a:r>
            <a:r>
              <a:rPr lang="fi-FI" altLang="fi-FI" sz="2400" dirty="0" err="1"/>
              <a:t>sort</a:t>
            </a:r>
            <a:r>
              <a:rPr lang="fi-FI" altLang="fi-FI" sz="2400" dirty="0"/>
              <a:t>)</a:t>
            </a:r>
          </a:p>
          <a:p>
            <a:r>
              <a:rPr lang="fi-FI" altLang="fi-FI" sz="2400" dirty="0" err="1"/>
              <a:t>Järjestestämisalgoritmien</a:t>
            </a:r>
            <a:r>
              <a:rPr lang="fi-FI" altLang="fi-FI" sz="2400" dirty="0"/>
              <a:t> ohjelmakoodit eri ohjelmointikielillä löytyvät sivulta</a:t>
            </a:r>
          </a:p>
          <a:p>
            <a:pPr lvl="1"/>
            <a:r>
              <a:rPr lang="fi-FI" altLang="fi-FI" sz="2400" dirty="0">
                <a:hlinkClick r:id="rId2"/>
              </a:rPr>
              <a:t>https://www.geeksforgeeks.org/sorting-algorithms/?ref=shm</a:t>
            </a:r>
            <a:r>
              <a:rPr lang="fi-FI" altLang="fi-FI" sz="2400" dirty="0"/>
              <a:t> </a:t>
            </a:r>
          </a:p>
        </p:txBody>
      </p:sp>
    </p:spTree>
    <p:extLst>
      <p:ext uri="{BB962C8B-B14F-4D97-AF65-F5344CB8AC3E}">
        <p14:creationId xmlns:p14="http://schemas.microsoft.com/office/powerpoint/2010/main" val="3818571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Valintajärjestäminen</a:t>
            </a:r>
          </a:p>
        </p:txBody>
      </p:sp>
      <p:sp>
        <p:nvSpPr>
          <p:cNvPr id="40963"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2400" dirty="0" err="1"/>
              <a:t>Selection</a:t>
            </a:r>
            <a:r>
              <a:rPr lang="fi-FI" altLang="fi-FI" sz="2400" dirty="0"/>
              <a:t> </a:t>
            </a:r>
            <a:r>
              <a:rPr lang="fi-FI" altLang="fi-FI" sz="2400" dirty="0" err="1"/>
              <a:t>sort</a:t>
            </a:r>
            <a:endParaRPr lang="fi-FI" altLang="fi-FI" sz="2400" dirty="0"/>
          </a:p>
          <a:p>
            <a:pPr lvl="1" eaLnBrk="1" hangingPunct="1"/>
            <a:r>
              <a:rPr lang="fi-FI" altLang="fi-FI" sz="2400" dirty="0"/>
              <a:t>Etsitään joukosta pienin alkio ja sijoitetaan se taulukon alkuun vaihtamalla sen paikka 1. alkion kanssa. Seuraavaksi etsitään jäljellä olevasta osuudesta taulukon pienin alkio ja vaihdetaan se 2. alkion kanssa jne.</a:t>
            </a:r>
          </a:p>
          <a:p>
            <a:pPr lvl="1" eaLnBrk="1" hangingPunct="1"/>
            <a:r>
              <a:rPr lang="fi-FI" altLang="fi-FI" sz="2400" dirty="0"/>
              <a:t>Vertailuja tarvitaan N</a:t>
            </a:r>
            <a:r>
              <a:rPr lang="fi-FI" altLang="fi-FI" sz="2400" baseline="30000" dirty="0"/>
              <a:t>2</a:t>
            </a:r>
            <a:r>
              <a:rPr lang="fi-FI" altLang="fi-FI" sz="2400" dirty="0"/>
              <a:t>/2 kappaletta</a:t>
            </a:r>
          </a:p>
          <a:p>
            <a:pPr lvl="1" eaLnBrk="1" hangingPunct="1"/>
            <a:r>
              <a:rPr lang="fi-FI" altLang="fi-FI" sz="2400" dirty="0">
                <a:hlinkClick r:id="rId2"/>
              </a:rPr>
              <a:t>https://www.geeksforgeeks.org/selection-sort/</a:t>
            </a:r>
            <a:r>
              <a:rPr lang="fi-FI" altLang="fi-FI" sz="2400" dirty="0"/>
              <a:t> </a:t>
            </a:r>
          </a:p>
        </p:txBody>
      </p:sp>
    </p:spTree>
    <p:extLst>
      <p:ext uri="{BB962C8B-B14F-4D97-AF65-F5344CB8AC3E}">
        <p14:creationId xmlns:p14="http://schemas.microsoft.com/office/powerpoint/2010/main" val="495393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2"/>
          <p:cNvGraphicFramePr>
            <a:graphicFrameLocks noChangeAspect="1"/>
          </p:cNvGraphicFramePr>
          <p:nvPr/>
        </p:nvGraphicFramePr>
        <p:xfrm>
          <a:off x="5448300" y="188914"/>
          <a:ext cx="4559300" cy="6480175"/>
        </p:xfrm>
        <a:graphic>
          <a:graphicData uri="http://schemas.openxmlformats.org/presentationml/2006/ole">
            <mc:AlternateContent xmlns:mc="http://schemas.openxmlformats.org/markup-compatibility/2006">
              <mc:Choice xmlns:v="urn:schemas-microsoft-com:vml" Requires="v">
                <p:oleObj name="Bitmap Image" r:id="rId2" imgW="3685714" imgH="5238095" progId="Paint.Picture">
                  <p:embed/>
                </p:oleObj>
              </mc:Choice>
              <mc:Fallback>
                <p:oleObj name="Bitmap Image" r:id="rId2" imgW="3685714" imgH="5238095" progId="Paint.Picture">
                  <p:embed/>
                  <p:pic>
                    <p:nvPicPr>
                      <p:cNvPr id="419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8300" y="188914"/>
                        <a:ext cx="4559300"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7" name="Rectangle 3"/>
          <p:cNvSpPr>
            <a:spLocks noChangeArrowheads="1"/>
          </p:cNvSpPr>
          <p:nvPr/>
        </p:nvSpPr>
        <p:spPr bwMode="auto">
          <a:xfrm>
            <a:off x="1703389" y="1125538"/>
            <a:ext cx="41052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dirty="0">
                <a:solidFill>
                  <a:schemeClr val="accent2"/>
                </a:solidFill>
              </a:rPr>
              <a:t>Valinta-järjestäminen</a:t>
            </a:r>
          </a:p>
        </p:txBody>
      </p:sp>
      <p:sp>
        <p:nvSpPr>
          <p:cNvPr id="3" name="TextBox 2">
            <a:extLst>
              <a:ext uri="{FF2B5EF4-FFF2-40B4-BE49-F238E27FC236}">
                <a16:creationId xmlns:a16="http://schemas.microsoft.com/office/drawing/2014/main" id="{A928C3BC-40F5-94DC-BBB4-CDD5C101E979}"/>
              </a:ext>
            </a:extLst>
          </p:cNvPr>
          <p:cNvSpPr txBox="1"/>
          <p:nvPr/>
        </p:nvSpPr>
        <p:spPr>
          <a:xfrm>
            <a:off x="415496" y="3205162"/>
            <a:ext cx="6094970" cy="369332"/>
          </a:xfrm>
          <a:prstGeom prst="rect">
            <a:avLst/>
          </a:prstGeom>
          <a:noFill/>
        </p:spPr>
        <p:txBody>
          <a:bodyPr wrap="square">
            <a:spAutoFit/>
          </a:bodyPr>
          <a:lstStyle/>
          <a:p>
            <a:pPr lvl="1" eaLnBrk="1" hangingPunct="1"/>
            <a:r>
              <a:rPr lang="fi-FI" altLang="fi-FI" sz="1800" dirty="0">
                <a:hlinkClick r:id="rId4"/>
              </a:rPr>
              <a:t>https://www.geeksforgeeks.org/selection-sort/</a:t>
            </a:r>
            <a:r>
              <a:rPr lang="fi-FI" altLang="fi-FI" sz="1800" dirty="0"/>
              <a:t> </a:t>
            </a:r>
          </a:p>
        </p:txBody>
      </p:sp>
    </p:spTree>
    <p:extLst>
      <p:ext uri="{BB962C8B-B14F-4D97-AF65-F5344CB8AC3E}">
        <p14:creationId xmlns:p14="http://schemas.microsoft.com/office/powerpoint/2010/main" val="3672378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Lisäysjärjestäminen</a:t>
            </a:r>
          </a:p>
        </p:txBody>
      </p:sp>
      <p:sp>
        <p:nvSpPr>
          <p:cNvPr id="44035"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2100" dirty="0"/>
              <a:t>Java-ohjelmointi, 10.1.3</a:t>
            </a:r>
          </a:p>
          <a:p>
            <a:pPr eaLnBrk="1" hangingPunct="1"/>
            <a:r>
              <a:rPr lang="fi-FI" altLang="fi-FI" sz="2100" dirty="0" err="1"/>
              <a:t>Insertion</a:t>
            </a:r>
            <a:r>
              <a:rPr lang="fi-FI" altLang="fi-FI" sz="2100" dirty="0"/>
              <a:t> </a:t>
            </a:r>
            <a:r>
              <a:rPr lang="fi-FI" altLang="fi-FI" sz="2100" dirty="0" err="1"/>
              <a:t>sort</a:t>
            </a:r>
            <a:endParaRPr lang="fi-FI" altLang="fi-FI" sz="2100" dirty="0"/>
          </a:p>
          <a:p>
            <a:pPr lvl="1" eaLnBrk="1" hangingPunct="1"/>
            <a:r>
              <a:rPr lang="fi-FI" altLang="fi-FI" sz="2200" dirty="0"/>
              <a:t>Järjestettävä aineisto jakautuu kahteen osaan, jo järjestettyyn osaan ja sen jälkeiseen järjestämättömään osaan</a:t>
            </a:r>
          </a:p>
          <a:p>
            <a:pPr eaLnBrk="1" hangingPunct="1"/>
            <a:r>
              <a:rPr lang="fi-FI" altLang="fi-FI" sz="2100" dirty="0"/>
              <a:t>Joka askeleella otetaan järjestämättömän osan ensimmäinen alkio, verrataan sitä askel askeleelta järjestettyyn osaan, kunnes oikea kohta löytyy. Alkio sijoitetaan tähän väliin, jolloin järjestynyt osa on kasvanut yhdellä</a:t>
            </a:r>
          </a:p>
          <a:p>
            <a:pPr eaLnBrk="1" hangingPunct="1"/>
            <a:r>
              <a:rPr lang="fi-FI" altLang="fi-FI" sz="2100" dirty="0"/>
              <a:t>Lisäysjärjestämistä käytetään usein manuaalisessa lajittelussa</a:t>
            </a:r>
          </a:p>
        </p:txBody>
      </p:sp>
    </p:spTree>
    <p:extLst>
      <p:ext uri="{BB962C8B-B14F-4D97-AF65-F5344CB8AC3E}">
        <p14:creationId xmlns:p14="http://schemas.microsoft.com/office/powerpoint/2010/main" val="3565174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Kuplalajittelu</a:t>
            </a:r>
          </a:p>
        </p:txBody>
      </p:sp>
      <p:sp>
        <p:nvSpPr>
          <p:cNvPr id="45059"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1900"/>
              <a:t>Java-ohjelmointi 10.1.1</a:t>
            </a:r>
          </a:p>
          <a:p>
            <a:pPr eaLnBrk="1" hangingPunct="1"/>
            <a:r>
              <a:rPr lang="fi-FI" altLang="fi-FI" sz="1900"/>
              <a:t>Bubble sort</a:t>
            </a:r>
          </a:p>
          <a:p>
            <a:pPr lvl="1" eaLnBrk="1" hangingPunct="1"/>
            <a:r>
              <a:rPr lang="fi-FI" altLang="fi-FI" sz="1700"/>
              <a:t>Verrataan kahta vierekkäistä taulukon alkiota ja vaihdetaan tarvittaessa niiden paikkaa. Tällöin suurin alkio ”kuplii” taulukon loppuun. Sitten toistetaan sama yhtä pienemmälle joukolle</a:t>
            </a:r>
          </a:p>
          <a:p>
            <a:pPr lvl="1" eaLnBrk="1" hangingPunct="1"/>
            <a:r>
              <a:rPr lang="fi-FI" altLang="fi-FI" sz="1700"/>
              <a:t>Kuplalajittelu on tehottomin perusmenetelmä, sitä ei kannata käyttää</a:t>
            </a:r>
          </a:p>
          <a:p>
            <a:pPr lvl="1" eaLnBrk="1" hangingPunct="1">
              <a:buFont typeface="Wingdings" panose="05000000000000000000" pitchFamily="2" charset="2"/>
              <a:buNone/>
            </a:pPr>
            <a:endParaRPr lang="fi-FI" altLang="fi-FI" sz="1700"/>
          </a:p>
        </p:txBody>
      </p:sp>
      <p:graphicFrame>
        <p:nvGraphicFramePr>
          <p:cNvPr id="45060" name="Object 4"/>
          <p:cNvGraphicFramePr>
            <a:graphicFrameLocks noChangeAspect="1"/>
          </p:cNvGraphicFramePr>
          <p:nvPr/>
        </p:nvGraphicFramePr>
        <p:xfrm>
          <a:off x="6172200" y="3505201"/>
          <a:ext cx="4033838" cy="3051175"/>
        </p:xfrm>
        <a:graphic>
          <a:graphicData uri="http://schemas.openxmlformats.org/presentationml/2006/ole">
            <mc:AlternateContent xmlns:mc="http://schemas.openxmlformats.org/markup-compatibility/2006">
              <mc:Choice xmlns:v="urn:schemas-microsoft-com:vml" Requires="v">
                <p:oleObj name="Bitmap Image" r:id="rId2" imgW="2580952" imgH="1952898" progId="Paint.Picture">
                  <p:embed/>
                </p:oleObj>
              </mc:Choice>
              <mc:Fallback>
                <p:oleObj name="Bitmap Image" r:id="rId2" imgW="2580952" imgH="1952898" progId="Paint.Picture">
                  <p:embed/>
                  <p:pic>
                    <p:nvPicPr>
                      <p:cNvPr id="450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505201"/>
                        <a:ext cx="4033838" cy="305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576024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fi-FI" altLang="fi-FI"/>
              <a:t>Harjoitus</a:t>
            </a:r>
          </a:p>
        </p:txBody>
      </p:sp>
      <p:sp>
        <p:nvSpPr>
          <p:cNvPr id="46083" name="Rectangle 3"/>
          <p:cNvSpPr>
            <a:spLocks noGrp="1" noChangeArrowheads="1"/>
          </p:cNvSpPr>
          <p:nvPr>
            <p:ph type="body" idx="1"/>
          </p:nvPr>
        </p:nvSpPr>
        <p:spPr/>
        <p:txBody>
          <a:bodyPr/>
          <a:lstStyle/>
          <a:p>
            <a:pPr eaLnBrk="1" hangingPunct="1"/>
            <a:r>
              <a:rPr lang="fi-FI" altLang="fi-FI" sz="2400" dirty="0"/>
              <a:t>Tee ohjelma, joka generoi 1000 satunnaista lukua ja laittaa ne taulukkoon.</a:t>
            </a:r>
          </a:p>
          <a:p>
            <a:pPr eaLnBrk="1" hangingPunct="1"/>
            <a:r>
              <a:rPr lang="fi-FI" altLang="fi-FI" sz="2400" dirty="0"/>
              <a:t>Kokeile järjestää taulukko valintajärjestämisellä</a:t>
            </a:r>
          </a:p>
          <a:p>
            <a:pPr eaLnBrk="1" hangingPunct="1"/>
            <a:endParaRPr lang="fi-FI" altLang="fi-FI" sz="2400" dirty="0"/>
          </a:p>
          <a:p>
            <a:pPr eaLnBrk="1" hangingPunct="1"/>
            <a:endParaRPr lang="fi-FI" altLang="fi-FI" sz="2400" dirty="0"/>
          </a:p>
          <a:p>
            <a:pPr lvl="2" eaLnBrk="1" hangingPunct="1"/>
            <a:endParaRPr lang="fi-FI" altLang="fi-FI" sz="1800" dirty="0"/>
          </a:p>
        </p:txBody>
      </p:sp>
    </p:spTree>
    <p:extLst>
      <p:ext uri="{BB962C8B-B14F-4D97-AF65-F5344CB8AC3E}">
        <p14:creationId xmlns:p14="http://schemas.microsoft.com/office/powerpoint/2010/main" val="3751989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fi-FI" altLang="fi-FI"/>
              <a:t>Nopeusvertailua (mitattu)</a:t>
            </a:r>
          </a:p>
        </p:txBody>
      </p:sp>
      <p:sp>
        <p:nvSpPr>
          <p:cNvPr id="47107" name="Rectangle 3"/>
          <p:cNvSpPr>
            <a:spLocks noGrp="1" noChangeArrowheads="1"/>
          </p:cNvSpPr>
          <p:nvPr>
            <p:ph type="body" idx="1"/>
          </p:nvPr>
        </p:nvSpPr>
        <p:spPr/>
        <p:txBody>
          <a:bodyPr/>
          <a:lstStyle/>
          <a:p>
            <a:pPr eaLnBrk="1" hangingPunct="1">
              <a:lnSpc>
                <a:spcPct val="80000"/>
              </a:lnSpc>
            </a:pPr>
            <a:r>
              <a:rPr lang="fi-FI" altLang="fi-FI" sz="2100" dirty="0"/>
              <a:t>N=100 000</a:t>
            </a:r>
          </a:p>
          <a:p>
            <a:pPr lvl="1" eaLnBrk="1" hangingPunct="1">
              <a:lnSpc>
                <a:spcPct val="80000"/>
              </a:lnSpc>
            </a:pPr>
            <a:r>
              <a:rPr lang="fi-FI" altLang="fi-FI" sz="2000" dirty="0" err="1"/>
              <a:t>insertionSort</a:t>
            </a:r>
            <a:r>
              <a:rPr lang="fi-FI" altLang="fi-FI" sz="2000" dirty="0"/>
              <a:t>: 16000 ms</a:t>
            </a:r>
          </a:p>
          <a:p>
            <a:pPr lvl="1" eaLnBrk="1" hangingPunct="1">
              <a:lnSpc>
                <a:spcPct val="80000"/>
              </a:lnSpc>
            </a:pPr>
            <a:r>
              <a:rPr lang="fi-FI" altLang="fi-FI" sz="2000" dirty="0" err="1"/>
              <a:t>selectionSort</a:t>
            </a:r>
            <a:r>
              <a:rPr lang="fi-FI" altLang="fi-FI" sz="2000" dirty="0"/>
              <a:t>: 23000 ms</a:t>
            </a:r>
          </a:p>
          <a:p>
            <a:pPr lvl="1" eaLnBrk="1" hangingPunct="1">
              <a:lnSpc>
                <a:spcPct val="80000"/>
              </a:lnSpc>
            </a:pPr>
            <a:r>
              <a:rPr lang="fi-FI" altLang="fi-FI" sz="2000" dirty="0" err="1"/>
              <a:t>bubbleSort</a:t>
            </a:r>
            <a:r>
              <a:rPr lang="fi-FI" altLang="fi-FI" sz="2000" dirty="0"/>
              <a:t>: 51000 ms</a:t>
            </a:r>
          </a:p>
          <a:p>
            <a:pPr eaLnBrk="1" hangingPunct="1">
              <a:lnSpc>
                <a:spcPct val="80000"/>
              </a:lnSpc>
            </a:pPr>
            <a:r>
              <a:rPr lang="fi-FI" altLang="fi-FI" sz="2100" dirty="0"/>
              <a:t>N=10000</a:t>
            </a:r>
          </a:p>
          <a:p>
            <a:pPr lvl="1" eaLnBrk="1" hangingPunct="1">
              <a:lnSpc>
                <a:spcPct val="80000"/>
              </a:lnSpc>
            </a:pPr>
            <a:r>
              <a:rPr lang="fi-FI" altLang="fi-FI" sz="2000" dirty="0" err="1"/>
              <a:t>insertionSort</a:t>
            </a:r>
            <a:r>
              <a:rPr lang="fi-FI" altLang="fi-FI" sz="2000" dirty="0"/>
              <a:t>: 171 ms</a:t>
            </a:r>
          </a:p>
          <a:p>
            <a:pPr lvl="1" eaLnBrk="1" hangingPunct="1">
              <a:lnSpc>
                <a:spcPct val="80000"/>
              </a:lnSpc>
            </a:pPr>
            <a:r>
              <a:rPr lang="fi-FI" altLang="fi-FI" sz="2000" dirty="0" err="1"/>
              <a:t>selectionSort</a:t>
            </a:r>
            <a:r>
              <a:rPr lang="fi-FI" altLang="fi-FI" sz="2000" dirty="0"/>
              <a:t>: 312 ms</a:t>
            </a:r>
          </a:p>
          <a:p>
            <a:pPr lvl="1" eaLnBrk="1" hangingPunct="1">
              <a:lnSpc>
                <a:spcPct val="80000"/>
              </a:lnSpc>
            </a:pPr>
            <a:r>
              <a:rPr lang="fi-FI" altLang="fi-FI" sz="2000" dirty="0" err="1"/>
              <a:t>bubbleSort</a:t>
            </a:r>
            <a:r>
              <a:rPr lang="fi-FI" altLang="fi-FI" sz="2000" dirty="0"/>
              <a:t>: 561 ms</a:t>
            </a:r>
          </a:p>
          <a:p>
            <a:pPr eaLnBrk="1" hangingPunct="1">
              <a:lnSpc>
                <a:spcPct val="80000"/>
              </a:lnSpc>
            </a:pPr>
            <a:r>
              <a:rPr lang="fi-FI" altLang="fi-FI" sz="2100" dirty="0"/>
              <a:t>Teoriassa 100000  alkiolle:</a:t>
            </a:r>
          </a:p>
          <a:p>
            <a:pPr lvl="1" eaLnBrk="1" hangingPunct="1">
              <a:lnSpc>
                <a:spcPct val="80000"/>
              </a:lnSpc>
            </a:pPr>
            <a:r>
              <a:rPr lang="fi-FI" altLang="fi-FI" sz="2000" dirty="0"/>
              <a:t>N</a:t>
            </a:r>
            <a:r>
              <a:rPr lang="fi-FI" altLang="fi-FI" sz="2000" baseline="30000" dirty="0"/>
              <a:t>2</a:t>
            </a:r>
            <a:r>
              <a:rPr lang="fi-FI" altLang="fi-FI" sz="2000" dirty="0"/>
              <a:t>/4, 2,5*10E9</a:t>
            </a:r>
          </a:p>
          <a:p>
            <a:pPr lvl="1" eaLnBrk="1" hangingPunct="1">
              <a:lnSpc>
                <a:spcPct val="80000"/>
              </a:lnSpc>
            </a:pPr>
            <a:r>
              <a:rPr lang="fi-FI" altLang="fi-FI" sz="2000" dirty="0"/>
              <a:t>N</a:t>
            </a:r>
            <a:r>
              <a:rPr lang="fi-FI" altLang="fi-FI" sz="2000" baseline="30000" dirty="0"/>
              <a:t>2</a:t>
            </a:r>
            <a:r>
              <a:rPr lang="fi-FI" altLang="fi-FI" sz="2000" dirty="0"/>
              <a:t>/2, 5*10E9</a:t>
            </a:r>
          </a:p>
          <a:p>
            <a:pPr lvl="1" eaLnBrk="1" hangingPunct="1">
              <a:lnSpc>
                <a:spcPct val="80000"/>
              </a:lnSpc>
            </a:pPr>
            <a:r>
              <a:rPr lang="fi-FI" altLang="fi-FI" sz="2000" dirty="0"/>
              <a:t>N</a:t>
            </a:r>
            <a:r>
              <a:rPr lang="fi-FI" altLang="fi-FI" sz="2000" baseline="30000" dirty="0"/>
              <a:t>2</a:t>
            </a:r>
            <a:r>
              <a:rPr lang="fi-FI" altLang="fi-FI" sz="2000" dirty="0"/>
              <a:t>, 10E9</a:t>
            </a:r>
          </a:p>
          <a:p>
            <a:pPr eaLnBrk="1" hangingPunct="1">
              <a:lnSpc>
                <a:spcPct val="80000"/>
              </a:lnSpc>
            </a:pPr>
            <a:endParaRPr lang="fi-FI" altLang="fi-FI" sz="2100" dirty="0"/>
          </a:p>
        </p:txBody>
      </p:sp>
    </p:spTree>
    <p:extLst>
      <p:ext uri="{BB962C8B-B14F-4D97-AF65-F5344CB8AC3E}">
        <p14:creationId xmlns:p14="http://schemas.microsoft.com/office/powerpoint/2010/main" val="3564993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Otsikko 1"/>
          <p:cNvSpPr>
            <a:spLocks noGrp="1"/>
          </p:cNvSpPr>
          <p:nvPr>
            <p:ph type="ctrTitle"/>
          </p:nvPr>
        </p:nvSpPr>
        <p:spPr/>
        <p:txBody>
          <a:bodyPr/>
          <a:lstStyle/>
          <a:p>
            <a:r>
              <a:rPr lang="en-US" altLang="fi-FI" dirty="0" err="1"/>
              <a:t>Tehokkaat</a:t>
            </a:r>
            <a:r>
              <a:rPr lang="en-US" altLang="fi-FI" dirty="0"/>
              <a:t> </a:t>
            </a:r>
            <a:r>
              <a:rPr lang="en-US" altLang="fi-FI" dirty="0" err="1"/>
              <a:t>järjestämismenetelmät</a:t>
            </a:r>
            <a:endParaRPr lang="en-US" altLang="fi-FI" dirty="0"/>
          </a:p>
        </p:txBody>
      </p:sp>
      <p:sp>
        <p:nvSpPr>
          <p:cNvPr id="49155" name="Alaotsikko 2"/>
          <p:cNvSpPr>
            <a:spLocks noGrp="1"/>
          </p:cNvSpPr>
          <p:nvPr>
            <p:ph type="subTitle" idx="1"/>
          </p:nvPr>
        </p:nvSpPr>
        <p:spPr>
          <a:xfrm>
            <a:off x="3265055" y="3851563"/>
            <a:ext cx="6248400" cy="2362200"/>
          </a:xfrm>
        </p:spPr>
        <p:txBody>
          <a:bodyPr/>
          <a:lstStyle/>
          <a:p>
            <a:pPr lvl="1"/>
            <a:r>
              <a:rPr lang="fi-FI" altLang="fi-FI" sz="2400" dirty="0">
                <a:hlinkClick r:id="rId2"/>
              </a:rPr>
              <a:t>https://www.geeksforgeeks.org/sorting-algorithms/?ref=shm</a:t>
            </a:r>
            <a:r>
              <a:rPr lang="fi-FI" altLang="fi-FI" sz="2400" dirty="0"/>
              <a:t> </a:t>
            </a:r>
          </a:p>
          <a:p>
            <a:pPr algn="l"/>
            <a:endParaRPr lang="en-US" altLang="fi-FI" dirty="0"/>
          </a:p>
        </p:txBody>
      </p:sp>
    </p:spTree>
    <p:extLst>
      <p:ext uri="{BB962C8B-B14F-4D97-AF65-F5344CB8AC3E}">
        <p14:creationId xmlns:p14="http://schemas.microsoft.com/office/powerpoint/2010/main" val="2890565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Tehokkaat järjestysmenetelmät</a:t>
            </a:r>
          </a:p>
        </p:txBody>
      </p:sp>
      <p:sp>
        <p:nvSpPr>
          <p:cNvPr id="50179"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1100" dirty="0"/>
              <a:t>Kirjallisuutta</a:t>
            </a:r>
          </a:p>
          <a:p>
            <a:pPr lvl="1" eaLnBrk="1" hangingPunct="1"/>
            <a:r>
              <a:rPr lang="fi-FI" altLang="fi-FI" sz="1100" dirty="0" err="1"/>
              <a:t>Sedgewick</a:t>
            </a:r>
            <a:r>
              <a:rPr lang="fi-FI" altLang="fi-FI" sz="1100" dirty="0"/>
              <a:t>, Robert, </a:t>
            </a:r>
            <a:r>
              <a:rPr lang="fi-FI" altLang="fi-FI" sz="1100" dirty="0" err="1"/>
              <a:t>Addison</a:t>
            </a:r>
            <a:r>
              <a:rPr lang="fi-FI" altLang="fi-FI" sz="1100" dirty="0"/>
              <a:t> Wesley</a:t>
            </a:r>
          </a:p>
          <a:p>
            <a:pPr lvl="2" eaLnBrk="1" hangingPunct="1"/>
            <a:r>
              <a:rPr lang="fi-FI" altLang="fi-FI" sz="1200" dirty="0" err="1"/>
              <a:t>Algorithms</a:t>
            </a:r>
            <a:r>
              <a:rPr lang="fi-FI" altLang="fi-FI" sz="1200" dirty="0"/>
              <a:t> in Java | C | C++ | Pascal</a:t>
            </a:r>
          </a:p>
          <a:p>
            <a:pPr lvl="1" eaLnBrk="1" hangingPunct="1"/>
            <a:r>
              <a:rPr lang="fi-FI" altLang="fi-FI" sz="1100" dirty="0" err="1"/>
              <a:t>Lafore</a:t>
            </a:r>
            <a:r>
              <a:rPr lang="fi-FI" altLang="fi-FI" sz="1100" dirty="0"/>
              <a:t>, Robert, SAMS</a:t>
            </a:r>
          </a:p>
          <a:p>
            <a:pPr lvl="2" eaLnBrk="1" hangingPunct="1"/>
            <a:r>
              <a:rPr lang="fi-FI" altLang="fi-FI" sz="1200" dirty="0"/>
              <a:t>Data </a:t>
            </a:r>
            <a:r>
              <a:rPr lang="fi-FI" altLang="fi-FI" sz="1200" dirty="0" err="1"/>
              <a:t>Structures</a:t>
            </a:r>
            <a:r>
              <a:rPr lang="fi-FI" altLang="fi-FI" sz="1200" dirty="0"/>
              <a:t> and </a:t>
            </a:r>
            <a:r>
              <a:rPr lang="fi-FI" altLang="fi-FI" sz="1200" dirty="0" err="1"/>
              <a:t>Algorithms</a:t>
            </a:r>
            <a:r>
              <a:rPr lang="fi-FI" altLang="fi-FI" sz="1200" dirty="0"/>
              <a:t> in Java</a:t>
            </a:r>
          </a:p>
          <a:p>
            <a:pPr lvl="1" eaLnBrk="1" hangingPunct="1"/>
            <a:r>
              <a:rPr lang="fi-FI" altLang="fi-FI" sz="1100" dirty="0" err="1"/>
              <a:t>Goodrich</a:t>
            </a:r>
            <a:r>
              <a:rPr lang="fi-FI" altLang="fi-FI" sz="1100" dirty="0"/>
              <a:t>, M, </a:t>
            </a:r>
            <a:r>
              <a:rPr lang="fi-FI" altLang="fi-FI" sz="1100" dirty="0" err="1"/>
              <a:t>Tamassia</a:t>
            </a:r>
            <a:r>
              <a:rPr lang="fi-FI" altLang="fi-FI" sz="1100" dirty="0"/>
              <a:t>, R, </a:t>
            </a:r>
            <a:r>
              <a:rPr lang="fi-FI" altLang="fi-FI" sz="1100" dirty="0" err="1"/>
              <a:t>Wiley</a:t>
            </a:r>
            <a:endParaRPr lang="fi-FI" altLang="fi-FI" sz="1100" dirty="0"/>
          </a:p>
          <a:p>
            <a:pPr lvl="2" eaLnBrk="1" hangingPunct="1"/>
            <a:r>
              <a:rPr lang="fi-FI" altLang="fi-FI" sz="1200" dirty="0"/>
              <a:t>Data </a:t>
            </a:r>
            <a:r>
              <a:rPr lang="fi-FI" altLang="fi-FI" sz="1200" dirty="0" err="1"/>
              <a:t>Structures</a:t>
            </a:r>
            <a:r>
              <a:rPr lang="fi-FI" altLang="fi-FI" sz="1200" dirty="0"/>
              <a:t> and </a:t>
            </a:r>
            <a:r>
              <a:rPr lang="fi-FI" altLang="fi-FI" sz="1200" dirty="0" err="1"/>
              <a:t>Algorithms</a:t>
            </a:r>
            <a:r>
              <a:rPr lang="fi-FI" altLang="fi-FI" sz="1200" dirty="0"/>
              <a:t> in Java</a:t>
            </a:r>
          </a:p>
          <a:p>
            <a:pPr eaLnBrk="1" hangingPunct="1"/>
            <a:r>
              <a:rPr lang="fi-FI" altLang="fi-FI" sz="1900" dirty="0"/>
              <a:t>Kuorijärjestäminen (</a:t>
            </a:r>
            <a:r>
              <a:rPr lang="fi-FI" altLang="fi-FI" sz="1900" dirty="0" err="1"/>
              <a:t>shell</a:t>
            </a:r>
            <a:r>
              <a:rPr lang="fi-FI" altLang="fi-FI" sz="1900" dirty="0"/>
              <a:t> </a:t>
            </a:r>
            <a:r>
              <a:rPr lang="fi-FI" altLang="fi-FI" sz="1900" dirty="0" err="1"/>
              <a:t>sort</a:t>
            </a:r>
            <a:r>
              <a:rPr lang="fi-FI" altLang="fi-FI" sz="1900" dirty="0"/>
              <a:t>)</a:t>
            </a:r>
          </a:p>
          <a:p>
            <a:pPr eaLnBrk="1" hangingPunct="1"/>
            <a:r>
              <a:rPr lang="fi-FI" altLang="fi-FI" sz="1900" dirty="0" err="1"/>
              <a:t>Quicksort</a:t>
            </a:r>
            <a:endParaRPr lang="fi-FI" altLang="fi-FI" sz="1900" dirty="0"/>
          </a:p>
          <a:p>
            <a:pPr lvl="1" eaLnBrk="1" hangingPunct="1"/>
            <a:r>
              <a:rPr lang="fi-FI" altLang="fi-FI" sz="1700" dirty="0"/>
              <a:t>Tunnetuin ja yleisin tehokas järjestämismenetelmä</a:t>
            </a:r>
          </a:p>
          <a:p>
            <a:pPr lvl="1" eaLnBrk="1" hangingPunct="1"/>
            <a:r>
              <a:rPr lang="fi-FI" altLang="fi-FI" sz="1700" dirty="0"/>
              <a:t>Kohtuullisen helppo toteuttaa</a:t>
            </a:r>
          </a:p>
          <a:p>
            <a:pPr eaLnBrk="1" hangingPunct="1"/>
            <a:r>
              <a:rPr lang="fi-FI" altLang="fi-FI" sz="1900" dirty="0"/>
              <a:t>Jakauman laskeminen (</a:t>
            </a:r>
            <a:r>
              <a:rPr lang="fi-FI" altLang="fi-FI" sz="1900" dirty="0" err="1"/>
              <a:t>Distribution</a:t>
            </a:r>
            <a:r>
              <a:rPr lang="fi-FI" altLang="fi-FI" sz="1900" dirty="0"/>
              <a:t> </a:t>
            </a:r>
            <a:r>
              <a:rPr lang="fi-FI" altLang="fi-FI" sz="1900" dirty="0" err="1"/>
              <a:t>counting</a:t>
            </a:r>
            <a:r>
              <a:rPr lang="fi-FI" altLang="fi-FI" sz="1900" dirty="0"/>
              <a:t>)</a:t>
            </a:r>
          </a:p>
          <a:p>
            <a:pPr eaLnBrk="1" hangingPunct="1"/>
            <a:r>
              <a:rPr lang="fi-FI" altLang="fi-FI" sz="1900" dirty="0" err="1"/>
              <a:t>Radix</a:t>
            </a:r>
            <a:r>
              <a:rPr lang="fi-FI" altLang="fi-FI" sz="1900" dirty="0"/>
              <a:t> </a:t>
            </a:r>
            <a:r>
              <a:rPr lang="fi-FI" altLang="fi-FI" sz="1900" dirty="0" err="1"/>
              <a:t>exchange</a:t>
            </a:r>
            <a:r>
              <a:rPr lang="fi-FI" altLang="fi-FI" sz="1900" dirty="0"/>
              <a:t> </a:t>
            </a:r>
            <a:r>
              <a:rPr lang="fi-FI" altLang="fi-FI" sz="1900" dirty="0" err="1"/>
              <a:t>sort</a:t>
            </a:r>
            <a:endParaRPr lang="fi-FI" altLang="fi-FI" sz="1900" dirty="0"/>
          </a:p>
          <a:p>
            <a:pPr eaLnBrk="1" hangingPunct="1"/>
            <a:r>
              <a:rPr lang="fi-FI" altLang="fi-FI" sz="1900" dirty="0" err="1"/>
              <a:t>Straight</a:t>
            </a:r>
            <a:r>
              <a:rPr lang="fi-FI" altLang="fi-FI" sz="1900" dirty="0"/>
              <a:t> </a:t>
            </a:r>
            <a:r>
              <a:rPr lang="fi-FI" altLang="fi-FI" sz="1900" dirty="0" err="1"/>
              <a:t>radix</a:t>
            </a:r>
            <a:r>
              <a:rPr lang="fi-FI" altLang="fi-FI" sz="1900" dirty="0"/>
              <a:t> </a:t>
            </a:r>
            <a:r>
              <a:rPr lang="fi-FI" altLang="fi-FI" sz="1900" dirty="0" err="1"/>
              <a:t>sort</a:t>
            </a:r>
            <a:endParaRPr lang="fi-FI" altLang="fi-FI" sz="1900" dirty="0"/>
          </a:p>
          <a:p>
            <a:pPr eaLnBrk="1" hangingPunct="1"/>
            <a:r>
              <a:rPr lang="fi-FI" altLang="fi-FI" sz="1900" dirty="0" err="1"/>
              <a:t>Merge</a:t>
            </a:r>
            <a:r>
              <a:rPr lang="fi-FI" altLang="fi-FI" sz="1900" dirty="0"/>
              <a:t> </a:t>
            </a:r>
            <a:r>
              <a:rPr lang="fi-FI" altLang="fi-FI" sz="1900" dirty="0" err="1"/>
              <a:t>sort</a:t>
            </a:r>
            <a:endParaRPr lang="fi-FI" altLang="fi-FI" sz="1900" dirty="0"/>
          </a:p>
          <a:p>
            <a:pPr eaLnBrk="1" hangingPunct="1">
              <a:buFont typeface="Wingdings" panose="05000000000000000000" pitchFamily="2" charset="2"/>
              <a:buNone/>
            </a:pPr>
            <a:endParaRPr lang="fi-FI" altLang="fi-FI" sz="1900" dirty="0"/>
          </a:p>
          <a:p>
            <a:pPr lvl="1" eaLnBrk="1" hangingPunct="1"/>
            <a:endParaRPr lang="fi-FI" altLang="fi-FI" sz="1500" dirty="0"/>
          </a:p>
        </p:txBody>
      </p:sp>
    </p:spTree>
    <p:extLst>
      <p:ext uri="{BB962C8B-B14F-4D97-AF65-F5344CB8AC3E}">
        <p14:creationId xmlns:p14="http://schemas.microsoft.com/office/powerpoint/2010/main" val="2768148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fi-FI" altLang="fi-FI" dirty="0" err="1">
                <a:solidFill>
                  <a:schemeClr val="bg1">
                    <a:lumMod val="75000"/>
                  </a:schemeClr>
                </a:solidFill>
              </a:rPr>
              <a:t>Shellsort</a:t>
            </a:r>
            <a:endParaRPr lang="fi-FI" altLang="fi-FI" dirty="0">
              <a:solidFill>
                <a:schemeClr val="bg1">
                  <a:lumMod val="75000"/>
                </a:schemeClr>
              </a:solidFill>
            </a:endParaRPr>
          </a:p>
        </p:txBody>
      </p:sp>
      <p:pic>
        <p:nvPicPr>
          <p:cNvPr id="512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95400"/>
            <a:ext cx="7620000"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79637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fi-FI" altLang="fi-FI" dirty="0" err="1">
                <a:solidFill>
                  <a:schemeClr val="bg1">
                    <a:lumMod val="75000"/>
                  </a:schemeClr>
                </a:solidFill>
              </a:rPr>
              <a:t>Shellsort</a:t>
            </a:r>
            <a:r>
              <a:rPr lang="fi-FI" altLang="fi-FI" dirty="0">
                <a:solidFill>
                  <a:schemeClr val="bg1">
                    <a:lumMod val="75000"/>
                  </a:schemeClr>
                </a:solidFill>
              </a:rPr>
              <a:t> -periaate</a:t>
            </a:r>
          </a:p>
        </p:txBody>
      </p:sp>
      <p:sp>
        <p:nvSpPr>
          <p:cNvPr id="52227" name="Rectangle 3"/>
          <p:cNvSpPr>
            <a:spLocks noGrp="1" noChangeArrowheads="1"/>
          </p:cNvSpPr>
          <p:nvPr>
            <p:ph type="body" idx="1"/>
          </p:nvPr>
        </p:nvSpPr>
        <p:spPr/>
        <p:txBody>
          <a:bodyPr/>
          <a:lstStyle/>
          <a:p>
            <a:pPr eaLnBrk="1" hangingPunct="1">
              <a:lnSpc>
                <a:spcPct val="80000"/>
              </a:lnSpc>
            </a:pPr>
            <a:r>
              <a:rPr lang="fi-FI" altLang="fi-FI" sz="2600"/>
              <a:t>The idea of Shellsort is the following: </a:t>
            </a:r>
          </a:p>
          <a:p>
            <a:pPr lvl="1" eaLnBrk="1" hangingPunct="1">
              <a:lnSpc>
                <a:spcPct val="80000"/>
              </a:lnSpc>
            </a:pPr>
            <a:r>
              <a:rPr lang="fi-FI" altLang="fi-FI" sz="2200"/>
              <a:t>arrange the data sequence in a two-dimensional array </a:t>
            </a:r>
          </a:p>
          <a:p>
            <a:pPr lvl="1" eaLnBrk="1" hangingPunct="1">
              <a:lnSpc>
                <a:spcPct val="80000"/>
              </a:lnSpc>
            </a:pPr>
            <a:r>
              <a:rPr lang="fi-FI" altLang="fi-FI" sz="2200"/>
              <a:t>sort the columns of the array </a:t>
            </a:r>
          </a:p>
          <a:p>
            <a:pPr eaLnBrk="1" hangingPunct="1">
              <a:lnSpc>
                <a:spcPct val="80000"/>
              </a:lnSpc>
            </a:pPr>
            <a:r>
              <a:rPr lang="fi-FI" altLang="fi-FI" sz="2600"/>
              <a:t>The effect is that the data sequence is partially sorted. The process above is repeated, but each time with a narrower array, i.e. with a smaller number of columns. In the last step, the array consists of only one column. In each step, the sortedness of the sequence is increased, until in the last step it is completely sorted. However, the number of sorting operations necessary in each step is limited, due to the presortedness of the sequence obtained in the preceding steps.</a:t>
            </a:r>
          </a:p>
        </p:txBody>
      </p:sp>
    </p:spTree>
    <p:extLst>
      <p:ext uri="{BB962C8B-B14F-4D97-AF65-F5344CB8AC3E}">
        <p14:creationId xmlns:p14="http://schemas.microsoft.com/office/powerpoint/2010/main" val="3905156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fi-FI" altLang="fi-FI" dirty="0" err="1">
                <a:solidFill>
                  <a:schemeClr val="bg1">
                    <a:lumMod val="75000"/>
                  </a:schemeClr>
                </a:solidFill>
              </a:rPr>
              <a:t>Shellsort</a:t>
            </a:r>
            <a:endParaRPr lang="fi-FI" altLang="fi-FI" dirty="0">
              <a:solidFill>
                <a:schemeClr val="bg1">
                  <a:lumMod val="75000"/>
                </a:schemeClr>
              </a:solidFill>
            </a:endParaRPr>
          </a:p>
        </p:txBody>
      </p:sp>
      <p:pic>
        <p:nvPicPr>
          <p:cNvPr id="532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752601"/>
            <a:ext cx="70866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6701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fi-FI" altLang="fi-FI" dirty="0" err="1">
                <a:solidFill>
                  <a:schemeClr val="bg1">
                    <a:lumMod val="75000"/>
                  </a:schemeClr>
                </a:solidFill>
              </a:rPr>
              <a:t>Shellsort</a:t>
            </a:r>
            <a:endParaRPr lang="fi-FI" altLang="fi-FI" dirty="0">
              <a:solidFill>
                <a:schemeClr val="bg1">
                  <a:lumMod val="75000"/>
                </a:schemeClr>
              </a:solidFill>
            </a:endParaRPr>
          </a:p>
        </p:txBody>
      </p:sp>
      <p:pic>
        <p:nvPicPr>
          <p:cNvPr id="542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752600"/>
            <a:ext cx="7467600" cy="468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2262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fi-FI" altLang="fi-FI"/>
              <a:t>Quick Sort</a:t>
            </a:r>
          </a:p>
        </p:txBody>
      </p:sp>
      <p:pic>
        <p:nvPicPr>
          <p:cNvPr id="563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371600"/>
            <a:ext cx="7848600"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7976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fi-FI" altLang="fi-FI"/>
              <a:t>Quicksort</a:t>
            </a:r>
          </a:p>
        </p:txBody>
      </p:sp>
      <p:sp>
        <p:nvSpPr>
          <p:cNvPr id="57347" name="Rectangle 3"/>
          <p:cNvSpPr>
            <a:spLocks noGrp="1" noChangeArrowheads="1"/>
          </p:cNvSpPr>
          <p:nvPr>
            <p:ph type="body" idx="1"/>
          </p:nvPr>
        </p:nvSpPr>
        <p:spPr/>
        <p:txBody>
          <a:bodyPr/>
          <a:lstStyle/>
          <a:p>
            <a:pPr eaLnBrk="1" hangingPunct="1"/>
            <a:r>
              <a:rPr lang="fi-FI" altLang="fi-FI" dirty="0" err="1"/>
              <a:t>Quicksortissa</a:t>
            </a:r>
            <a:r>
              <a:rPr lang="fi-FI" altLang="fi-FI" dirty="0"/>
              <a:t> valitaan jokin taulukon alkioista jakotekijäksi (pivot) ja tämän jälkeen siirretään jakotekijää pienemmät arvot sen vasemmalle puolelle ja suuremmat oikealle puolelle (</a:t>
            </a:r>
            <a:r>
              <a:rPr lang="fi-FI" altLang="fi-FI" dirty="0" err="1"/>
              <a:t>partitioning</a:t>
            </a:r>
            <a:r>
              <a:rPr lang="fi-FI" altLang="fi-FI" dirty="0"/>
              <a:t>).</a:t>
            </a:r>
          </a:p>
          <a:p>
            <a:pPr eaLnBrk="1" hangingPunct="1"/>
            <a:r>
              <a:rPr lang="fi-FI" altLang="fi-FI" dirty="0"/>
              <a:t>Tämän jälkeen saadut puoliskot lajitellaan erikseen pikalajittelulla.</a:t>
            </a:r>
          </a:p>
        </p:txBody>
      </p:sp>
    </p:spTree>
    <p:extLst>
      <p:ext uri="{BB962C8B-B14F-4D97-AF65-F5344CB8AC3E}">
        <p14:creationId xmlns:p14="http://schemas.microsoft.com/office/powerpoint/2010/main" val="2638758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fi-FI" altLang="fi-FI" dirty="0" err="1">
                <a:solidFill>
                  <a:schemeClr val="bg1">
                    <a:lumMod val="75000"/>
                  </a:schemeClr>
                </a:solidFill>
              </a:rPr>
              <a:t>Quicksort</a:t>
            </a:r>
            <a:endParaRPr lang="fi-FI" altLang="fi-FI" dirty="0">
              <a:solidFill>
                <a:schemeClr val="bg1">
                  <a:lumMod val="75000"/>
                </a:schemeClr>
              </a:solidFill>
            </a:endParaRPr>
          </a:p>
        </p:txBody>
      </p:sp>
      <p:pic>
        <p:nvPicPr>
          <p:cNvPr id="5837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600200"/>
            <a:ext cx="537210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3707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fi-FI" altLang="fi-FI"/>
              <a:t>Quicksort - Algoritmi</a:t>
            </a:r>
          </a:p>
        </p:txBody>
      </p:sp>
      <p:pic>
        <p:nvPicPr>
          <p:cNvPr id="593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447801"/>
            <a:ext cx="525780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057400"/>
            <a:ext cx="34290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34398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514601"/>
            <a:ext cx="3048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3505200"/>
            <a:ext cx="30194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1" y="4267201"/>
            <a:ext cx="31908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5181600"/>
            <a:ext cx="29146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1" y="5943601"/>
            <a:ext cx="29813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1" y="1819276"/>
            <a:ext cx="294322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4"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4601" y="2667000"/>
            <a:ext cx="29241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5"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0" y="3429000"/>
            <a:ext cx="2914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6"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600" y="4191000"/>
            <a:ext cx="2952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7"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00800" y="4953000"/>
            <a:ext cx="28575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8"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0801" y="5791201"/>
            <a:ext cx="30194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9" name="Line 17"/>
          <p:cNvSpPr>
            <a:spLocks noChangeShapeType="1"/>
          </p:cNvSpPr>
          <p:nvPr/>
        </p:nvSpPr>
        <p:spPr bwMode="auto">
          <a:xfrm flipV="1">
            <a:off x="5638800" y="1600200"/>
            <a:ext cx="0" cy="495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i-FI"/>
          </a:p>
        </p:txBody>
      </p:sp>
      <p:pic>
        <p:nvPicPr>
          <p:cNvPr id="60430" name="Picture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5000" y="1295400"/>
            <a:ext cx="34290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1" name="Rectangle 19"/>
          <p:cNvSpPr>
            <a:spLocks noGrp="1" noChangeArrowheads="1"/>
          </p:cNvSpPr>
          <p:nvPr>
            <p:ph type="title"/>
          </p:nvPr>
        </p:nvSpPr>
        <p:spPr>
          <a:noFill/>
        </p:spPr>
        <p:txBody>
          <a:bodyPr/>
          <a:lstStyle/>
          <a:p>
            <a:pPr eaLnBrk="1" hangingPunct="1"/>
            <a:r>
              <a:rPr lang="fi-FI" altLang="fi-FI"/>
              <a:t>Quicksort – Partitioning</a:t>
            </a:r>
            <a:br>
              <a:rPr lang="fi-FI" altLang="fi-FI"/>
            </a:br>
            <a:endParaRPr lang="fi-FI" altLang="fi-FI"/>
          </a:p>
        </p:txBody>
      </p:sp>
    </p:spTree>
    <p:extLst>
      <p:ext uri="{BB962C8B-B14F-4D97-AF65-F5344CB8AC3E}">
        <p14:creationId xmlns:p14="http://schemas.microsoft.com/office/powerpoint/2010/main" val="35594265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Merge Sort - Lomitusjärjestäminen</a:t>
            </a:r>
          </a:p>
        </p:txBody>
      </p:sp>
      <p:sp>
        <p:nvSpPr>
          <p:cNvPr id="61443"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r>
              <a:rPr lang="fi-FI" altLang="fi-FI" sz="1900" dirty="0"/>
              <a:t>Java-ohjelmointi 10.1.4</a:t>
            </a:r>
          </a:p>
          <a:p>
            <a:pPr eaLnBrk="1" hangingPunct="1"/>
            <a:r>
              <a:rPr lang="fi-FI" altLang="fi-FI" sz="1900" dirty="0"/>
              <a:t>Javan </a:t>
            </a:r>
            <a:r>
              <a:rPr lang="fi-FI" altLang="fi-FI" sz="1900" dirty="0" err="1"/>
              <a:t>Collections.sort</a:t>
            </a:r>
            <a:r>
              <a:rPr lang="fi-FI" altLang="fi-FI" sz="1900" dirty="0"/>
              <a:t> käyttää </a:t>
            </a:r>
            <a:r>
              <a:rPr lang="fi-FI" altLang="fi-FI" sz="1900" dirty="0" err="1"/>
              <a:t>merge</a:t>
            </a:r>
            <a:r>
              <a:rPr lang="fi-FI" altLang="fi-FI" sz="1900" dirty="0"/>
              <a:t> </a:t>
            </a:r>
            <a:r>
              <a:rPr lang="fi-FI" altLang="fi-FI" sz="1900" dirty="0" err="1"/>
              <a:t>sort</a:t>
            </a:r>
            <a:r>
              <a:rPr lang="fi-FI" altLang="fi-FI" sz="1900" dirty="0"/>
              <a:t> –algoritmia, seuraavista syistä</a:t>
            </a:r>
          </a:p>
          <a:p>
            <a:pPr lvl="1" eaLnBrk="1" hangingPunct="1"/>
            <a:r>
              <a:rPr lang="fi-FI" altLang="fi-FI" sz="1500" dirty="0" err="1"/>
              <a:t>Merge</a:t>
            </a:r>
            <a:r>
              <a:rPr lang="fi-FI" altLang="fi-FI" sz="1500" dirty="0"/>
              <a:t> </a:t>
            </a:r>
            <a:r>
              <a:rPr lang="fi-FI" altLang="fi-FI" sz="1500" dirty="0" err="1"/>
              <a:t>sort</a:t>
            </a:r>
            <a:r>
              <a:rPr lang="fi-FI" altLang="fi-FI" sz="1500" dirty="0"/>
              <a:t> on nopea: Algoritmin nopeus on vähintään N </a:t>
            </a:r>
            <a:r>
              <a:rPr lang="fi-FI" altLang="fi-FI" sz="1500" dirty="0" err="1"/>
              <a:t>log</a:t>
            </a:r>
            <a:r>
              <a:rPr lang="fi-FI" altLang="fi-FI" sz="1500" dirty="0"/>
              <a:t> N huonoimmassakin tapauksessa. Osittain järjestetyssä joukossa </a:t>
            </a:r>
            <a:r>
              <a:rPr lang="fi-FI" altLang="fi-FI" sz="1500" dirty="0" err="1"/>
              <a:t>merge</a:t>
            </a:r>
            <a:r>
              <a:rPr lang="fi-FI" altLang="fi-FI" sz="1500" dirty="0"/>
              <a:t> </a:t>
            </a:r>
            <a:r>
              <a:rPr lang="fi-FI" altLang="fi-FI" sz="1500" dirty="0" err="1"/>
              <a:t>sort</a:t>
            </a:r>
            <a:r>
              <a:rPr lang="fi-FI" altLang="fi-FI" sz="1500" dirty="0"/>
              <a:t> on vielä merkittävästi nopeampi. Kokeiden mukaan </a:t>
            </a:r>
            <a:r>
              <a:rPr lang="fi-FI" altLang="fi-FI" sz="1500" dirty="0" err="1"/>
              <a:t>merge</a:t>
            </a:r>
            <a:r>
              <a:rPr lang="fi-FI" altLang="fi-FI" sz="1500" dirty="0"/>
              <a:t> </a:t>
            </a:r>
            <a:r>
              <a:rPr lang="fi-FI" altLang="fi-FI" sz="1500" dirty="0" err="1"/>
              <a:t>sort</a:t>
            </a:r>
            <a:r>
              <a:rPr lang="fi-FI" altLang="fi-FI" sz="1500" dirty="0"/>
              <a:t> on käytännössä yhtä nopea kuin optimoitu </a:t>
            </a:r>
            <a:r>
              <a:rPr lang="fi-FI" altLang="fi-FI" sz="1500" dirty="0" err="1"/>
              <a:t>Quicksort</a:t>
            </a:r>
            <a:r>
              <a:rPr lang="fi-FI" altLang="fi-FI" sz="1500" dirty="0"/>
              <a:t>. </a:t>
            </a:r>
            <a:r>
              <a:rPr lang="fi-FI" altLang="fi-FI" sz="1500" dirty="0" err="1"/>
              <a:t>Quicksortia</a:t>
            </a:r>
            <a:r>
              <a:rPr lang="fi-FI" altLang="fi-FI" sz="1500" dirty="0"/>
              <a:t> pidetään yleisesti </a:t>
            </a:r>
            <a:r>
              <a:rPr lang="fi-FI" altLang="fi-FI" sz="1500" dirty="0" err="1"/>
              <a:t>merge</a:t>
            </a:r>
            <a:r>
              <a:rPr lang="fi-FI" altLang="fi-FI" sz="1500" dirty="0"/>
              <a:t> </a:t>
            </a:r>
            <a:r>
              <a:rPr lang="fi-FI" altLang="fi-FI" sz="1500" dirty="0" err="1"/>
              <a:t>sortia</a:t>
            </a:r>
            <a:r>
              <a:rPr lang="fi-FI" altLang="fi-FI" sz="1500" dirty="0"/>
              <a:t> nopeampana, mutta </a:t>
            </a:r>
            <a:r>
              <a:rPr lang="fi-FI" altLang="fi-FI" sz="1500" dirty="0" err="1"/>
              <a:t>Quicksort</a:t>
            </a:r>
            <a:r>
              <a:rPr lang="fi-FI" altLang="fi-FI" sz="1500" dirty="0"/>
              <a:t> ei ole </a:t>
            </a:r>
            <a:r>
              <a:rPr lang="fi-FI" altLang="fi-FI" sz="1500" i="1" dirty="0"/>
              <a:t>stabiili</a:t>
            </a:r>
            <a:r>
              <a:rPr lang="fi-FI" altLang="fi-FI" sz="1500" dirty="0"/>
              <a:t>, eikä se takaa N </a:t>
            </a:r>
            <a:r>
              <a:rPr lang="fi-FI" altLang="fi-FI" sz="1500" dirty="0" err="1"/>
              <a:t>log</a:t>
            </a:r>
            <a:r>
              <a:rPr lang="fi-FI" altLang="fi-FI" sz="1500" dirty="0"/>
              <a:t> N suoritusaikaa.</a:t>
            </a:r>
          </a:p>
          <a:p>
            <a:pPr lvl="1" eaLnBrk="1" hangingPunct="1"/>
            <a:r>
              <a:rPr lang="fi-FI" altLang="fi-FI" sz="1500" dirty="0" err="1"/>
              <a:t>Merge</a:t>
            </a:r>
            <a:r>
              <a:rPr lang="fi-FI" altLang="fi-FI" sz="1500" dirty="0"/>
              <a:t> </a:t>
            </a:r>
            <a:r>
              <a:rPr lang="fi-FI" altLang="fi-FI" sz="1500" dirty="0" err="1"/>
              <a:t>sort</a:t>
            </a:r>
            <a:r>
              <a:rPr lang="fi-FI" altLang="fi-FI" sz="1500" dirty="0"/>
              <a:t> on stabiili: Tämä tarkoittaa sitä, ettei </a:t>
            </a:r>
            <a:r>
              <a:rPr lang="fi-FI" altLang="fi-FI" sz="1500" dirty="0" err="1"/>
              <a:t>merge</a:t>
            </a:r>
            <a:r>
              <a:rPr lang="fi-FI" altLang="fi-FI" sz="1500" dirty="0"/>
              <a:t> </a:t>
            </a:r>
            <a:r>
              <a:rPr lang="fi-FI" altLang="fi-FI" sz="1500" dirty="0" err="1"/>
              <a:t>sort</a:t>
            </a:r>
            <a:r>
              <a:rPr lang="fi-FI" altLang="fi-FI" sz="1500" dirty="0"/>
              <a:t> järjestä uudelleen yhtä suuria alkioita. Tämä on tärkeä ominaisuus, jos jo kerran järjestetty lista halutaan järjestää jonkin toisen parametrin mukaan. Jos käyttäjä </a:t>
            </a:r>
            <a:r>
              <a:rPr lang="fi-FI" altLang="fi-FI" sz="1500" dirty="0" err="1"/>
              <a:t>sorttaa</a:t>
            </a:r>
            <a:r>
              <a:rPr lang="fi-FI" altLang="fi-FI" sz="1500" dirty="0"/>
              <a:t> e-mailit saapumispäivän mukaan ja sitten lähettäjän mukaan, olettaa käyttäjä ilman muuta, että saman lähettäjän mailit ovat vielä päivämääräjärjestyksessä. Tämä voidaan taata vain, jos jälkimmäinen järjestäminen on stabiili</a:t>
            </a:r>
          </a:p>
          <a:p>
            <a:pPr eaLnBrk="1" hangingPunct="1"/>
            <a:r>
              <a:rPr lang="fi-FI" altLang="fi-FI" sz="1900" dirty="0" err="1"/>
              <a:t>Merge</a:t>
            </a:r>
            <a:r>
              <a:rPr lang="fi-FI" altLang="fi-FI" sz="1900" dirty="0"/>
              <a:t> sortin periaate</a:t>
            </a:r>
          </a:p>
          <a:p>
            <a:pPr lvl="1" eaLnBrk="1" hangingPunct="1"/>
            <a:r>
              <a:rPr lang="fi-FI" altLang="fi-FI" sz="1500" dirty="0"/>
              <a:t>Tiedosto jaetaan kahtia</a:t>
            </a:r>
          </a:p>
          <a:p>
            <a:pPr lvl="1" eaLnBrk="1" hangingPunct="1"/>
            <a:r>
              <a:rPr lang="fi-FI" altLang="fi-FI" sz="1500" dirty="0"/>
              <a:t>Puoliskot järjestetään rekursiivisesti (jaetaan edelleen puoliskot kahtia </a:t>
            </a:r>
            <a:r>
              <a:rPr lang="fi-FI" altLang="fi-FI" sz="1500" dirty="0" err="1"/>
              <a:t>jne</a:t>
            </a:r>
            <a:r>
              <a:rPr lang="fi-FI" altLang="fi-FI" sz="1500" dirty="0"/>
              <a:t>)</a:t>
            </a:r>
          </a:p>
          <a:p>
            <a:pPr lvl="1" eaLnBrk="1" hangingPunct="1"/>
            <a:r>
              <a:rPr lang="fi-FI" altLang="fi-FI" sz="1500" dirty="0"/>
              <a:t>Järjestyksessä olevat puoliskot yhdistetään lomittamalla</a:t>
            </a:r>
          </a:p>
        </p:txBody>
      </p:sp>
    </p:spTree>
    <p:extLst>
      <p:ext uri="{BB962C8B-B14F-4D97-AF65-F5344CB8AC3E}">
        <p14:creationId xmlns:p14="http://schemas.microsoft.com/office/powerpoint/2010/main" val="14003850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fi-FI" altLang="fi-FI"/>
              <a:t>Mergesort</a:t>
            </a:r>
          </a:p>
        </p:txBody>
      </p:sp>
      <p:pic>
        <p:nvPicPr>
          <p:cNvPr id="62467" name="Picture 5" descr="Image:Merge sort algorithm diagra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1600200"/>
            <a:ext cx="397986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Rectangle 6"/>
          <p:cNvSpPr>
            <a:spLocks noChangeArrowheads="1"/>
          </p:cNvSpPr>
          <p:nvPr/>
        </p:nvSpPr>
        <p:spPr bwMode="auto">
          <a:xfrm>
            <a:off x="6477000" y="1752601"/>
            <a:ext cx="3943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1800"/>
              <a:t>http://en.wikipedia.org/wiki/Mergesort</a:t>
            </a:r>
          </a:p>
        </p:txBody>
      </p:sp>
    </p:spTree>
    <p:extLst>
      <p:ext uri="{BB962C8B-B14F-4D97-AF65-F5344CB8AC3E}">
        <p14:creationId xmlns:p14="http://schemas.microsoft.com/office/powerpoint/2010/main" val="25652398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Järjestämismenetelmien tehokkuus</a:t>
            </a:r>
          </a:p>
        </p:txBody>
      </p:sp>
      <p:sp>
        <p:nvSpPr>
          <p:cNvPr id="63491"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pPr>
            <a:r>
              <a:rPr lang="fi-FI" altLang="fi-FI" sz="1700" dirty="0"/>
              <a:t>-			Huonoin tapaus		Keskimääräinen tapaus</a:t>
            </a:r>
          </a:p>
          <a:p>
            <a:pPr eaLnBrk="1" hangingPunct="1">
              <a:buClr>
                <a:schemeClr val="tx1"/>
              </a:buClr>
            </a:pPr>
            <a:r>
              <a:rPr lang="fi-FI" altLang="fi-FI" sz="1700" dirty="0" err="1"/>
              <a:t>Selection</a:t>
            </a:r>
            <a:r>
              <a:rPr lang="fi-FI" altLang="fi-FI" sz="1700" dirty="0"/>
              <a:t> </a:t>
            </a:r>
            <a:r>
              <a:rPr lang="fi-FI" altLang="fi-FI" sz="1700" dirty="0" err="1"/>
              <a:t>sort</a:t>
            </a:r>
            <a:r>
              <a:rPr lang="fi-FI" altLang="fi-FI" sz="1700" dirty="0"/>
              <a:t>	*	N</a:t>
            </a:r>
            <a:r>
              <a:rPr lang="fi-FI" altLang="fi-FI" sz="1700" baseline="30000" dirty="0"/>
              <a:t>2</a:t>
            </a:r>
            <a:r>
              <a:rPr lang="fi-FI" altLang="fi-FI" sz="1700" dirty="0"/>
              <a:t>/2			N</a:t>
            </a:r>
            <a:r>
              <a:rPr lang="fi-FI" altLang="fi-FI" sz="1700" baseline="30000" dirty="0"/>
              <a:t>2</a:t>
            </a:r>
            <a:r>
              <a:rPr lang="fi-FI" altLang="fi-FI" sz="1700" dirty="0"/>
              <a:t>/2</a:t>
            </a:r>
          </a:p>
          <a:p>
            <a:pPr eaLnBrk="1" hangingPunct="1">
              <a:buClr>
                <a:schemeClr val="tx1"/>
              </a:buClr>
            </a:pPr>
            <a:r>
              <a:rPr lang="fi-FI" altLang="fi-FI" sz="1700" dirty="0" err="1"/>
              <a:t>Insertion</a:t>
            </a:r>
            <a:r>
              <a:rPr lang="fi-FI" altLang="fi-FI" sz="1700" dirty="0"/>
              <a:t> </a:t>
            </a:r>
            <a:r>
              <a:rPr lang="fi-FI" altLang="fi-FI" sz="1700" dirty="0" err="1"/>
              <a:t>sort</a:t>
            </a:r>
            <a:r>
              <a:rPr lang="fi-FI" altLang="fi-FI" sz="1700" dirty="0"/>
              <a:t>	*	N</a:t>
            </a:r>
            <a:r>
              <a:rPr lang="fi-FI" altLang="fi-FI" sz="1700" baseline="30000" dirty="0"/>
              <a:t>2</a:t>
            </a:r>
            <a:r>
              <a:rPr lang="fi-FI" altLang="fi-FI" sz="1700" dirty="0"/>
              <a:t>/2			 N</a:t>
            </a:r>
            <a:r>
              <a:rPr lang="fi-FI" altLang="fi-FI" sz="1700" baseline="30000" dirty="0"/>
              <a:t>2</a:t>
            </a:r>
            <a:r>
              <a:rPr lang="fi-FI" altLang="fi-FI" sz="1700" dirty="0"/>
              <a:t>/4</a:t>
            </a:r>
          </a:p>
          <a:p>
            <a:pPr eaLnBrk="1" hangingPunct="1"/>
            <a:r>
              <a:rPr lang="fi-FI" altLang="fi-FI" sz="1700" dirty="0" err="1"/>
              <a:t>Shellsort</a:t>
            </a:r>
            <a:r>
              <a:rPr lang="fi-FI" altLang="fi-FI" sz="1700" dirty="0"/>
              <a:t>		cN</a:t>
            </a:r>
            <a:r>
              <a:rPr lang="fi-FI" altLang="fi-FI" sz="1700" baseline="30000" dirty="0"/>
              <a:t>4/3			 </a:t>
            </a:r>
            <a:r>
              <a:rPr lang="fi-FI" altLang="fi-FI" sz="1700" dirty="0"/>
              <a:t>cN</a:t>
            </a:r>
            <a:r>
              <a:rPr lang="fi-FI" altLang="fi-FI" sz="1700" baseline="30000" dirty="0"/>
              <a:t>7/6</a:t>
            </a:r>
            <a:endParaRPr lang="fi-FI" altLang="fi-FI" sz="1700" dirty="0"/>
          </a:p>
          <a:p>
            <a:pPr eaLnBrk="1" hangingPunct="1"/>
            <a:r>
              <a:rPr lang="fi-FI" altLang="fi-FI" sz="1700" dirty="0" err="1"/>
              <a:t>Quicksort</a:t>
            </a:r>
            <a:r>
              <a:rPr lang="fi-FI" altLang="fi-FI" sz="1700" dirty="0"/>
              <a:t>		 N</a:t>
            </a:r>
            <a:r>
              <a:rPr lang="fi-FI" altLang="fi-FI" sz="1700" baseline="30000" dirty="0"/>
              <a:t>2</a:t>
            </a:r>
            <a:r>
              <a:rPr lang="fi-FI" altLang="fi-FI" sz="1700" dirty="0"/>
              <a:t>/2			1.38NlogN</a:t>
            </a:r>
          </a:p>
          <a:p>
            <a:pPr eaLnBrk="1" hangingPunct="1"/>
            <a:r>
              <a:rPr lang="fi-FI" altLang="fi-FI" sz="1700" dirty="0" err="1"/>
              <a:t>Merge</a:t>
            </a:r>
            <a:r>
              <a:rPr lang="fi-FI" altLang="fi-FI" sz="1700" dirty="0"/>
              <a:t> </a:t>
            </a:r>
            <a:r>
              <a:rPr lang="fi-FI" altLang="fi-FI" sz="1700" dirty="0" err="1"/>
              <a:t>sort</a:t>
            </a:r>
            <a:r>
              <a:rPr lang="fi-FI" altLang="fi-FI" sz="1700" dirty="0"/>
              <a:t> *		 1.0NlogN		 1.0NlogN</a:t>
            </a:r>
          </a:p>
          <a:p>
            <a:pPr eaLnBrk="1" hangingPunct="1"/>
            <a:endParaRPr lang="fi-FI" altLang="fi-FI" sz="1700" dirty="0"/>
          </a:p>
          <a:p>
            <a:pPr eaLnBrk="1" hangingPunct="1">
              <a:buFont typeface="Wingdings" panose="05000000000000000000" pitchFamily="2" charset="2"/>
              <a:buNone/>
            </a:pPr>
            <a:r>
              <a:rPr lang="fi-FI" altLang="fi-FI" sz="1700" dirty="0"/>
              <a:t>	* = algoritmi on stabiili</a:t>
            </a:r>
          </a:p>
          <a:p>
            <a:pPr lvl="1" eaLnBrk="1" hangingPunct="1">
              <a:buFont typeface="Wingdings" panose="05000000000000000000" pitchFamily="2" charset="2"/>
              <a:buNone/>
            </a:pPr>
            <a:endParaRPr lang="fi-FI" altLang="fi-FI" sz="1700" dirty="0"/>
          </a:p>
        </p:txBody>
      </p:sp>
    </p:spTree>
    <p:extLst>
      <p:ext uri="{BB962C8B-B14F-4D97-AF65-F5344CB8AC3E}">
        <p14:creationId xmlns:p14="http://schemas.microsoft.com/office/powerpoint/2010/main" val="5780311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Järjestämismenetelmien tehokkuus</a:t>
            </a:r>
          </a:p>
        </p:txBody>
      </p:sp>
      <p:sp>
        <p:nvSpPr>
          <p:cNvPr id="64515"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pPr>
            <a:r>
              <a:rPr lang="fi-FI" altLang="fi-FI" sz="1700" dirty="0"/>
              <a:t>N = 10000</a:t>
            </a:r>
          </a:p>
          <a:p>
            <a:pPr eaLnBrk="1" hangingPunct="1">
              <a:buClr>
                <a:schemeClr val="tx1"/>
              </a:buClr>
            </a:pPr>
            <a:r>
              <a:rPr lang="fi-FI" altLang="fi-FI" sz="1700" dirty="0"/>
              <a:t>-			Huonoin tapaus		Keskimääräinen tapaus</a:t>
            </a:r>
          </a:p>
          <a:p>
            <a:pPr eaLnBrk="1" hangingPunct="1">
              <a:buClr>
                <a:schemeClr val="tx1"/>
              </a:buClr>
            </a:pPr>
            <a:r>
              <a:rPr lang="fi-FI" altLang="fi-FI" sz="1700" dirty="0" err="1"/>
              <a:t>Selection</a:t>
            </a:r>
            <a:r>
              <a:rPr lang="fi-FI" altLang="fi-FI" sz="1700" dirty="0"/>
              <a:t> </a:t>
            </a:r>
            <a:r>
              <a:rPr lang="fi-FI" altLang="fi-FI" sz="1700" dirty="0" err="1"/>
              <a:t>sort</a:t>
            </a:r>
            <a:r>
              <a:rPr lang="fi-FI" altLang="fi-FI" sz="1700" dirty="0"/>
              <a:t>	*	50 000 000		50 000 000</a:t>
            </a:r>
          </a:p>
          <a:p>
            <a:pPr eaLnBrk="1" hangingPunct="1">
              <a:buClr>
                <a:schemeClr val="tx1"/>
              </a:buClr>
            </a:pPr>
            <a:r>
              <a:rPr lang="fi-FI" altLang="fi-FI" sz="1700" dirty="0" err="1"/>
              <a:t>Insertion</a:t>
            </a:r>
            <a:r>
              <a:rPr lang="fi-FI" altLang="fi-FI" sz="1700" dirty="0"/>
              <a:t> </a:t>
            </a:r>
            <a:r>
              <a:rPr lang="fi-FI" altLang="fi-FI" sz="1700" dirty="0" err="1"/>
              <a:t>sort</a:t>
            </a:r>
            <a:r>
              <a:rPr lang="fi-FI" altLang="fi-FI" sz="1700" dirty="0"/>
              <a:t>	*	50 000 000 		25 000 000</a:t>
            </a:r>
          </a:p>
          <a:p>
            <a:pPr eaLnBrk="1" hangingPunct="1"/>
            <a:r>
              <a:rPr lang="fi-FI" altLang="fi-FI" sz="1700" dirty="0" err="1"/>
              <a:t>Shellsort</a:t>
            </a:r>
            <a:r>
              <a:rPr lang="fi-FI" altLang="fi-FI" sz="1700" dirty="0"/>
              <a:t>		c*215 000</a:t>
            </a:r>
            <a:r>
              <a:rPr lang="fi-FI" altLang="fi-FI" sz="1700" baseline="30000" dirty="0"/>
              <a:t>		</a:t>
            </a:r>
            <a:r>
              <a:rPr lang="fi-FI" altLang="fi-FI" sz="1700" dirty="0"/>
              <a:t>c*46 000</a:t>
            </a:r>
          </a:p>
          <a:p>
            <a:pPr eaLnBrk="1" hangingPunct="1"/>
            <a:r>
              <a:rPr lang="fi-FI" altLang="fi-FI" sz="1700" dirty="0" err="1"/>
              <a:t>Quicksort</a:t>
            </a:r>
            <a:r>
              <a:rPr lang="fi-FI" altLang="fi-FI" sz="1700" dirty="0"/>
              <a:t>		50 000 000 		127 000</a:t>
            </a:r>
          </a:p>
          <a:p>
            <a:pPr eaLnBrk="1" hangingPunct="1"/>
            <a:r>
              <a:rPr lang="fi-FI" altLang="fi-FI" sz="1700" dirty="0" err="1"/>
              <a:t>Merge</a:t>
            </a:r>
            <a:r>
              <a:rPr lang="fi-FI" altLang="fi-FI" sz="1700" dirty="0"/>
              <a:t> </a:t>
            </a:r>
            <a:r>
              <a:rPr lang="fi-FI" altLang="fi-FI" sz="1700" dirty="0" err="1"/>
              <a:t>sort</a:t>
            </a:r>
            <a:r>
              <a:rPr lang="fi-FI" altLang="fi-FI" sz="1700" dirty="0"/>
              <a:t> *		 92 000 			 92 000</a:t>
            </a:r>
          </a:p>
          <a:p>
            <a:pPr eaLnBrk="1" hangingPunct="1"/>
            <a:endParaRPr lang="fi-FI" altLang="fi-FI" sz="1700" dirty="0"/>
          </a:p>
          <a:p>
            <a:pPr eaLnBrk="1" hangingPunct="1">
              <a:buFont typeface="Wingdings" panose="05000000000000000000" pitchFamily="2" charset="2"/>
              <a:buNone/>
            </a:pPr>
            <a:r>
              <a:rPr lang="fi-FI" altLang="fi-FI" sz="1700" dirty="0"/>
              <a:t>	* = algoritmi on stabiili</a:t>
            </a:r>
          </a:p>
          <a:p>
            <a:pPr lvl="1" eaLnBrk="1" hangingPunct="1">
              <a:buFont typeface="Wingdings" panose="05000000000000000000" pitchFamily="2" charset="2"/>
              <a:buNone/>
            </a:pPr>
            <a:endParaRPr lang="fi-FI" altLang="fi-FI" sz="1700" dirty="0"/>
          </a:p>
        </p:txBody>
      </p:sp>
    </p:spTree>
    <p:extLst>
      <p:ext uri="{BB962C8B-B14F-4D97-AF65-F5344CB8AC3E}">
        <p14:creationId xmlns:p14="http://schemas.microsoft.com/office/powerpoint/2010/main" val="32351612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981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fi-FI" altLang="fi-FI" sz="3900" b="1">
                <a:solidFill>
                  <a:schemeClr val="accent2"/>
                </a:solidFill>
              </a:rPr>
              <a:t>Järjestämismenetelmien ominaisuuksia</a:t>
            </a:r>
          </a:p>
        </p:txBody>
      </p:sp>
      <p:sp>
        <p:nvSpPr>
          <p:cNvPr id="65539" name="Rectangle 3"/>
          <p:cNvSpPr>
            <a:spLocks noChangeArrowheads="1"/>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pPr>
            <a:r>
              <a:rPr lang="fi-FI" altLang="fi-FI" sz="1500" dirty="0" err="1"/>
              <a:t>Selection</a:t>
            </a:r>
            <a:r>
              <a:rPr lang="fi-FI" altLang="fi-FI" sz="1500" dirty="0"/>
              <a:t> </a:t>
            </a:r>
            <a:r>
              <a:rPr lang="fi-FI" altLang="fi-FI" sz="1500" dirty="0" err="1"/>
              <a:t>sort</a:t>
            </a:r>
            <a:endParaRPr lang="fi-FI" altLang="fi-FI" sz="1500" dirty="0"/>
          </a:p>
          <a:p>
            <a:pPr lvl="1" eaLnBrk="1" hangingPunct="1">
              <a:buClr>
                <a:schemeClr val="tx1"/>
              </a:buClr>
            </a:pPr>
            <a:r>
              <a:rPr lang="fi-FI" altLang="fi-FI" sz="1300" dirty="0"/>
              <a:t>Yksinkertainen</a:t>
            </a:r>
          </a:p>
          <a:p>
            <a:pPr lvl="1" eaLnBrk="1" hangingPunct="1">
              <a:buClr>
                <a:schemeClr val="tx1"/>
              </a:buClr>
            </a:pPr>
            <a:r>
              <a:rPr lang="fi-FI" altLang="fi-FI" sz="1300" dirty="0"/>
              <a:t>Pienelle </a:t>
            </a:r>
            <a:r>
              <a:rPr lang="fi-FI" altLang="fi-FI" sz="1300" dirty="0" err="1"/>
              <a:t>tiotomäärälle</a:t>
            </a:r>
            <a:r>
              <a:rPr lang="fi-FI" altLang="fi-FI" sz="1300" dirty="0"/>
              <a:t> OK</a:t>
            </a:r>
          </a:p>
          <a:p>
            <a:pPr eaLnBrk="1" hangingPunct="1">
              <a:buClr>
                <a:schemeClr val="tx1"/>
              </a:buClr>
            </a:pPr>
            <a:r>
              <a:rPr lang="fi-FI" altLang="fi-FI" sz="1500" u="sng" dirty="0" err="1"/>
              <a:t>Insertion</a:t>
            </a:r>
            <a:r>
              <a:rPr lang="fi-FI" altLang="fi-FI" sz="1500" u="sng" dirty="0"/>
              <a:t> </a:t>
            </a:r>
            <a:r>
              <a:rPr lang="fi-FI" altLang="fi-FI" sz="1500" u="sng" dirty="0" err="1"/>
              <a:t>sort</a:t>
            </a:r>
            <a:endParaRPr lang="fi-FI" altLang="fi-FI" sz="1500" u="sng" dirty="0"/>
          </a:p>
          <a:p>
            <a:pPr lvl="1" eaLnBrk="1" hangingPunct="1">
              <a:buClr>
                <a:schemeClr val="tx1"/>
              </a:buClr>
            </a:pPr>
            <a:r>
              <a:rPr lang="fi-FI" altLang="fi-FI" sz="1300" dirty="0"/>
              <a:t>Yksinkertainen</a:t>
            </a:r>
          </a:p>
          <a:p>
            <a:pPr lvl="1" eaLnBrk="1" hangingPunct="1">
              <a:buClr>
                <a:schemeClr val="tx1"/>
              </a:buClr>
            </a:pPr>
            <a:r>
              <a:rPr lang="fi-FI" altLang="fi-FI" sz="1300" dirty="0"/>
              <a:t>Hyvä menetelmä pienille tiedostoille (N &lt; 50)</a:t>
            </a:r>
          </a:p>
          <a:p>
            <a:pPr lvl="1" eaLnBrk="1" hangingPunct="1">
              <a:buClr>
                <a:schemeClr val="tx1"/>
              </a:buClr>
            </a:pPr>
            <a:r>
              <a:rPr lang="fi-FI" altLang="fi-FI" sz="1300" dirty="0"/>
              <a:t>Tehokas menetelmä, jos tiedosto on ’melkein’ järjestyksessä</a:t>
            </a:r>
          </a:p>
          <a:p>
            <a:pPr eaLnBrk="1" hangingPunct="1">
              <a:buClr>
                <a:schemeClr val="tx1"/>
              </a:buClr>
            </a:pPr>
            <a:r>
              <a:rPr lang="fi-FI" altLang="fi-FI" sz="1500" dirty="0" err="1"/>
              <a:t>Shellsort</a:t>
            </a:r>
            <a:endParaRPr lang="fi-FI" altLang="fi-FI" sz="1500" dirty="0"/>
          </a:p>
          <a:p>
            <a:pPr lvl="1" eaLnBrk="1" hangingPunct="1">
              <a:buClr>
                <a:schemeClr val="tx1"/>
              </a:buClr>
            </a:pPr>
            <a:r>
              <a:rPr lang="fi-FI" altLang="fi-FI" sz="1300" dirty="0"/>
              <a:t>Yksinkertainen</a:t>
            </a:r>
          </a:p>
          <a:p>
            <a:pPr lvl="1" eaLnBrk="1" hangingPunct="1">
              <a:buClr>
                <a:schemeClr val="tx1"/>
              </a:buClr>
            </a:pPr>
            <a:r>
              <a:rPr lang="fi-FI" altLang="fi-FI" sz="1300" dirty="0"/>
              <a:t>Tehokas vielä kohtalaisen suurilla tiedostoilla (N &lt; 100000)</a:t>
            </a:r>
          </a:p>
          <a:p>
            <a:pPr eaLnBrk="1" hangingPunct="1">
              <a:buClr>
                <a:schemeClr val="tx1"/>
              </a:buClr>
            </a:pPr>
            <a:r>
              <a:rPr lang="fi-FI" altLang="fi-FI" sz="1500" u="sng" dirty="0" err="1"/>
              <a:t>Quicksort</a:t>
            </a:r>
            <a:endParaRPr lang="fi-FI" altLang="fi-FI" sz="1500" u="sng" dirty="0"/>
          </a:p>
          <a:p>
            <a:pPr lvl="1" eaLnBrk="1" hangingPunct="1">
              <a:buClr>
                <a:schemeClr val="tx1"/>
              </a:buClr>
            </a:pPr>
            <a:r>
              <a:rPr lang="fi-FI" altLang="fi-FI" sz="1300" dirty="0"/>
              <a:t>Käytännön valinta useimpiin sovelluksiin</a:t>
            </a:r>
          </a:p>
          <a:p>
            <a:pPr lvl="1" eaLnBrk="1" hangingPunct="1">
              <a:buClr>
                <a:schemeClr val="tx1"/>
              </a:buClr>
            </a:pPr>
            <a:r>
              <a:rPr lang="fi-FI" altLang="fi-FI" sz="1300" dirty="0"/>
              <a:t>Ei käy, jos lajittelun pitää olla stabiili</a:t>
            </a:r>
          </a:p>
          <a:p>
            <a:pPr lvl="1" eaLnBrk="1" hangingPunct="1">
              <a:buClr>
                <a:schemeClr val="tx1"/>
              </a:buClr>
            </a:pPr>
            <a:r>
              <a:rPr lang="fi-FI" altLang="fi-FI" sz="1300" dirty="0"/>
              <a:t>Täytyy virittää, jos vaaditaan </a:t>
            </a:r>
            <a:r>
              <a:rPr lang="fi-FI" altLang="fi-FI" sz="1300" dirty="0" err="1"/>
              <a:t>NlogN</a:t>
            </a:r>
            <a:r>
              <a:rPr lang="fi-FI" altLang="fi-FI" sz="1300" dirty="0"/>
              <a:t> käyttäytymistä huonoimmassakin tapauksessa</a:t>
            </a:r>
          </a:p>
          <a:p>
            <a:pPr eaLnBrk="1" hangingPunct="1">
              <a:buClr>
                <a:schemeClr val="tx1"/>
              </a:buClr>
            </a:pPr>
            <a:r>
              <a:rPr lang="fi-FI" altLang="fi-FI" sz="1500" u="sng" dirty="0" err="1"/>
              <a:t>Mergesort</a:t>
            </a:r>
            <a:endParaRPr lang="fi-FI" altLang="fi-FI" sz="1500" u="sng" dirty="0"/>
          </a:p>
          <a:p>
            <a:pPr lvl="1" eaLnBrk="1" hangingPunct="1">
              <a:buClr>
                <a:schemeClr val="tx1"/>
              </a:buClr>
            </a:pPr>
            <a:r>
              <a:rPr lang="fi-FI" altLang="fi-FI" sz="1300" dirty="0"/>
              <a:t>Taattu </a:t>
            </a:r>
            <a:r>
              <a:rPr lang="fi-FI" altLang="fi-FI" sz="1300" dirty="0" err="1"/>
              <a:t>NlogN</a:t>
            </a:r>
            <a:endParaRPr lang="fi-FI" altLang="fi-FI" sz="1300" dirty="0"/>
          </a:p>
          <a:p>
            <a:pPr lvl="1" eaLnBrk="1" hangingPunct="1">
              <a:buClr>
                <a:schemeClr val="tx1"/>
              </a:buClr>
            </a:pPr>
            <a:r>
              <a:rPr lang="fi-FI" altLang="fi-FI" sz="1300" dirty="0"/>
              <a:t>Sopii erityisen hyvin tilanteisiin, joissa dataa käsitellään peräkkäisesti (linkitetty lista, tiedosto).</a:t>
            </a:r>
          </a:p>
          <a:p>
            <a:pPr lvl="1" eaLnBrk="1" hangingPunct="1">
              <a:buClr>
                <a:schemeClr val="tx1"/>
              </a:buClr>
            </a:pPr>
            <a:r>
              <a:rPr lang="fi-FI" altLang="fi-FI" sz="1300" dirty="0"/>
              <a:t>Tarvitaan aputaulukko: vaatii enemmän muistia, kuin muut järjestämismenetelmät</a:t>
            </a:r>
          </a:p>
          <a:p>
            <a:pPr lvl="1" eaLnBrk="1" hangingPunct="1">
              <a:buFont typeface="Wingdings" panose="05000000000000000000" pitchFamily="2" charset="2"/>
              <a:buNone/>
            </a:pPr>
            <a:endParaRPr lang="fi-FI" altLang="fi-FI" sz="1300" dirty="0"/>
          </a:p>
        </p:txBody>
      </p:sp>
    </p:spTree>
    <p:extLst>
      <p:ext uri="{BB962C8B-B14F-4D97-AF65-F5344CB8AC3E}">
        <p14:creationId xmlns:p14="http://schemas.microsoft.com/office/powerpoint/2010/main" val="4756829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fi-FI" altLang="fi-FI" sz="3500"/>
              <a:t>Mitä järjestämismenetelmää tulisi käyttää?</a:t>
            </a:r>
          </a:p>
        </p:txBody>
      </p:sp>
      <p:sp>
        <p:nvSpPr>
          <p:cNvPr id="66563" name="Rectangle 3"/>
          <p:cNvSpPr>
            <a:spLocks noGrp="1" noChangeArrowheads="1"/>
          </p:cNvSpPr>
          <p:nvPr>
            <p:ph type="body" idx="1"/>
          </p:nvPr>
        </p:nvSpPr>
        <p:spPr/>
        <p:txBody>
          <a:bodyPr/>
          <a:lstStyle/>
          <a:p>
            <a:pPr eaLnBrk="1" hangingPunct="1"/>
            <a:r>
              <a:rPr lang="fi-FI" altLang="fi-FI"/>
              <a:t>Insertion sort, jos alkiota on hyvin vähän (3 – 30)</a:t>
            </a:r>
          </a:p>
          <a:p>
            <a:pPr eaLnBrk="1" hangingPunct="1"/>
            <a:r>
              <a:rPr lang="fi-FI" altLang="fi-FI"/>
              <a:t>Shellsort on OK vielä tuhansille alkioille</a:t>
            </a:r>
          </a:p>
          <a:p>
            <a:pPr eaLnBrk="1" hangingPunct="1"/>
            <a:r>
              <a:rPr lang="fi-FI" altLang="fi-FI"/>
              <a:t>Quicksort, jos alkioita on kymmeniä tuhansia</a:t>
            </a:r>
          </a:p>
          <a:p>
            <a:pPr eaLnBrk="1" hangingPunct="1"/>
            <a:r>
              <a:rPr lang="fi-FI" altLang="fi-FI"/>
              <a:t>Mergesort, jos järjestämisen on oltava stabiili</a:t>
            </a:r>
          </a:p>
        </p:txBody>
      </p:sp>
    </p:spTree>
    <p:extLst>
      <p:ext uri="{BB962C8B-B14F-4D97-AF65-F5344CB8AC3E}">
        <p14:creationId xmlns:p14="http://schemas.microsoft.com/office/powerpoint/2010/main" val="3873151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fi-FI" altLang="fi-FI" sz="3500"/>
              <a:t>Järjestämismenetelmistä on osattava</a:t>
            </a:r>
          </a:p>
        </p:txBody>
      </p:sp>
      <p:sp>
        <p:nvSpPr>
          <p:cNvPr id="70659" name="Rectangle 3"/>
          <p:cNvSpPr>
            <a:spLocks noGrp="1" noChangeArrowheads="1"/>
          </p:cNvSpPr>
          <p:nvPr>
            <p:ph type="body" idx="1"/>
          </p:nvPr>
        </p:nvSpPr>
        <p:spPr/>
        <p:txBody>
          <a:bodyPr/>
          <a:lstStyle/>
          <a:p>
            <a:pPr eaLnBrk="1" hangingPunct="1">
              <a:lnSpc>
                <a:spcPct val="90000"/>
              </a:lnSpc>
              <a:defRPr/>
            </a:pPr>
            <a:r>
              <a:rPr lang="fi-FI" sz="2100" dirty="0"/>
              <a:t>Eri järjestämisalgoritmien ominaisuudet (mm. stabiilius)</a:t>
            </a:r>
          </a:p>
          <a:p>
            <a:pPr eaLnBrk="1" hangingPunct="1">
              <a:lnSpc>
                <a:spcPct val="90000"/>
              </a:lnSpc>
              <a:defRPr/>
            </a:pPr>
            <a:r>
              <a:rPr lang="fi-FI" sz="2100" dirty="0"/>
              <a:t>Eri järjestämisalgoritmien keskinäinen tehokkuus</a:t>
            </a:r>
          </a:p>
          <a:p>
            <a:pPr eaLnBrk="1" hangingPunct="1">
              <a:lnSpc>
                <a:spcPct val="90000"/>
              </a:lnSpc>
              <a:defRPr/>
            </a:pPr>
            <a:r>
              <a:rPr lang="fi-FI" sz="2100" dirty="0"/>
              <a:t>Osattava valita sopiva järjestämismenetelmä alkioiden määrän perusteella</a:t>
            </a:r>
          </a:p>
          <a:p>
            <a:pPr eaLnBrk="1" hangingPunct="1">
              <a:lnSpc>
                <a:spcPct val="90000"/>
              </a:lnSpc>
              <a:defRPr/>
            </a:pPr>
            <a:r>
              <a:rPr lang="fi-FI" sz="2100" dirty="0"/>
              <a:t>Osattava toteuttaa järjestämisalgoritmi millä tahansa ohjelmointikielellä, kun algoritmi on annettu</a:t>
            </a:r>
          </a:p>
          <a:p>
            <a:pPr eaLnBrk="1" hangingPunct="1">
              <a:lnSpc>
                <a:spcPct val="90000"/>
              </a:lnSpc>
              <a:defRPr/>
            </a:pPr>
            <a:r>
              <a:rPr lang="fi-FI" sz="2100" dirty="0">
                <a:solidFill>
                  <a:schemeClr val="tx1">
                    <a:lumMod val="50000"/>
                    <a:lumOff val="50000"/>
                  </a:schemeClr>
                </a:solidFill>
              </a:rPr>
              <a:t>Osattava toteuttaa järjestämisalgoritmi myös </a:t>
            </a:r>
            <a:r>
              <a:rPr lang="fi-FI" sz="2100" dirty="0" err="1">
                <a:solidFill>
                  <a:schemeClr val="tx1">
                    <a:lumMod val="50000"/>
                    <a:lumOff val="50000"/>
                  </a:schemeClr>
                </a:solidFill>
              </a:rPr>
              <a:t>rakenteisilla</a:t>
            </a:r>
            <a:r>
              <a:rPr lang="fi-FI" sz="2100" dirty="0">
                <a:solidFill>
                  <a:schemeClr val="tx1">
                    <a:lumMod val="50000"/>
                    <a:lumOff val="50000"/>
                  </a:schemeClr>
                </a:solidFill>
              </a:rPr>
              <a:t> tietotyypeillä (C:n tietue, Javan ja C++:n luokat)</a:t>
            </a:r>
          </a:p>
          <a:p>
            <a:pPr eaLnBrk="1" hangingPunct="1">
              <a:lnSpc>
                <a:spcPct val="90000"/>
              </a:lnSpc>
              <a:defRPr/>
            </a:pPr>
            <a:r>
              <a:rPr lang="fi-FI" sz="2100" dirty="0">
                <a:solidFill>
                  <a:schemeClr val="accent3">
                    <a:lumMod val="85000"/>
                  </a:schemeClr>
                </a:solidFill>
              </a:rPr>
              <a:t>”</a:t>
            </a:r>
            <a:r>
              <a:rPr lang="fi-FI" sz="2100" dirty="0" err="1">
                <a:solidFill>
                  <a:schemeClr val="accent3">
                    <a:lumMod val="85000"/>
                  </a:schemeClr>
                </a:solidFill>
              </a:rPr>
              <a:t>Extra</a:t>
            </a:r>
            <a:r>
              <a:rPr lang="fi-FI" sz="2100" dirty="0">
                <a:solidFill>
                  <a:schemeClr val="accent3">
                    <a:lumMod val="85000"/>
                  </a:schemeClr>
                </a:solidFill>
              </a:rPr>
              <a:t>”: Osattava selittää tai piirtää </a:t>
            </a:r>
            <a:r>
              <a:rPr lang="fi-FI" sz="2100" dirty="0" err="1">
                <a:solidFill>
                  <a:schemeClr val="accent3">
                    <a:lumMod val="85000"/>
                  </a:schemeClr>
                </a:solidFill>
              </a:rPr>
              <a:t>insertion</a:t>
            </a:r>
            <a:r>
              <a:rPr lang="fi-FI" sz="2100" dirty="0">
                <a:solidFill>
                  <a:schemeClr val="accent3">
                    <a:lumMod val="85000"/>
                  </a:schemeClr>
                </a:solidFill>
              </a:rPr>
              <a:t> sortin, </a:t>
            </a:r>
            <a:r>
              <a:rPr lang="fi-FI" sz="2100" dirty="0" err="1">
                <a:solidFill>
                  <a:schemeClr val="accent3">
                    <a:lumMod val="85000"/>
                  </a:schemeClr>
                </a:solidFill>
              </a:rPr>
              <a:t>shellsortin</a:t>
            </a:r>
            <a:r>
              <a:rPr lang="fi-FI" sz="2100" dirty="0">
                <a:solidFill>
                  <a:schemeClr val="accent3">
                    <a:lumMod val="85000"/>
                  </a:schemeClr>
                </a:solidFill>
              </a:rPr>
              <a:t>, </a:t>
            </a:r>
            <a:r>
              <a:rPr lang="fi-FI" sz="2100" dirty="0" err="1">
                <a:solidFill>
                  <a:schemeClr val="accent3">
                    <a:lumMod val="85000"/>
                  </a:schemeClr>
                </a:solidFill>
              </a:rPr>
              <a:t>quicksort</a:t>
            </a:r>
            <a:r>
              <a:rPr lang="fi-FI" sz="2100" dirty="0">
                <a:solidFill>
                  <a:schemeClr val="accent3">
                    <a:lumMod val="85000"/>
                  </a:schemeClr>
                </a:solidFill>
              </a:rPr>
              <a:t> ja </a:t>
            </a:r>
            <a:r>
              <a:rPr lang="fi-FI" sz="2100" dirty="0" err="1">
                <a:solidFill>
                  <a:schemeClr val="accent3">
                    <a:lumMod val="85000"/>
                  </a:schemeClr>
                </a:solidFill>
              </a:rPr>
              <a:t>mergesortin</a:t>
            </a:r>
            <a:r>
              <a:rPr lang="fi-FI" sz="2100" dirty="0">
                <a:solidFill>
                  <a:schemeClr val="accent3">
                    <a:lumMod val="85000"/>
                  </a:schemeClr>
                </a:solidFill>
              </a:rPr>
              <a:t> periaate</a:t>
            </a:r>
          </a:p>
        </p:txBody>
      </p:sp>
    </p:spTree>
    <p:extLst>
      <p:ext uri="{BB962C8B-B14F-4D97-AF65-F5344CB8AC3E}">
        <p14:creationId xmlns:p14="http://schemas.microsoft.com/office/powerpoint/2010/main" val="15250405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A75B-BEFE-C51D-A583-F4079BF52417}"/>
              </a:ext>
            </a:extLst>
          </p:cNvPr>
          <p:cNvSpPr>
            <a:spLocks noGrp="1"/>
          </p:cNvSpPr>
          <p:nvPr>
            <p:ph type="title"/>
          </p:nvPr>
        </p:nvSpPr>
        <p:spPr/>
        <p:txBody>
          <a:bodyPr/>
          <a:lstStyle/>
          <a:p>
            <a:r>
              <a:rPr lang="fi-FI" dirty="0"/>
              <a:t>Funktioreferenssi</a:t>
            </a:r>
          </a:p>
        </p:txBody>
      </p:sp>
      <p:sp>
        <p:nvSpPr>
          <p:cNvPr id="3" name="Content Placeholder 2">
            <a:extLst>
              <a:ext uri="{FF2B5EF4-FFF2-40B4-BE49-F238E27FC236}">
                <a16:creationId xmlns:a16="http://schemas.microsoft.com/office/drawing/2014/main" id="{DFA98D88-8189-933D-A60A-ABAC6487EFEC}"/>
              </a:ext>
            </a:extLst>
          </p:cNvPr>
          <p:cNvSpPr>
            <a:spLocks noGrp="1"/>
          </p:cNvSpPr>
          <p:nvPr>
            <p:ph idx="1"/>
          </p:nvPr>
        </p:nvSpPr>
        <p:spPr/>
        <p:txBody>
          <a:bodyPr/>
          <a:lstStyle/>
          <a:p>
            <a:r>
              <a:rPr lang="fi-FI" dirty="0">
                <a:hlinkClick r:id="rId2"/>
              </a:rPr>
              <a:t>https://www.gregorygaines.com/blog/how-to-use-function-pointers-in-java/</a:t>
            </a:r>
            <a:r>
              <a:rPr lang="fi-FI" dirty="0"/>
              <a:t> </a:t>
            </a:r>
          </a:p>
          <a:p>
            <a:r>
              <a:rPr lang="fi-FI" err="1"/>
              <a:t>FunctionRef</a:t>
            </a:r>
            <a:r>
              <a:rPr lang="fi-FI"/>
              <a:t>.java</a:t>
            </a:r>
            <a:endParaRPr lang="fi-FI" dirty="0"/>
          </a:p>
        </p:txBody>
      </p:sp>
    </p:spTree>
    <p:extLst>
      <p:ext uri="{BB962C8B-B14F-4D97-AF65-F5344CB8AC3E}">
        <p14:creationId xmlns:p14="http://schemas.microsoft.com/office/powerpoint/2010/main" val="780262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B31B5-060E-DEDC-6BF1-1AC43EA8E50C}"/>
              </a:ext>
            </a:extLst>
          </p:cNvPr>
          <p:cNvSpPr>
            <a:spLocks noGrp="1"/>
          </p:cNvSpPr>
          <p:nvPr>
            <p:ph type="ctrTitle"/>
          </p:nvPr>
        </p:nvSpPr>
        <p:spPr/>
        <p:txBody>
          <a:bodyPr/>
          <a:lstStyle/>
          <a:p>
            <a:r>
              <a:rPr lang="fi-FI" dirty="0"/>
              <a:t>Javan kokoelmaluokat</a:t>
            </a:r>
          </a:p>
        </p:txBody>
      </p:sp>
      <p:sp>
        <p:nvSpPr>
          <p:cNvPr id="3" name="Subtitle 2">
            <a:extLst>
              <a:ext uri="{FF2B5EF4-FFF2-40B4-BE49-F238E27FC236}">
                <a16:creationId xmlns:a16="http://schemas.microsoft.com/office/drawing/2014/main" id="{2F771F63-C3F3-CF23-FFE7-BCD2390839D4}"/>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17208148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CB387-09C2-9322-5F81-7C203605276A}"/>
              </a:ext>
            </a:extLst>
          </p:cNvPr>
          <p:cNvSpPr>
            <a:spLocks noGrp="1"/>
          </p:cNvSpPr>
          <p:nvPr>
            <p:ph type="title"/>
          </p:nvPr>
        </p:nvSpPr>
        <p:spPr/>
        <p:txBody>
          <a:bodyPr/>
          <a:lstStyle/>
          <a:p>
            <a:r>
              <a:rPr lang="fi-FI" dirty="0"/>
              <a:t>Javan kokoelmaluokat</a:t>
            </a:r>
          </a:p>
        </p:txBody>
      </p:sp>
      <p:sp>
        <p:nvSpPr>
          <p:cNvPr id="3" name="Content Placeholder 2">
            <a:extLst>
              <a:ext uri="{FF2B5EF4-FFF2-40B4-BE49-F238E27FC236}">
                <a16:creationId xmlns:a16="http://schemas.microsoft.com/office/drawing/2014/main" id="{4F7390EB-CB74-2421-0A00-781F981FB1F8}"/>
              </a:ext>
            </a:extLst>
          </p:cNvPr>
          <p:cNvSpPr>
            <a:spLocks noGrp="1"/>
          </p:cNvSpPr>
          <p:nvPr>
            <p:ph idx="1"/>
          </p:nvPr>
        </p:nvSpPr>
        <p:spPr/>
        <p:txBody>
          <a:bodyPr/>
          <a:lstStyle/>
          <a:p>
            <a:r>
              <a:rPr lang="fi-FI" dirty="0"/>
              <a:t>Opiskellaan </a:t>
            </a:r>
          </a:p>
          <a:p>
            <a:pPr lvl="1"/>
            <a:r>
              <a:rPr lang="fi-FI" dirty="0" err="1"/>
              <a:t>ArrayList</a:t>
            </a:r>
            <a:endParaRPr lang="fi-FI" dirty="0"/>
          </a:p>
          <a:p>
            <a:pPr lvl="1"/>
            <a:r>
              <a:rPr lang="fi-FI" dirty="0" err="1"/>
              <a:t>HashMap</a:t>
            </a:r>
            <a:endParaRPr lang="fi-FI" dirty="0"/>
          </a:p>
        </p:txBody>
      </p:sp>
    </p:spTree>
    <p:extLst>
      <p:ext uri="{BB962C8B-B14F-4D97-AF65-F5344CB8AC3E}">
        <p14:creationId xmlns:p14="http://schemas.microsoft.com/office/powerpoint/2010/main" val="35624527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BB0B1-C0B6-B538-AFE4-C984A0E4E6B4}"/>
              </a:ext>
            </a:extLst>
          </p:cNvPr>
          <p:cNvSpPr>
            <a:spLocks noGrp="1"/>
          </p:cNvSpPr>
          <p:nvPr>
            <p:ph type="ctrTitle"/>
          </p:nvPr>
        </p:nvSpPr>
        <p:spPr/>
        <p:txBody>
          <a:bodyPr/>
          <a:lstStyle/>
          <a:p>
            <a:r>
              <a:rPr lang="fi-FI" dirty="0"/>
              <a:t>Listat</a:t>
            </a:r>
          </a:p>
        </p:txBody>
      </p:sp>
      <p:sp>
        <p:nvSpPr>
          <p:cNvPr id="3" name="Subtitle 2">
            <a:extLst>
              <a:ext uri="{FF2B5EF4-FFF2-40B4-BE49-F238E27FC236}">
                <a16:creationId xmlns:a16="http://schemas.microsoft.com/office/drawing/2014/main" id="{B2629A8E-03A4-CF2F-0C45-F45CE03C8F19}"/>
              </a:ext>
            </a:extLst>
          </p:cNvPr>
          <p:cNvSpPr>
            <a:spLocks noGrp="1"/>
          </p:cNvSpPr>
          <p:nvPr>
            <p:ph type="subTitle" idx="1"/>
          </p:nvPr>
        </p:nvSpPr>
        <p:spPr/>
        <p:txBody>
          <a:bodyPr/>
          <a:lstStyle/>
          <a:p>
            <a:r>
              <a:rPr lang="fi-FI" dirty="0" err="1"/>
              <a:t>ArrayList</a:t>
            </a:r>
            <a:endParaRPr lang="fi-FI" dirty="0"/>
          </a:p>
        </p:txBody>
      </p:sp>
    </p:spTree>
    <p:extLst>
      <p:ext uri="{BB962C8B-B14F-4D97-AF65-F5344CB8AC3E}">
        <p14:creationId xmlns:p14="http://schemas.microsoft.com/office/powerpoint/2010/main" val="30956764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9F4AC-24CD-0CB3-57FD-DD37A9826181}"/>
              </a:ext>
            </a:extLst>
          </p:cNvPr>
          <p:cNvSpPr>
            <a:spLocks noGrp="1"/>
          </p:cNvSpPr>
          <p:nvPr>
            <p:ph type="title"/>
          </p:nvPr>
        </p:nvSpPr>
        <p:spPr/>
        <p:txBody>
          <a:bodyPr/>
          <a:lstStyle/>
          <a:p>
            <a:r>
              <a:rPr lang="fi-FI" dirty="0"/>
              <a:t>Listat</a:t>
            </a:r>
          </a:p>
        </p:txBody>
      </p:sp>
      <p:sp>
        <p:nvSpPr>
          <p:cNvPr id="3" name="Content Placeholder 2">
            <a:extLst>
              <a:ext uri="{FF2B5EF4-FFF2-40B4-BE49-F238E27FC236}">
                <a16:creationId xmlns:a16="http://schemas.microsoft.com/office/drawing/2014/main" id="{061B9DED-630F-21FA-6771-9CB3AF13F656}"/>
              </a:ext>
            </a:extLst>
          </p:cNvPr>
          <p:cNvSpPr>
            <a:spLocks noGrp="1"/>
          </p:cNvSpPr>
          <p:nvPr>
            <p:ph idx="1"/>
          </p:nvPr>
        </p:nvSpPr>
        <p:spPr/>
        <p:txBody>
          <a:bodyPr/>
          <a:lstStyle/>
          <a:p>
            <a:r>
              <a:rPr lang="fi-FI" dirty="0" err="1"/>
              <a:t>ArrayList</a:t>
            </a:r>
            <a:r>
              <a:rPr lang="fi-FI" dirty="0"/>
              <a:t> on Javan kokoelmaluokka listojen käsittelyyn. </a:t>
            </a:r>
            <a:r>
              <a:rPr lang="fi-FI" dirty="0" err="1"/>
              <a:t>ArrayListiä</a:t>
            </a:r>
            <a:r>
              <a:rPr lang="fi-FI" dirty="0"/>
              <a:t> kannattaa käyttää taulukon sijaan silloin kun listan koko voi muuttua. </a:t>
            </a:r>
            <a:r>
              <a:rPr lang="fi-FI" dirty="0" err="1"/>
              <a:t>ArrayListissä</a:t>
            </a:r>
            <a:r>
              <a:rPr lang="fi-FI" dirty="0"/>
              <a:t> on myös enemmän valmiita algoritmeja kuin taulukossa.</a:t>
            </a:r>
          </a:p>
          <a:p>
            <a:r>
              <a:rPr lang="fi-FI" dirty="0" err="1"/>
              <a:t>ArrayListissä</a:t>
            </a:r>
            <a:r>
              <a:rPr lang="fi-FI" dirty="0"/>
              <a:t> on metodit mm. arvojen lisäämiseen listalle, arvojen poistamiseen listalta sekä arvojen hakemiseen tietystä listan tietystä kohdasta.</a:t>
            </a:r>
          </a:p>
          <a:p>
            <a:r>
              <a:rPr lang="fi-FI" dirty="0"/>
              <a:t>Listan konkreettinen toiminta on abstrahoitu metodien taakse, jolloin listaa käyttävän ohjelmoijan ei tarvitse välittää listan sisäisestä toiminnallisuudesta.</a:t>
            </a:r>
          </a:p>
        </p:txBody>
      </p:sp>
    </p:spTree>
    <p:extLst>
      <p:ext uri="{BB962C8B-B14F-4D97-AF65-F5344CB8AC3E}">
        <p14:creationId xmlns:p14="http://schemas.microsoft.com/office/powerpoint/2010/main" val="32448785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983C-6FF4-7184-AE13-60B0932912EB}"/>
              </a:ext>
            </a:extLst>
          </p:cNvPr>
          <p:cNvSpPr>
            <a:spLocks noGrp="1"/>
          </p:cNvSpPr>
          <p:nvPr>
            <p:ph type="title"/>
          </p:nvPr>
        </p:nvSpPr>
        <p:spPr/>
        <p:txBody>
          <a:bodyPr/>
          <a:lstStyle/>
          <a:p>
            <a:r>
              <a:rPr lang="fi-FI" dirty="0"/>
              <a:t>Linkit materiaaliin</a:t>
            </a:r>
          </a:p>
        </p:txBody>
      </p:sp>
      <p:sp>
        <p:nvSpPr>
          <p:cNvPr id="3" name="Content Placeholder 2">
            <a:extLst>
              <a:ext uri="{FF2B5EF4-FFF2-40B4-BE49-F238E27FC236}">
                <a16:creationId xmlns:a16="http://schemas.microsoft.com/office/drawing/2014/main" id="{267F989C-C506-9FAE-D985-DC1EEE5E8AC9}"/>
              </a:ext>
            </a:extLst>
          </p:cNvPr>
          <p:cNvSpPr>
            <a:spLocks noGrp="1"/>
          </p:cNvSpPr>
          <p:nvPr>
            <p:ph idx="1"/>
          </p:nvPr>
        </p:nvSpPr>
        <p:spPr/>
        <p:txBody>
          <a:bodyPr>
            <a:normAutofit fontScale="70000" lnSpcReduction="20000"/>
          </a:bodyPr>
          <a:lstStyle/>
          <a:p>
            <a:r>
              <a:rPr lang="fi-FI" dirty="0"/>
              <a:t>Listojen perusteet</a:t>
            </a:r>
          </a:p>
          <a:p>
            <a:pPr lvl="1"/>
            <a:r>
              <a:rPr lang="fi-FI" dirty="0">
                <a:hlinkClick r:id="rId2"/>
              </a:rPr>
              <a:t>https://ohjelmointi-20.mooc.fi/osa-3/2-listat</a:t>
            </a:r>
            <a:r>
              <a:rPr lang="fi-FI" dirty="0"/>
              <a:t> </a:t>
            </a:r>
          </a:p>
          <a:p>
            <a:r>
              <a:rPr lang="fi-FI" dirty="0"/>
              <a:t>Oliot listalla</a:t>
            </a:r>
          </a:p>
          <a:p>
            <a:pPr lvl="1"/>
            <a:r>
              <a:rPr lang="fi-FI" dirty="0">
                <a:hlinkClick r:id="rId3"/>
              </a:rPr>
              <a:t>https://ohjelmointi-20.mooc.fi/osa-4/2-oliot-listalla</a:t>
            </a:r>
            <a:r>
              <a:rPr lang="fi-FI" dirty="0"/>
              <a:t> </a:t>
            </a:r>
          </a:p>
          <a:p>
            <a:r>
              <a:rPr lang="fi-FI" dirty="0"/>
              <a:t>Tiedon lukeminen ja tiedostot:</a:t>
            </a:r>
          </a:p>
          <a:p>
            <a:pPr lvl="1"/>
            <a:r>
              <a:rPr lang="fi-FI" dirty="0"/>
              <a:t>Lukeminen tiedostosta</a:t>
            </a:r>
          </a:p>
          <a:p>
            <a:pPr lvl="1"/>
            <a:r>
              <a:rPr lang="fi-FI" dirty="0"/>
              <a:t>Määrämuotoisen tiedon lukeminen tiedostosta</a:t>
            </a:r>
          </a:p>
          <a:p>
            <a:pPr lvl="1"/>
            <a:r>
              <a:rPr lang="fi-FI" dirty="0"/>
              <a:t>Olioiden lukeminen tiedostosta</a:t>
            </a:r>
          </a:p>
          <a:p>
            <a:pPr lvl="1"/>
            <a:r>
              <a:rPr lang="fi-FI" dirty="0">
                <a:hlinkClick r:id="rId4"/>
              </a:rPr>
              <a:t>https://ohjelmointi-20.mooc.fi/osa-4/3-tiedon-lukeminen-ja-tiedostot</a:t>
            </a:r>
            <a:r>
              <a:rPr lang="fi-FI" dirty="0"/>
              <a:t> </a:t>
            </a:r>
          </a:p>
          <a:p>
            <a:r>
              <a:rPr lang="fi-FI" dirty="0"/>
              <a:t>Kokoelmien käsittely arvojen virtana (lambda-lauseke)</a:t>
            </a:r>
          </a:p>
          <a:p>
            <a:pPr lvl="1"/>
            <a:r>
              <a:rPr lang="fi-FI" dirty="0">
                <a:hlinkClick r:id="rId5"/>
              </a:rPr>
              <a:t>https://ohjelmointi-20.mooc.fi/osa-10/1-kokoelmien-kasittely-virtana</a:t>
            </a:r>
            <a:r>
              <a:rPr lang="fi-FI" dirty="0"/>
              <a:t>  </a:t>
            </a:r>
          </a:p>
          <a:p>
            <a:r>
              <a:rPr lang="fi-FI" dirty="0" err="1"/>
              <a:t>Comparable</a:t>
            </a:r>
            <a:r>
              <a:rPr lang="fi-FI" dirty="0"/>
              <a:t>- ja </a:t>
            </a:r>
            <a:r>
              <a:rPr lang="fi-FI" dirty="0" err="1"/>
              <a:t>Comparer</a:t>
            </a:r>
            <a:r>
              <a:rPr lang="fi-FI" dirty="0"/>
              <a:t>-rajapinnat</a:t>
            </a:r>
          </a:p>
          <a:p>
            <a:pPr lvl="1"/>
            <a:r>
              <a:rPr lang="fi-FI" dirty="0">
                <a:hlinkClick r:id="rId6"/>
              </a:rPr>
              <a:t>https://ohjelmointi-20.mooc.fi/osa-10/2-rajapinta-comparable</a:t>
            </a:r>
            <a:r>
              <a:rPr lang="fi-FI" dirty="0"/>
              <a:t> </a:t>
            </a:r>
          </a:p>
          <a:p>
            <a:r>
              <a:rPr lang="fi-FI" dirty="0"/>
              <a:t>Yleishyödyllisiä tekniikoita: </a:t>
            </a:r>
            <a:r>
              <a:rPr lang="fi-FI" dirty="0" err="1"/>
              <a:t>StringBuilder</a:t>
            </a:r>
            <a:r>
              <a:rPr lang="fi-FI" dirty="0"/>
              <a:t>, Säännölliset lausekkeet, </a:t>
            </a:r>
            <a:r>
              <a:rPr lang="fi-FI" dirty="0" err="1"/>
              <a:t>Enum</a:t>
            </a:r>
            <a:endParaRPr lang="fi-FI" dirty="0"/>
          </a:p>
          <a:p>
            <a:pPr lvl="1"/>
            <a:r>
              <a:rPr lang="fi-FI" dirty="0">
                <a:hlinkClick r:id="rId7"/>
              </a:rPr>
              <a:t>https://ohjelmointi-20.mooc.fi/osa-10/3-yleishyodyllisia-tekniikoita</a:t>
            </a:r>
            <a:r>
              <a:rPr lang="fi-FI" dirty="0"/>
              <a:t>  </a:t>
            </a:r>
          </a:p>
        </p:txBody>
      </p:sp>
    </p:spTree>
    <p:extLst>
      <p:ext uri="{BB962C8B-B14F-4D97-AF65-F5344CB8AC3E}">
        <p14:creationId xmlns:p14="http://schemas.microsoft.com/office/powerpoint/2010/main" val="3300126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EFB5-7171-5C51-CC6A-B8B59D9152C9}"/>
              </a:ext>
            </a:extLst>
          </p:cNvPr>
          <p:cNvSpPr>
            <a:spLocks noGrp="1"/>
          </p:cNvSpPr>
          <p:nvPr>
            <p:ph type="title"/>
          </p:nvPr>
        </p:nvSpPr>
        <p:spPr/>
        <p:txBody>
          <a:bodyPr/>
          <a:lstStyle/>
          <a:p>
            <a:r>
              <a:rPr lang="fi-FI" dirty="0" err="1"/>
              <a:t>ArrayList</a:t>
            </a:r>
            <a:endParaRPr lang="fi-FI" dirty="0"/>
          </a:p>
        </p:txBody>
      </p:sp>
      <p:sp>
        <p:nvSpPr>
          <p:cNvPr id="3" name="Content Placeholder 2">
            <a:extLst>
              <a:ext uri="{FF2B5EF4-FFF2-40B4-BE49-F238E27FC236}">
                <a16:creationId xmlns:a16="http://schemas.microsoft.com/office/drawing/2014/main" id="{EC6808DE-3C04-5883-0C75-9AC40706758D}"/>
              </a:ext>
            </a:extLst>
          </p:cNvPr>
          <p:cNvSpPr>
            <a:spLocks noGrp="1"/>
          </p:cNvSpPr>
          <p:nvPr>
            <p:ph idx="1"/>
          </p:nvPr>
        </p:nvSpPr>
        <p:spPr>
          <a:xfrm>
            <a:off x="838199" y="1825625"/>
            <a:ext cx="4833551" cy="4351338"/>
          </a:xfrm>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2400" dirty="0"/>
              <a:t>Listan luominen:</a:t>
            </a:r>
            <a:br>
              <a:rPr lang="fi-FI" sz="2400" dirty="0"/>
            </a:br>
            <a:r>
              <a:rPr kumimoji="0" lang="fi-FI"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ArrayList</a:t>
            </a:r>
            <a:r>
              <a:rPr kumimoji="0" lang="fi-FI"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&lt;</a:t>
            </a:r>
            <a:r>
              <a:rPr lang="fi-FI" sz="1400" dirty="0">
                <a:solidFill>
                  <a:srgbClr val="0000FF"/>
                </a:solidFill>
                <a:latin typeface="Consolas" panose="020B0609020204030204" pitchFamily="49" charset="0"/>
              </a:rPr>
              <a:t>T</a:t>
            </a:r>
            <a:r>
              <a:rPr kumimoji="0" lang="fi-FI"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yyppi</a:t>
            </a:r>
            <a:r>
              <a:rPr kumimoji="0" lang="fi-FI"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&gt; nimet = </a:t>
            </a:r>
            <a:r>
              <a:rPr kumimoji="0" lang="fi-FI"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new</a:t>
            </a:r>
            <a:r>
              <a:rPr kumimoji="0" lang="fi-FI"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fi-FI"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ArrayList</a:t>
            </a:r>
            <a:r>
              <a:rPr kumimoji="0" lang="fi-FI"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&lt;&gt;();</a:t>
            </a:r>
            <a:br>
              <a:rPr lang="fi-FI" sz="2400" dirty="0"/>
            </a:br>
            <a:r>
              <a:rPr lang="fi-FI" sz="2400" dirty="0"/>
              <a:t>Tyyppi on listan alkioiden tyyppi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i-FI"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i-FI" sz="2400" dirty="0"/>
              <a:t>Aluksi lista on tyhjä. Listaan lisätään uusia alkioita </a:t>
            </a:r>
            <a:r>
              <a:rPr lang="fi-FI" sz="2400" dirty="0" err="1"/>
              <a:t>add</a:t>
            </a:r>
            <a:r>
              <a:rPr lang="fi-FI" sz="2400" dirty="0"/>
              <a:t>-metodilla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fi-FI"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i-FI" sz="2400" dirty="0"/>
              <a:t>Listan alkion arvon voi lukea </a:t>
            </a:r>
            <a:r>
              <a:rPr lang="fi-FI" sz="2400" dirty="0" err="1"/>
              <a:t>get</a:t>
            </a:r>
            <a:r>
              <a:rPr lang="fi-FI" sz="2400" dirty="0"/>
              <a:t>()-metodilla. Parametriksi annetaan alkion indeksi.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i-FI"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i-FI" sz="2400" dirty="0"/>
              <a:t>Taulukoista tuttu hakasulkeiden kautta viittaaminen (nimet[i]) ei toimi Javan </a:t>
            </a:r>
            <a:r>
              <a:rPr lang="fi-FI" sz="2400" dirty="0" err="1"/>
              <a:t>ArrayListissä</a:t>
            </a:r>
            <a:r>
              <a:rPr lang="fi-FI" sz="2400" dirty="0"/>
              <a:t>.</a:t>
            </a:r>
          </a:p>
        </p:txBody>
      </p:sp>
      <p:sp>
        <p:nvSpPr>
          <p:cNvPr id="5" name="TextBox 4">
            <a:extLst>
              <a:ext uri="{FF2B5EF4-FFF2-40B4-BE49-F238E27FC236}">
                <a16:creationId xmlns:a16="http://schemas.microsoft.com/office/drawing/2014/main" id="{1EF5AAF8-BE3E-8D37-9388-078A5B8631D9}"/>
              </a:ext>
            </a:extLst>
          </p:cNvPr>
          <p:cNvSpPr txBox="1"/>
          <p:nvPr/>
        </p:nvSpPr>
        <p:spPr>
          <a:xfrm>
            <a:off x="6271054" y="1692970"/>
            <a:ext cx="5435428" cy="4616648"/>
          </a:xfrm>
          <a:prstGeom prst="rect">
            <a:avLst/>
          </a:prstGeom>
          <a:noFill/>
        </p:spPr>
        <p:txBody>
          <a:bodyPr wrap="square">
            <a:spAutoFit/>
          </a:bodyPr>
          <a:lstStyle/>
          <a:p>
            <a:r>
              <a:rPr lang="fi-FI" sz="1400" b="0">
                <a:solidFill>
                  <a:srgbClr val="008000"/>
                </a:solidFill>
                <a:effectLst/>
                <a:latin typeface="Consolas" panose="020B0609020204030204" pitchFamily="49" charset="0"/>
              </a:rPr>
              <a:t>// tuodaan lista ohjelman käyttöön</a:t>
            </a:r>
            <a:endParaRPr lang="fi-FI" sz="1400" b="0">
              <a:solidFill>
                <a:srgbClr val="000000"/>
              </a:solidFill>
              <a:effectLst/>
              <a:latin typeface="Consolas" panose="020B0609020204030204" pitchFamily="49" charset="0"/>
            </a:endParaRPr>
          </a:p>
          <a:p>
            <a:r>
              <a:rPr lang="fi-FI" sz="1400" b="0">
                <a:solidFill>
                  <a:srgbClr val="0000FF"/>
                </a:solidFill>
                <a:effectLst/>
                <a:latin typeface="Consolas" panose="020B0609020204030204" pitchFamily="49" charset="0"/>
              </a:rPr>
              <a:t>import</a:t>
            </a:r>
            <a:r>
              <a:rPr lang="fi-FI" sz="1400" b="0">
                <a:solidFill>
                  <a:srgbClr val="000000"/>
                </a:solidFill>
                <a:effectLst/>
                <a:latin typeface="Consolas" panose="020B0609020204030204" pitchFamily="49" charset="0"/>
              </a:rPr>
              <a:t> java.util.ArrayList;</a:t>
            </a:r>
          </a:p>
          <a:p>
            <a:br>
              <a:rPr lang="fi-FI" sz="1400" b="0">
                <a:solidFill>
                  <a:srgbClr val="000000"/>
                </a:solidFill>
                <a:effectLst/>
                <a:latin typeface="Consolas" panose="020B0609020204030204" pitchFamily="49" charset="0"/>
              </a:rPr>
            </a:br>
            <a:r>
              <a:rPr lang="fi-FI" sz="1400" b="0">
                <a:solidFill>
                  <a:srgbClr val="0000FF"/>
                </a:solidFill>
                <a:effectLst/>
                <a:latin typeface="Consolas" panose="020B0609020204030204" pitchFamily="49" charset="0"/>
              </a:rPr>
              <a:t>public</a:t>
            </a:r>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class</a:t>
            </a:r>
            <a:r>
              <a:rPr lang="fi-FI" sz="1400" b="0">
                <a:solidFill>
                  <a:srgbClr val="000000"/>
                </a:solidFill>
                <a:effectLst/>
                <a:latin typeface="Consolas" panose="020B0609020204030204" pitchFamily="49" charset="0"/>
              </a:rPr>
              <a:t> listanluominen {</a:t>
            </a:r>
          </a:p>
          <a:p>
            <a:br>
              <a:rPr lang="fi-FI" sz="1400" b="0">
                <a:solidFill>
                  <a:srgbClr val="000000"/>
                </a:solidFill>
                <a:effectLst/>
                <a:latin typeface="Consolas" panose="020B0609020204030204" pitchFamily="49" charset="0"/>
              </a:rPr>
            </a:br>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public</a:t>
            </a:r>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static</a:t>
            </a:r>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void</a:t>
            </a:r>
            <a:r>
              <a:rPr lang="fi-FI" sz="1400" b="0">
                <a:solidFill>
                  <a:srgbClr val="000000"/>
                </a:solidFill>
                <a:effectLst/>
                <a:latin typeface="Consolas" panose="020B0609020204030204" pitchFamily="49" charset="0"/>
              </a:rPr>
              <a:t> main(</a:t>
            </a:r>
            <a:r>
              <a:rPr lang="fi-FI" sz="1400" b="0">
                <a:solidFill>
                  <a:srgbClr val="0000FF"/>
                </a:solidFill>
                <a:effectLst/>
                <a:latin typeface="Consolas" panose="020B0609020204030204" pitchFamily="49" charset="0"/>
              </a:rPr>
              <a:t>String</a:t>
            </a:r>
            <a:r>
              <a:rPr lang="fi-FI" sz="1400" b="0">
                <a:solidFill>
                  <a:srgbClr val="000000"/>
                </a:solidFill>
                <a:effectLst/>
                <a:latin typeface="Consolas" panose="020B0609020204030204" pitchFamily="49" charset="0"/>
              </a:rPr>
              <a:t>[] args) {</a:t>
            </a:r>
          </a:p>
          <a:p>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luodaan lista merkkijonoja varten</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ArrayList</a:t>
            </a:r>
            <a:r>
              <a:rPr lang="fi-FI" sz="1400" b="0">
                <a:solidFill>
                  <a:srgbClr val="000000"/>
                </a:solidFill>
                <a:effectLst/>
                <a:latin typeface="Consolas" panose="020B0609020204030204" pitchFamily="49" charset="0"/>
              </a:rPr>
              <a:t>&lt;</a:t>
            </a:r>
            <a:r>
              <a:rPr lang="fi-FI" sz="1400" b="0">
                <a:solidFill>
                  <a:srgbClr val="0000FF"/>
                </a:solidFill>
                <a:effectLst/>
                <a:latin typeface="Consolas" panose="020B0609020204030204" pitchFamily="49" charset="0"/>
              </a:rPr>
              <a:t>String</a:t>
            </a:r>
            <a:r>
              <a:rPr lang="fi-FI" sz="1400" b="0">
                <a:solidFill>
                  <a:srgbClr val="000000"/>
                </a:solidFill>
                <a:effectLst/>
                <a:latin typeface="Consolas" panose="020B0609020204030204" pitchFamily="49" charset="0"/>
              </a:rPr>
              <a:t>&gt; nimet = </a:t>
            </a:r>
            <a:r>
              <a:rPr lang="fi-FI" sz="1400" b="0">
                <a:solidFill>
                  <a:srgbClr val="0000FF"/>
                </a:solidFill>
                <a:effectLst/>
                <a:latin typeface="Consolas" panose="020B0609020204030204" pitchFamily="49" charset="0"/>
              </a:rPr>
              <a:t>new</a:t>
            </a:r>
            <a:r>
              <a:rPr lang="fi-FI" sz="1400" b="0">
                <a:solidFill>
                  <a:srgbClr val="000000"/>
                </a:solidFill>
                <a:effectLst/>
                <a:latin typeface="Consolas" panose="020B0609020204030204" pitchFamily="49" charset="0"/>
              </a:rPr>
              <a:t> </a:t>
            </a:r>
            <a:r>
              <a:rPr lang="fi-FI" sz="1400" b="0">
                <a:solidFill>
                  <a:srgbClr val="0000FF"/>
                </a:solidFill>
                <a:effectLst/>
                <a:latin typeface="Consolas" panose="020B0609020204030204" pitchFamily="49" charset="0"/>
              </a:rPr>
              <a:t>ArrayList</a:t>
            </a:r>
            <a:r>
              <a:rPr lang="fi-FI" sz="1400" b="0">
                <a:solidFill>
                  <a:srgbClr val="000000"/>
                </a:solidFill>
                <a:effectLst/>
                <a:latin typeface="Consolas" panose="020B0609020204030204" pitchFamily="49" charset="0"/>
              </a:rPr>
              <a:t>&lt;&gt;();</a:t>
            </a:r>
          </a:p>
          <a:p>
            <a:br>
              <a:rPr lang="fi-FI" sz="1400" b="0">
                <a:solidFill>
                  <a:srgbClr val="000000"/>
                </a:solidFill>
                <a:effectLst/>
                <a:latin typeface="Consolas" panose="020B0609020204030204" pitchFamily="49" charset="0"/>
              </a:rPr>
            </a:br>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lisätään sanalistalle kolme arvoa</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nimet.add(</a:t>
            </a:r>
            <a:r>
              <a:rPr lang="fi-FI" sz="1400" b="0">
                <a:solidFill>
                  <a:srgbClr val="A31515"/>
                </a:solidFill>
                <a:effectLst/>
                <a:latin typeface="Consolas" panose="020B0609020204030204" pitchFamily="49" charset="0"/>
              </a:rPr>
              <a:t>"tupu"</a:t>
            </a:r>
            <a:r>
              <a:rPr lang="fi-FI" sz="1400" b="0">
                <a:solidFill>
                  <a:srgbClr val="000000"/>
                </a:solidFill>
                <a:effectLst/>
                <a:latin typeface="Consolas" panose="020B0609020204030204" pitchFamily="49" charset="0"/>
              </a:rPr>
              <a:t>);</a:t>
            </a:r>
          </a:p>
          <a:p>
            <a:r>
              <a:rPr lang="fi-FI" sz="1400" b="0">
                <a:solidFill>
                  <a:srgbClr val="000000"/>
                </a:solidFill>
                <a:effectLst/>
                <a:latin typeface="Consolas" panose="020B0609020204030204" pitchFamily="49" charset="0"/>
              </a:rPr>
              <a:t>        nimet.add(</a:t>
            </a:r>
            <a:r>
              <a:rPr lang="fi-FI" sz="1400" b="0">
                <a:solidFill>
                  <a:srgbClr val="A31515"/>
                </a:solidFill>
                <a:effectLst/>
                <a:latin typeface="Consolas" panose="020B0609020204030204" pitchFamily="49" charset="0"/>
              </a:rPr>
              <a:t>"hupu"</a:t>
            </a:r>
            <a:r>
              <a:rPr lang="fi-FI" sz="1400" b="0">
                <a:solidFill>
                  <a:srgbClr val="000000"/>
                </a:solidFill>
                <a:effectLst/>
                <a:latin typeface="Consolas" panose="020B0609020204030204" pitchFamily="49" charset="0"/>
              </a:rPr>
              <a:t>);</a:t>
            </a:r>
          </a:p>
          <a:p>
            <a:r>
              <a:rPr lang="fi-FI" sz="1400" b="0">
                <a:solidFill>
                  <a:srgbClr val="000000"/>
                </a:solidFill>
                <a:effectLst/>
                <a:latin typeface="Consolas" panose="020B0609020204030204" pitchFamily="49" charset="0"/>
              </a:rPr>
              <a:t>        nimet.add(</a:t>
            </a:r>
            <a:r>
              <a:rPr lang="fi-FI" sz="1400" b="0">
                <a:solidFill>
                  <a:srgbClr val="A31515"/>
                </a:solidFill>
                <a:effectLst/>
                <a:latin typeface="Consolas" panose="020B0609020204030204" pitchFamily="49" charset="0"/>
              </a:rPr>
              <a:t>"lupu"</a:t>
            </a:r>
            <a:r>
              <a:rPr lang="fi-FI" sz="1400" b="0">
                <a:solidFill>
                  <a:srgbClr val="000000"/>
                </a:solidFill>
                <a:effectLst/>
                <a:latin typeface="Consolas" panose="020B0609020204030204" pitchFamily="49" charset="0"/>
              </a:rPr>
              <a:t>);</a:t>
            </a:r>
          </a:p>
          <a:p>
            <a:br>
              <a:rPr lang="fi-FI" sz="1400" b="0">
                <a:solidFill>
                  <a:srgbClr val="000000"/>
                </a:solidFill>
                <a:effectLst/>
                <a:latin typeface="Consolas" panose="020B0609020204030204" pitchFamily="49" charset="0"/>
              </a:rPr>
            </a:br>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Haetaan arvo sanalistan kohdasta 0 ja</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tulostetaan se.</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Huomaa, ettei listasta voi</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a:t>
            </a:r>
            <a:r>
              <a:rPr lang="fi-FI" sz="1400" b="0">
                <a:solidFill>
                  <a:srgbClr val="008000"/>
                </a:solidFill>
                <a:effectLst/>
                <a:latin typeface="Consolas" panose="020B0609020204030204" pitchFamily="49" charset="0"/>
              </a:rPr>
              <a:t>// hakea hakasulkeilla, kuten taulukosta.</a:t>
            </a:r>
            <a:endParaRPr lang="fi-FI" sz="1400" b="0">
              <a:solidFill>
                <a:srgbClr val="000000"/>
              </a:solidFill>
              <a:effectLst/>
              <a:latin typeface="Consolas" panose="020B0609020204030204" pitchFamily="49" charset="0"/>
            </a:endParaRPr>
          </a:p>
          <a:p>
            <a:r>
              <a:rPr lang="fi-FI" sz="1400" b="0">
                <a:solidFill>
                  <a:srgbClr val="000000"/>
                </a:solidFill>
                <a:effectLst/>
                <a:latin typeface="Consolas" panose="020B0609020204030204" pitchFamily="49" charset="0"/>
              </a:rPr>
              <a:t>        System.out.println(nimet.get(</a:t>
            </a:r>
            <a:r>
              <a:rPr lang="fi-FI" sz="1400" b="0">
                <a:solidFill>
                  <a:srgbClr val="098658"/>
                </a:solidFill>
                <a:effectLst/>
                <a:latin typeface="Consolas" panose="020B0609020204030204" pitchFamily="49" charset="0"/>
              </a:rPr>
              <a:t>0</a:t>
            </a:r>
            <a:r>
              <a:rPr lang="fi-FI" sz="1400" b="0">
                <a:solidFill>
                  <a:srgbClr val="000000"/>
                </a:solidFill>
                <a:effectLst/>
                <a:latin typeface="Consolas" panose="020B0609020204030204" pitchFamily="49" charset="0"/>
              </a:rPr>
              <a:t>));</a:t>
            </a:r>
          </a:p>
          <a:p>
            <a:r>
              <a:rPr lang="fi-FI" sz="1400" b="0">
                <a:solidFill>
                  <a:srgbClr val="000000"/>
                </a:solidFill>
                <a:effectLst/>
                <a:latin typeface="Consolas" panose="020B0609020204030204" pitchFamily="49" charset="0"/>
              </a:rPr>
              <a:t>    }</a:t>
            </a:r>
          </a:p>
          <a:p>
            <a:r>
              <a:rPr lang="fi-FI"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039305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0F88C-B1C1-25E0-DBFA-F8574C1C63BF}"/>
              </a:ext>
            </a:extLst>
          </p:cNvPr>
          <p:cNvSpPr>
            <a:spLocks noGrp="1"/>
          </p:cNvSpPr>
          <p:nvPr>
            <p:ph type="title"/>
          </p:nvPr>
        </p:nvSpPr>
        <p:spPr/>
        <p:txBody>
          <a:bodyPr/>
          <a:lstStyle/>
          <a:p>
            <a:r>
              <a:rPr lang="fi-FI" dirty="0" err="1"/>
              <a:t>ArrayListin</a:t>
            </a:r>
            <a:r>
              <a:rPr lang="fi-FI" dirty="0"/>
              <a:t> alkiot ovat oliotyyppiä</a:t>
            </a:r>
          </a:p>
        </p:txBody>
      </p:sp>
      <p:sp>
        <p:nvSpPr>
          <p:cNvPr id="3" name="Content Placeholder 2">
            <a:extLst>
              <a:ext uri="{FF2B5EF4-FFF2-40B4-BE49-F238E27FC236}">
                <a16:creationId xmlns:a16="http://schemas.microsoft.com/office/drawing/2014/main" id="{8470BD86-EDD7-2AB1-C5CF-90BC4E9045D7}"/>
              </a:ext>
            </a:extLst>
          </p:cNvPr>
          <p:cNvSpPr>
            <a:spLocks noGrp="1"/>
          </p:cNvSpPr>
          <p:nvPr>
            <p:ph idx="1"/>
          </p:nvPr>
        </p:nvSpPr>
        <p:spPr>
          <a:xfrm>
            <a:off x="838200" y="1825625"/>
            <a:ext cx="10515600" cy="2103824"/>
          </a:xfrm>
        </p:spPr>
        <p:txBody>
          <a:bodyPr>
            <a:normAutofit/>
          </a:bodyPr>
          <a:lstStyle/>
          <a:p>
            <a:r>
              <a:rPr lang="fi-FI" sz="2400" dirty="0"/>
              <a:t>Javan </a:t>
            </a:r>
            <a:r>
              <a:rPr lang="fi-FI" sz="2400" dirty="0" err="1"/>
              <a:t>ArrayListin</a:t>
            </a:r>
            <a:r>
              <a:rPr lang="fi-FI" sz="2400" dirty="0"/>
              <a:t> alkiot ovat </a:t>
            </a:r>
            <a:r>
              <a:rPr lang="fi-FI" sz="2400" i="1" dirty="0"/>
              <a:t>viittaustyyppiä </a:t>
            </a:r>
            <a:r>
              <a:rPr lang="fi-FI" sz="2400" dirty="0"/>
              <a:t>(”kääreluokka”), ei </a:t>
            </a:r>
            <a:r>
              <a:rPr lang="fi-FI" sz="2400" i="1" dirty="0"/>
              <a:t>alkeistietotyyppiä.</a:t>
            </a:r>
          </a:p>
          <a:p>
            <a:r>
              <a:rPr lang="fi-FI" sz="2400" dirty="0"/>
              <a:t>Kokonaislukuja sisältävän listan alkion tyyppi on siis </a:t>
            </a:r>
            <a:r>
              <a:rPr lang="fi-FI" sz="2400" dirty="0" err="1"/>
              <a:t>Integer</a:t>
            </a:r>
            <a:r>
              <a:rPr lang="fi-FI" sz="2400" dirty="0"/>
              <a:t> (ei </a:t>
            </a:r>
            <a:r>
              <a:rPr lang="fi-FI" sz="2400" dirty="0" err="1"/>
              <a:t>int</a:t>
            </a:r>
            <a:r>
              <a:rPr lang="fi-FI" sz="2400" dirty="0"/>
              <a:t>). Vastaavasti liukulukuja sisältävän alkion tyyppi on </a:t>
            </a:r>
            <a:r>
              <a:rPr lang="fi-FI" sz="2400" dirty="0" err="1"/>
              <a:t>Double</a:t>
            </a:r>
            <a:r>
              <a:rPr lang="fi-FI" sz="2400" dirty="0"/>
              <a:t> (ei </a:t>
            </a:r>
            <a:r>
              <a:rPr lang="fi-FI" sz="2400" dirty="0" err="1"/>
              <a:t>double</a:t>
            </a:r>
            <a:r>
              <a:rPr lang="fi-FI" sz="2400" dirty="0"/>
              <a:t>).</a:t>
            </a:r>
          </a:p>
          <a:p>
            <a:r>
              <a:rPr lang="fi-FI" sz="2400" dirty="0"/>
              <a:t>Listaan voidaan kuitenkin tallentaa alkeistietotyypin arvoja. Vastaavasti listasta lukiessa muunnokset tapahtuvat automaattisesti.</a:t>
            </a:r>
          </a:p>
          <a:p>
            <a:pPr lvl="1"/>
            <a:endParaRPr lang="fi-FI" sz="2000" dirty="0"/>
          </a:p>
        </p:txBody>
      </p:sp>
      <p:sp>
        <p:nvSpPr>
          <p:cNvPr id="5" name="TextBox 4">
            <a:extLst>
              <a:ext uri="{FF2B5EF4-FFF2-40B4-BE49-F238E27FC236}">
                <a16:creationId xmlns:a16="http://schemas.microsoft.com/office/drawing/2014/main" id="{9D68AC33-39D8-0F1F-3257-3B068EDD2494}"/>
              </a:ext>
            </a:extLst>
          </p:cNvPr>
          <p:cNvSpPr txBox="1"/>
          <p:nvPr/>
        </p:nvSpPr>
        <p:spPr>
          <a:xfrm>
            <a:off x="217787" y="3997059"/>
            <a:ext cx="8549331" cy="2308324"/>
          </a:xfrm>
          <a:prstGeom prst="rect">
            <a:avLst/>
          </a:prstGeom>
          <a:noFill/>
        </p:spPr>
        <p:txBody>
          <a:bodyPr wrap="square">
            <a:spAutoFit/>
          </a:bodyPr>
          <a:lstStyle/>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ArrayList</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Integer</a:t>
            </a:r>
            <a:r>
              <a:rPr lang="fi-FI" sz="1600" b="0" dirty="0">
                <a:solidFill>
                  <a:srgbClr val="000000"/>
                </a:solidFill>
                <a:effectLst/>
                <a:latin typeface="Consolas" panose="020B0609020204030204" pitchFamily="49" charset="0"/>
              </a:rPr>
              <a:t>&gt; luvut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ArrayList</a:t>
            </a:r>
            <a:r>
              <a:rPr lang="fi-FI" sz="1600" b="0" dirty="0">
                <a:solidFill>
                  <a:srgbClr val="000000"/>
                </a:solidFill>
                <a:effectLst/>
                <a:latin typeface="Consolas" panose="020B0609020204030204" pitchFamily="49" charset="0"/>
              </a:rPr>
              <a:t>&lt;&gt;();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luvut.add</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1</a:t>
            </a:r>
            <a:r>
              <a:rPr lang="fi-FI" sz="1600" b="0" dirty="0">
                <a:solidFill>
                  <a:srgbClr val="000000"/>
                </a:solidFill>
                <a:effectLst/>
                <a:latin typeface="Consolas" panose="020B0609020204030204" pitchFamily="49" charset="0"/>
              </a:rPr>
              <a:t>);</a:t>
            </a:r>
          </a:p>
          <a:p>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ArrayList</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Double</a:t>
            </a:r>
            <a:r>
              <a:rPr lang="fi-FI" sz="1600" b="0" dirty="0">
                <a:solidFill>
                  <a:srgbClr val="000000"/>
                </a:solidFill>
                <a:effectLst/>
                <a:latin typeface="Consolas" panose="020B0609020204030204" pitchFamily="49" charset="0"/>
              </a:rPr>
              <a:t>&gt; mittaukset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ArrayList</a:t>
            </a:r>
            <a:r>
              <a:rPr lang="fi-FI" sz="1600" b="0" dirty="0">
                <a:solidFill>
                  <a:srgbClr val="000000"/>
                </a:solidFill>
                <a:effectLst/>
                <a:latin typeface="Consolas" panose="020B0609020204030204" pitchFamily="49" charset="0"/>
              </a:rPr>
              <a:t>&lt;&gt;();</a:t>
            </a:r>
          </a:p>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double</a:t>
            </a:r>
            <a:r>
              <a:rPr lang="fi-FI" sz="1600" b="0" dirty="0">
                <a:solidFill>
                  <a:srgbClr val="000000"/>
                </a:solidFill>
                <a:effectLst/>
                <a:latin typeface="Consolas" panose="020B0609020204030204" pitchFamily="49" charset="0"/>
              </a:rPr>
              <a:t> mittaus = </a:t>
            </a:r>
            <a:r>
              <a:rPr lang="fi-FI" sz="1600" b="0" dirty="0">
                <a:solidFill>
                  <a:srgbClr val="098658"/>
                </a:solidFill>
                <a:effectLst/>
                <a:latin typeface="Consolas" panose="020B0609020204030204" pitchFamily="49" charset="0"/>
              </a:rPr>
              <a:t>3.14</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mittaukset.add</a:t>
            </a:r>
            <a:r>
              <a:rPr lang="fi-FI" sz="1600" b="0" dirty="0">
                <a:solidFill>
                  <a:srgbClr val="000000"/>
                </a:solidFill>
                <a:effectLst/>
                <a:latin typeface="Consolas" panose="020B0609020204030204" pitchFamily="49" charset="0"/>
              </a:rPr>
              <a:t>(mittaus);</a:t>
            </a:r>
          </a:p>
          <a:p>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double</a:t>
            </a:r>
            <a:r>
              <a:rPr lang="fi-FI" sz="1600" b="0" dirty="0">
                <a:solidFill>
                  <a:srgbClr val="000000"/>
                </a:solidFill>
                <a:effectLst/>
                <a:latin typeface="Consolas" panose="020B0609020204030204" pitchFamily="49" charset="0"/>
              </a:rPr>
              <a:t> ekamittaus = </a:t>
            </a:r>
            <a:r>
              <a:rPr lang="fi-FI" sz="1600" b="0" dirty="0" err="1">
                <a:solidFill>
                  <a:srgbClr val="000000"/>
                </a:solidFill>
                <a:effectLst/>
                <a:latin typeface="Consolas" panose="020B0609020204030204" pitchFamily="49" charset="0"/>
              </a:rPr>
              <a:t>mittaukset.get</a:t>
            </a:r>
            <a:r>
              <a:rPr lang="fi-FI" sz="1600" b="0" dirty="0">
                <a:solidFill>
                  <a:srgbClr val="000000"/>
                </a:solidFill>
                <a:effectLst/>
                <a:latin typeface="Consolas" panose="020B0609020204030204" pitchFamily="49" charset="0"/>
              </a:rPr>
              <a:t>(</a:t>
            </a:r>
            <a:r>
              <a:rPr lang="fi-FI" sz="1600" b="0" dirty="0">
                <a:solidFill>
                  <a:srgbClr val="098658"/>
                </a:solidFill>
                <a:effectLst/>
                <a:latin typeface="Consolas" panose="020B0609020204030204" pitchFamily="49" charset="0"/>
              </a:rPr>
              <a:t>0</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(ekamittaus+</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122590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6005-AFDC-8A85-A4E1-A59EEB29647E}"/>
              </a:ext>
            </a:extLst>
          </p:cNvPr>
          <p:cNvSpPr>
            <a:spLocks noGrp="1"/>
          </p:cNvSpPr>
          <p:nvPr>
            <p:ph type="title"/>
          </p:nvPr>
        </p:nvSpPr>
        <p:spPr/>
        <p:txBody>
          <a:bodyPr/>
          <a:lstStyle/>
          <a:p>
            <a:r>
              <a:rPr lang="fi-FI" dirty="0"/>
              <a:t>Listan läpikäyminen</a:t>
            </a:r>
          </a:p>
        </p:txBody>
      </p:sp>
      <p:sp>
        <p:nvSpPr>
          <p:cNvPr id="3" name="Content Placeholder 2">
            <a:extLst>
              <a:ext uri="{FF2B5EF4-FFF2-40B4-BE49-F238E27FC236}">
                <a16:creationId xmlns:a16="http://schemas.microsoft.com/office/drawing/2014/main" id="{6D0335E6-5461-9D96-8DC0-A3B074A528F7}"/>
              </a:ext>
            </a:extLst>
          </p:cNvPr>
          <p:cNvSpPr>
            <a:spLocks noGrp="1"/>
          </p:cNvSpPr>
          <p:nvPr>
            <p:ph idx="1"/>
          </p:nvPr>
        </p:nvSpPr>
        <p:spPr>
          <a:xfrm>
            <a:off x="838200" y="1825625"/>
            <a:ext cx="5257800" cy="4351338"/>
          </a:xfrm>
        </p:spPr>
        <p:txBody>
          <a:bodyPr/>
          <a:lstStyle/>
          <a:p>
            <a:r>
              <a:rPr lang="fi-FI" dirty="0"/>
              <a:t>Lista voidaan käydä läpi for-, </a:t>
            </a:r>
            <a:r>
              <a:rPr lang="fi-FI" dirty="0" err="1"/>
              <a:t>while</a:t>
            </a:r>
            <a:r>
              <a:rPr lang="fi-FI" dirty="0"/>
              <a:t>- ja for-</a:t>
            </a:r>
            <a:r>
              <a:rPr lang="fi-FI" dirty="0" err="1"/>
              <a:t>each</a:t>
            </a:r>
            <a:r>
              <a:rPr lang="fi-FI" dirty="0"/>
              <a:t>-rakenteilla</a:t>
            </a:r>
          </a:p>
          <a:p>
            <a:r>
              <a:rPr lang="fi-FI" dirty="0"/>
              <a:t>Huomaa listan alkioon viittaaminen </a:t>
            </a:r>
            <a:r>
              <a:rPr lang="fi-FI" dirty="0" err="1"/>
              <a:t>get</a:t>
            </a:r>
            <a:r>
              <a:rPr lang="fi-FI" dirty="0"/>
              <a:t>()-metodilla</a:t>
            </a:r>
          </a:p>
          <a:p>
            <a:r>
              <a:rPr lang="fi-FI" dirty="0"/>
              <a:t>For-</a:t>
            </a:r>
            <a:r>
              <a:rPr lang="fi-FI" dirty="0" err="1"/>
              <a:t>each</a:t>
            </a:r>
            <a:r>
              <a:rPr lang="fi-FI" dirty="0"/>
              <a:t>-tyyppinen rakenne on näppärä silloin, kun lista käydään kokonaan läpi, eikä indeksimuuttujan arvoa tarvita</a:t>
            </a:r>
          </a:p>
        </p:txBody>
      </p:sp>
      <p:sp>
        <p:nvSpPr>
          <p:cNvPr id="5" name="TextBox 4">
            <a:extLst>
              <a:ext uri="{FF2B5EF4-FFF2-40B4-BE49-F238E27FC236}">
                <a16:creationId xmlns:a16="http://schemas.microsoft.com/office/drawing/2014/main" id="{F86493A7-0BFC-9E3C-8BE6-FF0C2ED720D0}"/>
              </a:ext>
            </a:extLst>
          </p:cNvPr>
          <p:cNvSpPr txBox="1"/>
          <p:nvPr/>
        </p:nvSpPr>
        <p:spPr>
          <a:xfrm>
            <a:off x="5883360" y="1218835"/>
            <a:ext cx="6094970" cy="4832092"/>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&gt; nimet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nimet.add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"Antti Isotalo"</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nimet.add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"Antti Rannanjärvi"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nimet.add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"Jaakko Pukkila"</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"-----for-lause-----"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i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 i &lt; </a:t>
            </a:r>
            <a:r>
              <a:rPr lang="fi-FI" sz="1400" b="0" dirty="0" err="1">
                <a:solidFill>
                  <a:srgbClr val="000000"/>
                </a:solidFill>
                <a:effectLst/>
                <a:latin typeface="Consolas" panose="020B0609020204030204" pitchFamily="49" charset="0"/>
              </a:rPr>
              <a:t>nimet.size</a:t>
            </a:r>
            <a:r>
              <a:rPr lang="fi-FI" sz="1400" b="0" dirty="0">
                <a:solidFill>
                  <a:srgbClr val="000000"/>
                </a:solidFill>
                <a:effectLst/>
                <a:latin typeface="Consolas" panose="020B0609020204030204" pitchFamily="49" charset="0"/>
              </a:rPr>
              <a:t>(); i++)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nimet.get</a:t>
            </a:r>
            <a:r>
              <a:rPr lang="fi-FI" sz="1400" b="0" dirty="0">
                <a:solidFill>
                  <a:srgbClr val="000000"/>
                </a:solidFill>
                <a:effectLst/>
                <a:latin typeface="Consolas" panose="020B0609020204030204" pitchFamily="49" charset="0"/>
              </a:rPr>
              <a:t>(i));</a:t>
            </a:r>
          </a:p>
          <a:p>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while</a:t>
            </a:r>
            <a:r>
              <a:rPr lang="fi-FI" sz="1400" b="0" dirty="0">
                <a:solidFill>
                  <a:srgbClr val="A31515"/>
                </a:solidFill>
                <a:effectLst/>
                <a:latin typeface="Consolas" panose="020B0609020204030204" pitchFamily="49" charset="0"/>
              </a:rPr>
              <a:t>-lause-----"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j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while</a:t>
            </a:r>
            <a:r>
              <a:rPr lang="fi-FI" sz="1400" b="0" dirty="0">
                <a:solidFill>
                  <a:srgbClr val="000000"/>
                </a:solidFill>
                <a:effectLst/>
                <a:latin typeface="Consolas" panose="020B0609020204030204" pitchFamily="49" charset="0"/>
              </a:rPr>
              <a:t> (j &lt; </a:t>
            </a:r>
            <a:r>
              <a:rPr lang="fi-FI" sz="1400" b="0" dirty="0" err="1">
                <a:solidFill>
                  <a:srgbClr val="000000"/>
                </a:solidFill>
                <a:effectLst/>
                <a:latin typeface="Consolas" panose="020B0609020204030204" pitchFamily="49" charset="0"/>
              </a:rPr>
              <a:t>nimet.size</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nimet.get</a:t>
            </a:r>
            <a:r>
              <a:rPr lang="fi-FI" sz="1400" b="0" dirty="0">
                <a:solidFill>
                  <a:srgbClr val="000000"/>
                </a:solidFill>
                <a:effectLst/>
                <a:latin typeface="Consolas" panose="020B0609020204030204" pitchFamily="49" charset="0"/>
              </a:rPr>
              <a:t>(j));</a:t>
            </a:r>
          </a:p>
          <a:p>
            <a:r>
              <a:rPr lang="fi-FI" sz="1400" b="0" dirty="0">
                <a:solidFill>
                  <a:srgbClr val="000000"/>
                </a:solidFill>
                <a:effectLst/>
                <a:latin typeface="Consolas" panose="020B0609020204030204" pitchFamily="49" charset="0"/>
              </a:rPr>
              <a:t>            j++;</a:t>
            </a:r>
          </a:p>
          <a:p>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"-----for-</a:t>
            </a:r>
            <a:r>
              <a:rPr lang="fi-FI" sz="1400" b="0" dirty="0" err="1">
                <a:solidFill>
                  <a:srgbClr val="A31515"/>
                </a:solidFill>
                <a:effectLst/>
                <a:latin typeface="Consolas" panose="020B0609020204030204" pitchFamily="49" charset="0"/>
              </a:rPr>
              <a:t>each</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nimi </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nimet)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(nimi);</a:t>
            </a:r>
          </a:p>
          <a:p>
            <a:r>
              <a:rPr lang="fi-FI"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40922413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0F71-9DA4-0A1E-8B02-51E6E3B7AF06}"/>
              </a:ext>
            </a:extLst>
          </p:cNvPr>
          <p:cNvSpPr>
            <a:spLocks noGrp="1"/>
          </p:cNvSpPr>
          <p:nvPr>
            <p:ph type="title"/>
          </p:nvPr>
        </p:nvSpPr>
        <p:spPr/>
        <p:txBody>
          <a:bodyPr/>
          <a:lstStyle/>
          <a:p>
            <a:r>
              <a:rPr lang="fi-FI" dirty="0"/>
              <a:t>Listan alkion poistaminen</a:t>
            </a:r>
          </a:p>
        </p:txBody>
      </p:sp>
      <p:sp>
        <p:nvSpPr>
          <p:cNvPr id="3" name="Content Placeholder 2">
            <a:extLst>
              <a:ext uri="{FF2B5EF4-FFF2-40B4-BE49-F238E27FC236}">
                <a16:creationId xmlns:a16="http://schemas.microsoft.com/office/drawing/2014/main" id="{88FF9139-B097-8E66-3C22-4C582A88210E}"/>
              </a:ext>
            </a:extLst>
          </p:cNvPr>
          <p:cNvSpPr>
            <a:spLocks noGrp="1"/>
          </p:cNvSpPr>
          <p:nvPr>
            <p:ph idx="1"/>
          </p:nvPr>
        </p:nvSpPr>
        <p:spPr>
          <a:xfrm>
            <a:off x="838200" y="1825625"/>
            <a:ext cx="5395784" cy="4351338"/>
          </a:xfrm>
        </p:spPr>
        <p:txBody>
          <a:bodyPr>
            <a:normAutofit fontScale="92500" lnSpcReduction="20000"/>
          </a:bodyPr>
          <a:lstStyle/>
          <a:p>
            <a:r>
              <a:rPr lang="fi-FI" dirty="0" err="1"/>
              <a:t>remove</a:t>
            </a:r>
            <a:r>
              <a:rPr lang="fi-FI" dirty="0"/>
              <a:t> poistaa listalta parametrina annettuun indeksiin liittyvän arvon. Parametri annetaan kokonaislukuna.</a:t>
            </a:r>
          </a:p>
          <a:p>
            <a:r>
              <a:rPr lang="fi-FI" dirty="0"/>
              <a:t>Jos parametri on listan sisältämien arvojen tyyppinen, mutta ei kokonaisluku (kokonaislukua käytetään paikasta poistamiseen), voidaan sitä käyttää arvon poistamiseen listalta suoraan.</a:t>
            </a:r>
          </a:p>
          <a:p>
            <a:r>
              <a:rPr lang="fi-FI" dirty="0"/>
              <a:t>Kokonaisluvun etsimisessä ja poistamisessa täytyy käyttää viittaustyyppiä (metodi </a:t>
            </a:r>
            <a:r>
              <a:rPr lang="fi-FI" dirty="0" err="1"/>
              <a:t>Integer.valueOf</a:t>
            </a:r>
            <a:r>
              <a:rPr lang="fi-FI" dirty="0"/>
              <a:t>()) </a:t>
            </a:r>
          </a:p>
        </p:txBody>
      </p:sp>
      <p:sp>
        <p:nvSpPr>
          <p:cNvPr id="5" name="TextBox 4">
            <a:extLst>
              <a:ext uri="{FF2B5EF4-FFF2-40B4-BE49-F238E27FC236}">
                <a16:creationId xmlns:a16="http://schemas.microsoft.com/office/drawing/2014/main" id="{3667D51A-F52F-133E-3A02-BD166C54A608}"/>
              </a:ext>
            </a:extLst>
          </p:cNvPr>
          <p:cNvSpPr txBox="1"/>
          <p:nvPr/>
        </p:nvSpPr>
        <p:spPr>
          <a:xfrm>
            <a:off x="5648582" y="1825625"/>
            <a:ext cx="6094970" cy="3970318"/>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&gt; nimet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nimet.add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"mortti"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nimet.add</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vertti</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etsitään mortti ja poistetaan se</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nimet.remove</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"mortti"</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Integer</a:t>
            </a:r>
            <a:r>
              <a:rPr lang="fi-FI" sz="1400" b="0" dirty="0">
                <a:solidFill>
                  <a:srgbClr val="000000"/>
                </a:solidFill>
                <a:effectLst/>
                <a:latin typeface="Consolas" panose="020B0609020204030204" pitchFamily="49" charset="0"/>
              </a:rPr>
              <a:t>&gt; luvut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luvut.add</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luvut.add</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20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luvut.add</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30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luvut.add</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40</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poistetaan alkio, jonka indeksi on 1</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luvut.remove</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1</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etsitään alkio, jonka arvo on 20 ja poistetaan se</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luvut.remove</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Integer.valueOf</a:t>
            </a:r>
            <a:r>
              <a:rPr lang="fi-FI" sz="1400" b="0" dirty="0">
                <a:solidFill>
                  <a:srgbClr val="000000"/>
                </a:solidFill>
                <a:effectLst/>
                <a:latin typeface="Consolas" panose="020B0609020204030204" pitchFamily="49" charset="0"/>
              </a:rPr>
              <a:t>(</a:t>
            </a:r>
            <a:r>
              <a:rPr lang="fi-FI" sz="1400" b="0" dirty="0">
                <a:solidFill>
                  <a:srgbClr val="098658"/>
                </a:solidFill>
                <a:effectLst/>
                <a:latin typeface="Consolas" panose="020B0609020204030204" pitchFamily="49" charset="0"/>
              </a:rPr>
              <a:t>20</a:t>
            </a:r>
            <a:r>
              <a:rPr lang="fi-FI"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4784505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0F30-AE14-5CA5-486E-D0CD2A0A45AC}"/>
              </a:ext>
            </a:extLst>
          </p:cNvPr>
          <p:cNvSpPr>
            <a:spLocks noGrp="1"/>
          </p:cNvSpPr>
          <p:nvPr>
            <p:ph type="title"/>
          </p:nvPr>
        </p:nvSpPr>
        <p:spPr/>
        <p:txBody>
          <a:bodyPr/>
          <a:lstStyle/>
          <a:p>
            <a:r>
              <a:rPr lang="fi-FI" dirty="0"/>
              <a:t>Muita metodeja</a:t>
            </a:r>
          </a:p>
        </p:txBody>
      </p:sp>
      <p:sp>
        <p:nvSpPr>
          <p:cNvPr id="3" name="Content Placeholder 2">
            <a:extLst>
              <a:ext uri="{FF2B5EF4-FFF2-40B4-BE49-F238E27FC236}">
                <a16:creationId xmlns:a16="http://schemas.microsoft.com/office/drawing/2014/main" id="{8F2B44B6-7274-D103-0215-48CFCE71159A}"/>
              </a:ext>
            </a:extLst>
          </p:cNvPr>
          <p:cNvSpPr>
            <a:spLocks noGrp="1"/>
          </p:cNvSpPr>
          <p:nvPr>
            <p:ph idx="1"/>
          </p:nvPr>
        </p:nvSpPr>
        <p:spPr/>
        <p:txBody>
          <a:bodyPr/>
          <a:lstStyle/>
          <a:p>
            <a:r>
              <a:rPr lang="fi-FI" dirty="0" err="1"/>
              <a:t>contains</a:t>
            </a:r>
            <a:r>
              <a:rPr lang="fi-FI" dirty="0"/>
              <a:t> kertoo, löytyykö alkio listalta</a:t>
            </a:r>
          </a:p>
          <a:p>
            <a:pPr marL="0" indent="0">
              <a:buNone/>
            </a:pPr>
            <a:r>
              <a:rPr lang="fi-FI" sz="1800" b="0" dirty="0" err="1">
                <a:solidFill>
                  <a:srgbClr val="0000FF"/>
                </a:solidFill>
                <a:effectLst/>
                <a:latin typeface="Consolas" panose="020B0609020204030204" pitchFamily="49" charset="0"/>
              </a:rPr>
              <a:t>if</a:t>
            </a:r>
            <a:r>
              <a:rPr lang="fi-FI" sz="1800" b="0" dirty="0">
                <a:solidFill>
                  <a:srgbClr val="000000"/>
                </a:solidFill>
                <a:effectLst/>
                <a:latin typeface="Consolas" panose="020B0609020204030204" pitchFamily="49" charset="0"/>
              </a:rPr>
              <a:t> (</a:t>
            </a:r>
            <a:r>
              <a:rPr lang="fi-FI" sz="1800" b="0" dirty="0" err="1">
                <a:solidFill>
                  <a:srgbClr val="000000"/>
                </a:solidFill>
                <a:effectLst/>
                <a:latin typeface="Consolas" panose="020B0609020204030204" pitchFamily="49" charset="0"/>
              </a:rPr>
              <a:t>nimet.contains</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vertti</a:t>
            </a:r>
            <a:r>
              <a:rPr lang="fi-FI" sz="1800" b="0" dirty="0">
                <a:solidFill>
                  <a:srgbClr val="A31515"/>
                </a:solidFill>
                <a:effectLst/>
                <a:latin typeface="Consolas" panose="020B0609020204030204" pitchFamily="49" charset="0"/>
              </a:rPr>
              <a:t>"</a:t>
            </a:r>
            <a:r>
              <a:rPr lang="fi-FI" sz="1800" b="0" dirty="0">
                <a:solidFill>
                  <a:srgbClr val="000000"/>
                </a:solidFill>
                <a:effectLst/>
                <a:latin typeface="Consolas" panose="020B0609020204030204" pitchFamily="49" charset="0"/>
              </a:rPr>
              <a:t>)) {</a:t>
            </a:r>
          </a:p>
          <a:p>
            <a:pPr marL="0" indent="0">
              <a:buNone/>
            </a:pPr>
            <a:r>
              <a:rPr lang="fi-FI" sz="1800" dirty="0">
                <a:solidFill>
                  <a:srgbClr val="000000"/>
                </a:solidFill>
                <a:latin typeface="Consolas" panose="020B0609020204030204" pitchFamily="49" charset="0"/>
              </a:rPr>
              <a:t>    </a:t>
            </a:r>
            <a:r>
              <a:rPr lang="fi-FI" sz="1800" b="0" dirty="0" err="1">
                <a:solidFill>
                  <a:srgbClr val="000000"/>
                </a:solidFill>
                <a:effectLst/>
                <a:latin typeface="Consolas" panose="020B0609020204030204" pitchFamily="49" charset="0"/>
              </a:rPr>
              <a:t>System.out.println</a:t>
            </a:r>
            <a:r>
              <a:rPr lang="fi-FI" sz="1800" b="0" dirty="0">
                <a:solidFill>
                  <a:srgbClr val="000000"/>
                </a:solidFill>
                <a:effectLst/>
                <a:latin typeface="Consolas" panose="020B0609020204030204" pitchFamily="49" charset="0"/>
              </a:rPr>
              <a:t>(</a:t>
            </a:r>
            <a:r>
              <a:rPr lang="fi-FI" sz="1800" b="0" dirty="0">
                <a:solidFill>
                  <a:srgbClr val="A31515"/>
                </a:solidFill>
                <a:effectLst/>
                <a:latin typeface="Consolas" panose="020B0609020204030204" pitchFamily="49" charset="0"/>
              </a:rPr>
              <a:t>"</a:t>
            </a:r>
            <a:r>
              <a:rPr lang="fi-FI" sz="1800" b="0" dirty="0" err="1">
                <a:solidFill>
                  <a:srgbClr val="A31515"/>
                </a:solidFill>
                <a:effectLst/>
                <a:latin typeface="Consolas" panose="020B0609020204030204" pitchFamily="49" charset="0"/>
              </a:rPr>
              <a:t>vertti</a:t>
            </a:r>
            <a:r>
              <a:rPr lang="fi-FI" sz="1800" b="0" dirty="0">
                <a:solidFill>
                  <a:srgbClr val="A31515"/>
                </a:solidFill>
                <a:effectLst/>
                <a:latin typeface="Consolas" panose="020B0609020204030204" pitchFamily="49" charset="0"/>
              </a:rPr>
              <a:t> löytyi"</a:t>
            </a:r>
            <a:r>
              <a:rPr lang="fi-FI" sz="1800" b="0" dirty="0">
                <a:solidFill>
                  <a:srgbClr val="000000"/>
                </a:solidFill>
                <a:effectLst/>
                <a:latin typeface="Consolas" panose="020B0609020204030204" pitchFamily="49" charset="0"/>
              </a:rPr>
              <a:t>);</a:t>
            </a:r>
          </a:p>
          <a:p>
            <a:pPr marL="0" indent="0">
              <a:buNone/>
            </a:pPr>
            <a:r>
              <a:rPr lang="fi-FI" sz="1800" b="0" dirty="0">
                <a:solidFill>
                  <a:srgbClr val="000000"/>
                </a:solidFill>
                <a:effectLst/>
                <a:latin typeface="Consolas" panose="020B0609020204030204" pitchFamily="49" charset="0"/>
              </a:rPr>
              <a:t>}</a:t>
            </a:r>
            <a:endParaRPr lang="fi-FI" dirty="0"/>
          </a:p>
          <a:p>
            <a:r>
              <a:rPr lang="fi-FI" dirty="0" err="1"/>
              <a:t>Collections</a:t>
            </a:r>
            <a:r>
              <a:rPr lang="fi-FI" dirty="0"/>
              <a:t>-luokasta löytyy useita algoritmeja, esimerkiksi:</a:t>
            </a:r>
          </a:p>
          <a:p>
            <a:pPr lvl="1"/>
            <a:r>
              <a:rPr lang="fi-FI" dirty="0"/>
              <a:t>Listan järjestäminen</a:t>
            </a:r>
          </a:p>
          <a:p>
            <a:pPr lvl="2"/>
            <a:r>
              <a:rPr lang="fi-FI" sz="1600" b="0" dirty="0" err="1">
                <a:solidFill>
                  <a:srgbClr val="000000"/>
                </a:solidFill>
                <a:effectLst/>
                <a:latin typeface="Consolas" panose="020B0609020204030204" pitchFamily="49" charset="0"/>
              </a:rPr>
              <a:t>Collections.sort</a:t>
            </a:r>
            <a:r>
              <a:rPr lang="fi-FI" sz="1600" b="0" dirty="0">
                <a:solidFill>
                  <a:srgbClr val="000000"/>
                </a:solidFill>
                <a:effectLst/>
                <a:latin typeface="Consolas" panose="020B0609020204030204" pitchFamily="49" charset="0"/>
              </a:rPr>
              <a:t>(nimet);</a:t>
            </a:r>
            <a:endParaRPr lang="fi-FI" dirty="0"/>
          </a:p>
          <a:p>
            <a:pPr lvl="1"/>
            <a:r>
              <a:rPr lang="fi-FI" dirty="0"/>
              <a:t>Binäärihaku (järjestetystä listasta)</a:t>
            </a:r>
          </a:p>
          <a:p>
            <a:pPr lvl="2"/>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paikka</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Collections.binarySearch</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nimet</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vertti</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endParaRPr lang="en-US" sz="2400" b="0" dirty="0">
              <a:solidFill>
                <a:srgbClr val="000000"/>
              </a:solidFill>
              <a:effectLst/>
              <a:latin typeface="Consolas" panose="020B0609020204030204" pitchFamily="49" charset="0"/>
            </a:endParaRPr>
          </a:p>
          <a:p>
            <a:pPr lvl="1"/>
            <a:endParaRPr lang="fi-FI" dirty="0"/>
          </a:p>
          <a:p>
            <a:endParaRPr lang="fi-FI" dirty="0"/>
          </a:p>
        </p:txBody>
      </p:sp>
    </p:spTree>
    <p:extLst>
      <p:ext uri="{BB962C8B-B14F-4D97-AF65-F5344CB8AC3E}">
        <p14:creationId xmlns:p14="http://schemas.microsoft.com/office/powerpoint/2010/main" val="36293759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A5ED4-BA49-8A91-F195-A6D2E9FF8239}"/>
              </a:ext>
            </a:extLst>
          </p:cNvPr>
          <p:cNvSpPr>
            <a:spLocks noGrp="1"/>
          </p:cNvSpPr>
          <p:nvPr>
            <p:ph type="title"/>
          </p:nvPr>
        </p:nvSpPr>
        <p:spPr/>
        <p:txBody>
          <a:bodyPr/>
          <a:lstStyle/>
          <a:p>
            <a:r>
              <a:rPr lang="fi-FI" dirty="0"/>
              <a:t>Taulukko listaksi</a:t>
            </a:r>
          </a:p>
        </p:txBody>
      </p:sp>
      <p:sp>
        <p:nvSpPr>
          <p:cNvPr id="3" name="Content Placeholder 2">
            <a:extLst>
              <a:ext uri="{FF2B5EF4-FFF2-40B4-BE49-F238E27FC236}">
                <a16:creationId xmlns:a16="http://schemas.microsoft.com/office/drawing/2014/main" id="{716CC6F9-4907-53AE-7117-A7C3B76F57E2}"/>
              </a:ext>
            </a:extLst>
          </p:cNvPr>
          <p:cNvSpPr>
            <a:spLocks noGrp="1"/>
          </p:cNvSpPr>
          <p:nvPr>
            <p:ph idx="1"/>
          </p:nvPr>
        </p:nvSpPr>
        <p:spPr>
          <a:xfrm>
            <a:off x="838199" y="1825625"/>
            <a:ext cx="10515599" cy="1430380"/>
          </a:xfrm>
        </p:spPr>
        <p:txBody>
          <a:bodyPr>
            <a:normAutofit/>
          </a:bodyPr>
          <a:lstStyle/>
          <a:p>
            <a:r>
              <a:rPr lang="fi-FI" sz="2400" dirty="0"/>
              <a:t>Taulukko voidaan muuntaa listaksi </a:t>
            </a:r>
            <a:r>
              <a:rPr lang="fi-FI" sz="2400" dirty="0" err="1"/>
              <a:t>Arrays.asList</a:t>
            </a:r>
            <a:r>
              <a:rPr lang="fi-FI" sz="2400" dirty="0"/>
              <a:t>()-metodin avulla. </a:t>
            </a:r>
          </a:p>
          <a:p>
            <a:r>
              <a:rPr lang="fi-FI" sz="2400" dirty="0"/>
              <a:t>Samassa yhteydessä luodaan uusi </a:t>
            </a:r>
            <a:r>
              <a:rPr lang="fi-FI" sz="2400" dirty="0" err="1"/>
              <a:t>ArrayList</a:t>
            </a:r>
            <a:r>
              <a:rPr lang="fi-FI" sz="2400" dirty="0"/>
              <a:t>-olio </a:t>
            </a:r>
          </a:p>
        </p:txBody>
      </p:sp>
      <p:sp>
        <p:nvSpPr>
          <p:cNvPr id="5" name="TextBox 4">
            <a:extLst>
              <a:ext uri="{FF2B5EF4-FFF2-40B4-BE49-F238E27FC236}">
                <a16:creationId xmlns:a16="http://schemas.microsoft.com/office/drawing/2014/main" id="{D447D8F0-DE30-DBC9-E22D-4BDF457316D1}"/>
              </a:ext>
            </a:extLst>
          </p:cNvPr>
          <p:cNvSpPr txBox="1"/>
          <p:nvPr/>
        </p:nvSpPr>
        <p:spPr>
          <a:xfrm>
            <a:off x="384603" y="2939921"/>
            <a:ext cx="7431045" cy="3046988"/>
          </a:xfrm>
          <a:prstGeom prst="rect">
            <a:avLst/>
          </a:prstGeom>
          <a:noFill/>
        </p:spPr>
        <p:txBody>
          <a:bodyPr wrap="square">
            <a:spAutoFit/>
          </a:bodyPr>
          <a:lstStyle/>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nimet = {</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tupu</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hupu</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lupu</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p>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List</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&gt; nimilista =</a:t>
            </a:r>
          </a:p>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ArrayList</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&gt;(</a:t>
            </a:r>
            <a:r>
              <a:rPr lang="fi-FI" sz="1600" b="0" dirty="0" err="1">
                <a:solidFill>
                  <a:srgbClr val="000000"/>
                </a:solidFill>
                <a:effectLst/>
                <a:latin typeface="Consolas" panose="020B0609020204030204" pitchFamily="49" charset="0"/>
              </a:rPr>
              <a:t>Arrays.asList</a:t>
            </a:r>
            <a:r>
              <a:rPr lang="fi-FI" sz="1600" b="0" dirty="0">
                <a:solidFill>
                  <a:srgbClr val="000000"/>
                </a:solidFill>
                <a:effectLst/>
                <a:latin typeface="Consolas" panose="020B0609020204030204" pitchFamily="49" charset="0"/>
              </a:rPr>
              <a:t>(nimet));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(nimilista);</a:t>
            </a:r>
          </a:p>
          <a:p>
            <a:r>
              <a:rPr lang="fi-FI" sz="1600" b="0" dirty="0">
                <a:solidFill>
                  <a:srgbClr val="000000"/>
                </a:solidFill>
                <a:effectLst/>
                <a:latin typeface="Consolas" panose="020B0609020204030204" pitchFamily="49" charset="0"/>
              </a:rPr>
              <a:t> </a:t>
            </a:r>
          </a:p>
          <a:p>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Adding</a:t>
            </a:r>
            <a:r>
              <a:rPr lang="fi-FI" sz="1600" b="0" dirty="0">
                <a:solidFill>
                  <a:srgbClr val="008000"/>
                </a:solidFill>
                <a:effectLst/>
                <a:latin typeface="Consolas" panose="020B0609020204030204" pitchFamily="49" charset="0"/>
              </a:rPr>
              <a:t> some </a:t>
            </a:r>
            <a:r>
              <a:rPr lang="fi-FI" sz="1600" b="0" dirty="0" err="1">
                <a:solidFill>
                  <a:srgbClr val="008000"/>
                </a:solidFill>
                <a:effectLst/>
                <a:latin typeface="Consolas" panose="020B0609020204030204" pitchFamily="49" charset="0"/>
              </a:rPr>
              <a:t>more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values</a:t>
            </a:r>
            <a:r>
              <a:rPr lang="fi-FI" sz="1600" b="0" dirty="0">
                <a:solidFill>
                  <a:srgbClr val="008000"/>
                </a:solidFill>
                <a:effectLst/>
                <a:latin typeface="Consolas" panose="020B0609020204030204" pitchFamily="49" charset="0"/>
              </a:rPr>
              <a:t> to </a:t>
            </a:r>
            <a:r>
              <a:rPr lang="fi-FI" sz="1600" b="0" dirty="0" err="1">
                <a:solidFill>
                  <a:srgbClr val="008000"/>
                </a:solidFill>
                <a:effectLst/>
                <a:latin typeface="Consolas" panose="020B0609020204030204" pitchFamily="49" charset="0"/>
              </a:rPr>
              <a:t>the</a:t>
            </a:r>
            <a:r>
              <a:rPr lang="fi-FI" sz="1600" b="0" dirty="0">
                <a:solidFill>
                  <a:srgbClr val="008000"/>
                </a:solidFill>
                <a:effectLst/>
                <a:latin typeface="Consolas" panose="020B0609020204030204" pitchFamily="49" charset="0"/>
              </a:rPr>
              <a:t> </a:t>
            </a:r>
            <a:r>
              <a:rPr lang="fi-FI" sz="1600" b="0" dirty="0" err="1">
                <a:solidFill>
                  <a:srgbClr val="008000"/>
                </a:solidFill>
                <a:effectLst/>
                <a:latin typeface="Consolas" panose="020B0609020204030204" pitchFamily="49" charset="0"/>
              </a:rPr>
              <a:t>List</a:t>
            </a:r>
            <a:r>
              <a:rPr lang="fi-FI" sz="1600" b="0" dirty="0">
                <a:solidFill>
                  <a:srgbClr val="008000"/>
                </a:solidFill>
                <a:effectLst/>
                <a:latin typeface="Consolas" panose="020B0609020204030204" pitchFamily="49" charset="0"/>
              </a:rPr>
              <a:t>.</a:t>
            </a:r>
            <a:endParaRPr lang="fi-FI" sz="1600" b="0" dirty="0">
              <a:solidFill>
                <a:srgbClr val="000000"/>
              </a:solidFill>
              <a:effectLst/>
              <a:latin typeface="Consolas" panose="020B0609020204030204" pitchFamily="49" charset="0"/>
            </a:endParaRP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nimilista.add</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"mortti"</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nimilista.add</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err="1">
                <a:solidFill>
                  <a:srgbClr val="A31515"/>
                </a:solidFill>
                <a:effectLst/>
                <a:latin typeface="Consolas" panose="020B0609020204030204" pitchFamily="49" charset="0"/>
              </a:rPr>
              <a:t>vertti</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(nimilista);</a:t>
            </a:r>
          </a:p>
        </p:txBody>
      </p:sp>
    </p:spTree>
    <p:extLst>
      <p:ext uri="{BB962C8B-B14F-4D97-AF65-F5344CB8AC3E}">
        <p14:creationId xmlns:p14="http://schemas.microsoft.com/office/powerpoint/2010/main" val="3659554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86BE-C930-7D54-AE8A-D05FEDD6BB16}"/>
              </a:ext>
            </a:extLst>
          </p:cNvPr>
          <p:cNvSpPr>
            <a:spLocks noGrp="1"/>
          </p:cNvSpPr>
          <p:nvPr>
            <p:ph type="title"/>
          </p:nvPr>
        </p:nvSpPr>
        <p:spPr/>
        <p:txBody>
          <a:bodyPr/>
          <a:lstStyle/>
          <a:p>
            <a:r>
              <a:rPr lang="fi-FI" dirty="0">
                <a:solidFill>
                  <a:srgbClr val="FF0000"/>
                </a:solidFill>
              </a:rPr>
              <a:t>Harjoitus</a:t>
            </a:r>
          </a:p>
        </p:txBody>
      </p:sp>
      <p:sp>
        <p:nvSpPr>
          <p:cNvPr id="3" name="Content Placeholder 2">
            <a:extLst>
              <a:ext uri="{FF2B5EF4-FFF2-40B4-BE49-F238E27FC236}">
                <a16:creationId xmlns:a16="http://schemas.microsoft.com/office/drawing/2014/main" id="{204D2566-1F7E-A8B7-9D0E-4BD10D007838}"/>
              </a:ext>
            </a:extLst>
          </p:cNvPr>
          <p:cNvSpPr>
            <a:spLocks noGrp="1"/>
          </p:cNvSpPr>
          <p:nvPr>
            <p:ph idx="1"/>
          </p:nvPr>
        </p:nvSpPr>
        <p:spPr/>
        <p:txBody>
          <a:bodyPr/>
          <a:lstStyle/>
          <a:p>
            <a:r>
              <a:rPr lang="fi-FI" dirty="0"/>
              <a:t>Tee ohjelma, joka kysyy käyttäjältä nimiä, kunnes käyttäjä antaa tyhjän merkkijonon</a:t>
            </a:r>
          </a:p>
          <a:p>
            <a:r>
              <a:rPr lang="fi-FI" dirty="0"/>
              <a:t>Nimet tallennetaan listaan</a:t>
            </a:r>
          </a:p>
          <a:p>
            <a:r>
              <a:rPr lang="fi-FI" dirty="0"/>
              <a:t>Lista järjestetään aakkosjärjestykseen</a:t>
            </a:r>
          </a:p>
          <a:p>
            <a:endParaRPr lang="fi-FI" dirty="0"/>
          </a:p>
        </p:txBody>
      </p:sp>
    </p:spTree>
    <p:extLst>
      <p:ext uri="{BB962C8B-B14F-4D97-AF65-F5344CB8AC3E}">
        <p14:creationId xmlns:p14="http://schemas.microsoft.com/office/powerpoint/2010/main" val="34546549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5957E-A335-7973-8789-CBAD5195DEF5}"/>
              </a:ext>
            </a:extLst>
          </p:cNvPr>
          <p:cNvSpPr>
            <a:spLocks noGrp="1"/>
          </p:cNvSpPr>
          <p:nvPr>
            <p:ph type="title"/>
          </p:nvPr>
        </p:nvSpPr>
        <p:spPr/>
        <p:txBody>
          <a:bodyPr/>
          <a:lstStyle/>
          <a:p>
            <a:r>
              <a:rPr lang="fi-FI" dirty="0"/>
              <a:t>Tiedoston lukeminen</a:t>
            </a:r>
          </a:p>
        </p:txBody>
      </p:sp>
      <p:sp>
        <p:nvSpPr>
          <p:cNvPr id="3" name="Content Placeholder 2">
            <a:extLst>
              <a:ext uri="{FF2B5EF4-FFF2-40B4-BE49-F238E27FC236}">
                <a16:creationId xmlns:a16="http://schemas.microsoft.com/office/drawing/2014/main" id="{4518BF12-2422-5D65-65BB-A3F876327281}"/>
              </a:ext>
            </a:extLst>
          </p:cNvPr>
          <p:cNvSpPr>
            <a:spLocks noGrp="1"/>
          </p:cNvSpPr>
          <p:nvPr>
            <p:ph idx="1"/>
          </p:nvPr>
        </p:nvSpPr>
        <p:spPr>
          <a:xfrm>
            <a:off x="838200" y="1825625"/>
            <a:ext cx="4339281" cy="4351338"/>
          </a:xfrm>
        </p:spPr>
        <p:txBody>
          <a:bodyPr>
            <a:normAutofit fontScale="92500"/>
          </a:bodyPr>
          <a:lstStyle/>
          <a:p>
            <a:r>
              <a:rPr lang="fi-FI" sz="2400" dirty="0"/>
              <a:t>Materiaalia</a:t>
            </a:r>
          </a:p>
          <a:p>
            <a:pPr lvl="1"/>
            <a:r>
              <a:rPr lang="fi-FI" sz="2000" dirty="0">
                <a:hlinkClick r:id="rId2"/>
              </a:rPr>
              <a:t>https://ohjelmointi-20.mooc.fi/osa-4/3-tiedon-lukeminen-ja-tiedostot</a:t>
            </a:r>
            <a:r>
              <a:rPr lang="fi-FI" sz="2000" dirty="0"/>
              <a:t> (kohta lukeminen tiedostosta)</a:t>
            </a:r>
          </a:p>
          <a:p>
            <a:r>
              <a:rPr lang="fi-FI" sz="2400" dirty="0"/>
              <a:t>Huomaa, miten tiedoston avaaminen on tehty</a:t>
            </a:r>
          </a:p>
          <a:p>
            <a:r>
              <a:rPr lang="fi-FI" sz="2400" dirty="0"/>
              <a:t>Tiedostoa luetaan </a:t>
            </a:r>
            <a:r>
              <a:rPr lang="fi-FI" sz="2400" dirty="0" err="1"/>
              <a:t>while</a:t>
            </a:r>
            <a:r>
              <a:rPr lang="fi-FI" sz="2400" dirty="0"/>
              <a:t>-silmukassa </a:t>
            </a:r>
            <a:r>
              <a:rPr lang="fi-FI" sz="2400" dirty="0" err="1"/>
              <a:t>hasNextLine</a:t>
            </a:r>
            <a:r>
              <a:rPr lang="fi-FI" sz="2400" dirty="0"/>
              <a:t>()-metodilla, kunnes on päästy tiedoston loppuun</a:t>
            </a:r>
          </a:p>
          <a:p>
            <a:r>
              <a:rPr lang="fi-FI" sz="2400" dirty="0"/>
              <a:t>Kannattaa pitää mielessä, mistä löytyy malli tiedoston lukemiseen</a:t>
            </a:r>
          </a:p>
        </p:txBody>
      </p:sp>
      <p:sp>
        <p:nvSpPr>
          <p:cNvPr id="7" name="TextBox 6">
            <a:extLst>
              <a:ext uri="{FF2B5EF4-FFF2-40B4-BE49-F238E27FC236}">
                <a16:creationId xmlns:a16="http://schemas.microsoft.com/office/drawing/2014/main" id="{F6228404-CB21-6D75-02BB-429C3A8E01B2}"/>
              </a:ext>
            </a:extLst>
          </p:cNvPr>
          <p:cNvSpPr txBox="1"/>
          <p:nvPr/>
        </p:nvSpPr>
        <p:spPr>
          <a:xfrm>
            <a:off x="5426160" y="1690688"/>
            <a:ext cx="6349829" cy="5047536"/>
          </a:xfrm>
          <a:prstGeom prst="rect">
            <a:avLst/>
          </a:prstGeom>
          <a:noFill/>
        </p:spPr>
        <p:txBody>
          <a:bodyPr wrap="square">
            <a:spAutoFit/>
          </a:bodyPr>
          <a:lstStyle/>
          <a:p>
            <a:r>
              <a:rPr lang="fi-FI" sz="1400" b="0" dirty="0">
                <a:solidFill>
                  <a:srgbClr val="0000FF"/>
                </a:solidFill>
                <a:effectLst/>
                <a:latin typeface="Consolas" panose="020B0609020204030204" pitchFamily="49" charset="0"/>
              </a:rPr>
              <a:t>import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java.nio.file.Paths</a:t>
            </a:r>
            <a:r>
              <a:rPr lang="fi-FI" sz="1400" b="0" dirty="0">
                <a:solidFill>
                  <a:srgbClr val="000000"/>
                </a:solidFill>
                <a:effectLst/>
                <a:latin typeface="Consolas" panose="020B0609020204030204" pitchFamily="49" charset="0"/>
              </a:rPr>
              <a:t>;</a:t>
            </a:r>
          </a:p>
          <a:p>
            <a:r>
              <a:rPr lang="fi-FI" sz="1400" b="0" dirty="0">
                <a:solidFill>
                  <a:srgbClr val="0000FF"/>
                </a:solidFill>
                <a:effectLst/>
                <a:latin typeface="Consolas" panose="020B0609020204030204" pitchFamily="49" charset="0"/>
              </a:rPr>
              <a:t>import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java.util.Scanner</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class</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TiedostonLukeminen</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static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void</a:t>
            </a:r>
            <a:r>
              <a:rPr lang="fi-FI" sz="1400" b="0" dirty="0">
                <a:solidFill>
                  <a:srgbClr val="000000"/>
                </a:solidFill>
                <a:effectLst/>
                <a:latin typeface="Consolas" panose="020B0609020204030204" pitchFamily="49" charset="0"/>
              </a:rPr>
              <a:t> main(</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args</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lukija tiedoston lukemista varten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try</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Scanner</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tiedostonLukija</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Scanner</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Paths.get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"numbers.txt"</a:t>
            </a:r>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luetaan tiedostoa kunnes kaikki rivit on luettu</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while</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tiedostonLukija.hasNextLine</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luetaan yksi rivi</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rivi = </a:t>
            </a:r>
            <a:r>
              <a:rPr lang="fi-FI" sz="1400" b="0" dirty="0" err="1">
                <a:solidFill>
                  <a:srgbClr val="000000"/>
                </a:solidFill>
                <a:effectLst/>
                <a:latin typeface="Consolas" panose="020B0609020204030204" pitchFamily="49" charset="0"/>
              </a:rPr>
              <a:t>tiedostonLukija.nextLine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tulostetaan luettu rivi</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(rivi);</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catch</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Exception</a:t>
            </a:r>
            <a:r>
              <a:rPr lang="fi-FI" sz="1400" b="0" dirty="0">
                <a:solidFill>
                  <a:srgbClr val="000000"/>
                </a:solidFill>
                <a:effectLst/>
                <a:latin typeface="Consolas" panose="020B0609020204030204" pitchFamily="49" charset="0"/>
              </a:rPr>
              <a:t> e)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"Virhe: "</a:t>
            </a:r>
            <a:r>
              <a:rPr lang="fi-FI" sz="1400" b="0" dirty="0">
                <a:solidFill>
                  <a:srgbClr val="000000"/>
                </a:solidFill>
                <a:effectLst/>
                <a:latin typeface="Consolas" panose="020B0609020204030204" pitchFamily="49" charset="0"/>
              </a:rPr>
              <a:t> + </a:t>
            </a:r>
            <a:r>
              <a:rPr lang="fi-FI" sz="1400" b="0" dirty="0" err="1">
                <a:solidFill>
                  <a:srgbClr val="000000"/>
                </a:solidFill>
                <a:effectLst/>
                <a:latin typeface="Consolas" panose="020B0609020204030204" pitchFamily="49" charset="0"/>
              </a:rPr>
              <a:t>e.getMessage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5691187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14630-0EDD-A2FA-8421-126C8D7F0857}"/>
              </a:ext>
            </a:extLst>
          </p:cNvPr>
          <p:cNvSpPr>
            <a:spLocks noGrp="1"/>
          </p:cNvSpPr>
          <p:nvPr>
            <p:ph type="title"/>
          </p:nvPr>
        </p:nvSpPr>
        <p:spPr>
          <a:xfrm>
            <a:off x="838200" y="365125"/>
            <a:ext cx="4920049" cy="1325563"/>
          </a:xfrm>
        </p:spPr>
        <p:txBody>
          <a:bodyPr/>
          <a:lstStyle/>
          <a:p>
            <a:r>
              <a:rPr lang="fi-FI" dirty="0"/>
              <a:t>Tiedoston lukeminen </a:t>
            </a:r>
            <a:r>
              <a:rPr lang="fi-FI" dirty="0" err="1"/>
              <a:t>ArrayListiin</a:t>
            </a:r>
            <a:endParaRPr lang="fi-FI" dirty="0"/>
          </a:p>
        </p:txBody>
      </p:sp>
      <p:sp>
        <p:nvSpPr>
          <p:cNvPr id="3" name="Content Placeholder 2">
            <a:extLst>
              <a:ext uri="{FF2B5EF4-FFF2-40B4-BE49-F238E27FC236}">
                <a16:creationId xmlns:a16="http://schemas.microsoft.com/office/drawing/2014/main" id="{0BE07429-E366-C9C0-4D1A-79DA10370A49}"/>
              </a:ext>
            </a:extLst>
          </p:cNvPr>
          <p:cNvSpPr>
            <a:spLocks noGrp="1"/>
          </p:cNvSpPr>
          <p:nvPr>
            <p:ph idx="1"/>
          </p:nvPr>
        </p:nvSpPr>
        <p:spPr>
          <a:xfrm>
            <a:off x="838200" y="1825625"/>
            <a:ext cx="4920049" cy="4351338"/>
          </a:xfrm>
        </p:spPr>
        <p:txBody>
          <a:bodyPr>
            <a:normAutofit/>
          </a:bodyPr>
          <a:lstStyle/>
          <a:p>
            <a:r>
              <a:rPr lang="fi-FI" sz="2400" dirty="0"/>
              <a:t>Vieressä on esimerkki, jossa luetaan nimiä tiedostosta rivi kerrallaan. Nimet laitetaan listaan samalla kun luetaan tiedostoa.</a:t>
            </a:r>
          </a:p>
          <a:p>
            <a:r>
              <a:rPr lang="fi-FI" sz="2400" dirty="0"/>
              <a:t>Lopuksi nimilista järjestetään ja tulostetaan</a:t>
            </a:r>
          </a:p>
        </p:txBody>
      </p:sp>
      <p:sp>
        <p:nvSpPr>
          <p:cNvPr id="5" name="TextBox 4">
            <a:extLst>
              <a:ext uri="{FF2B5EF4-FFF2-40B4-BE49-F238E27FC236}">
                <a16:creationId xmlns:a16="http://schemas.microsoft.com/office/drawing/2014/main" id="{6181B032-112F-E31A-1B6C-FD1B8C7479F1}"/>
              </a:ext>
            </a:extLst>
          </p:cNvPr>
          <p:cNvSpPr txBox="1"/>
          <p:nvPr/>
        </p:nvSpPr>
        <p:spPr>
          <a:xfrm>
            <a:off x="5889539" y="797510"/>
            <a:ext cx="6094970" cy="5262979"/>
          </a:xfrm>
          <a:prstGeom prst="rect">
            <a:avLst/>
          </a:prstGeom>
          <a:noFill/>
        </p:spPr>
        <p:txBody>
          <a:bodyPr wrap="square">
            <a:spAutoFit/>
          </a:bodyPr>
          <a:lstStyle/>
          <a:p>
            <a:r>
              <a:rPr lang="fi-FI" sz="1200" b="0" dirty="0" err="1">
                <a:solidFill>
                  <a:srgbClr val="0000FF"/>
                </a:solidFill>
                <a:effectLst/>
                <a:latin typeface="Consolas" panose="020B0609020204030204" pitchFamily="49" charset="0"/>
              </a:rPr>
              <a:t>public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class</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TiedostonLukeminen</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public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static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void</a:t>
            </a:r>
            <a:r>
              <a:rPr lang="fi-FI" sz="1200" b="0" dirty="0">
                <a:solidFill>
                  <a:srgbClr val="000000"/>
                </a:solidFill>
                <a:effectLst/>
                <a:latin typeface="Consolas" panose="020B0609020204030204" pitchFamily="49" charset="0"/>
              </a:rPr>
              <a:t> main(</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args</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lista rivejä varten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&gt; rivit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lukija tiedoston lukemista varten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try</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tiedostonLukija</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Paths.get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"names.txt"</a:t>
            </a:r>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luetaan tiedostoa kunnes kaikki rivit on luettu</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tiedostonLukija.hasNextLine</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luetaan yksi rivi</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rivi = </a:t>
            </a:r>
            <a:r>
              <a:rPr lang="fi-FI" sz="1200" b="0" dirty="0" err="1">
                <a:solidFill>
                  <a:srgbClr val="000000"/>
                </a:solidFill>
                <a:effectLst/>
                <a:latin typeface="Consolas" panose="020B0609020204030204" pitchFamily="49" charset="0"/>
              </a:rPr>
              <a:t>tiedostonLukija.nextLine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lisätään listaan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rivit.add</a:t>
            </a:r>
            <a:r>
              <a:rPr lang="fi-FI" sz="1200" b="0" dirty="0">
                <a:solidFill>
                  <a:srgbClr val="000000"/>
                </a:solidFill>
                <a:effectLst/>
                <a:latin typeface="Consolas" panose="020B0609020204030204" pitchFamily="49" charset="0"/>
              </a:rPr>
              <a:t>(rivi);</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järjestetään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Collections.sort</a:t>
            </a:r>
            <a:r>
              <a:rPr lang="fi-FI" sz="1200" b="0" dirty="0">
                <a:solidFill>
                  <a:srgbClr val="000000"/>
                </a:solidFill>
                <a:effectLst/>
                <a:latin typeface="Consolas" panose="020B0609020204030204" pitchFamily="49" charset="0"/>
              </a:rPr>
              <a:t>(rivit);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tulostetaan </a:t>
            </a:r>
            <a:r>
              <a:rPr lang="fi-FI" sz="1200" b="0" dirty="0" err="1">
                <a:solidFill>
                  <a:srgbClr val="008000"/>
                </a:solidFill>
                <a:effectLst/>
                <a:latin typeface="Consolas" panose="020B0609020204030204" pitchFamily="49" charset="0"/>
              </a:rPr>
              <a:t>foreachillä</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nimi </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rivit)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(nimi);</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catch</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Exception</a:t>
            </a:r>
            <a:r>
              <a:rPr lang="fi-FI" sz="1200" b="0" dirty="0">
                <a:solidFill>
                  <a:srgbClr val="000000"/>
                </a:solidFill>
                <a:effectLst/>
                <a:latin typeface="Consolas" panose="020B0609020204030204" pitchFamily="49" charset="0"/>
              </a:rPr>
              <a:t> e)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"Virhe: "</a:t>
            </a:r>
            <a:r>
              <a:rPr lang="fi-FI" sz="1200" b="0" dirty="0">
                <a:solidFill>
                  <a:srgbClr val="000000"/>
                </a:solidFill>
                <a:effectLst/>
                <a:latin typeface="Consolas" panose="020B0609020204030204" pitchFamily="49" charset="0"/>
              </a:rPr>
              <a:t> + </a:t>
            </a:r>
            <a:r>
              <a:rPr lang="fi-FI" sz="1200" b="0" dirty="0" err="1">
                <a:solidFill>
                  <a:srgbClr val="000000"/>
                </a:solidFill>
                <a:effectLst/>
                <a:latin typeface="Consolas" panose="020B0609020204030204" pitchFamily="49" charset="0"/>
              </a:rPr>
              <a:t>e.getMessage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556763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D3198-17F7-E1A7-58D2-B2B1F182C9EA}"/>
              </a:ext>
            </a:extLst>
          </p:cNvPr>
          <p:cNvSpPr>
            <a:spLocks noGrp="1"/>
          </p:cNvSpPr>
          <p:nvPr>
            <p:ph type="title"/>
          </p:nvPr>
        </p:nvSpPr>
        <p:spPr/>
        <p:txBody>
          <a:bodyPr/>
          <a:lstStyle/>
          <a:p>
            <a:r>
              <a:rPr lang="fi-FI" dirty="0">
                <a:solidFill>
                  <a:srgbClr val="FF0000"/>
                </a:solidFill>
              </a:rPr>
              <a:t>Harjoitus </a:t>
            </a:r>
          </a:p>
        </p:txBody>
      </p:sp>
      <p:sp>
        <p:nvSpPr>
          <p:cNvPr id="3" name="Content Placeholder 2">
            <a:extLst>
              <a:ext uri="{FF2B5EF4-FFF2-40B4-BE49-F238E27FC236}">
                <a16:creationId xmlns:a16="http://schemas.microsoft.com/office/drawing/2014/main" id="{DD14A8C1-C129-ED12-BD1B-A19A1EB8520D}"/>
              </a:ext>
            </a:extLst>
          </p:cNvPr>
          <p:cNvSpPr>
            <a:spLocks noGrp="1"/>
          </p:cNvSpPr>
          <p:nvPr>
            <p:ph idx="1"/>
          </p:nvPr>
        </p:nvSpPr>
        <p:spPr/>
        <p:txBody>
          <a:bodyPr>
            <a:normAutofit fontScale="92500" lnSpcReduction="20000"/>
          </a:bodyPr>
          <a:lstStyle/>
          <a:p>
            <a:r>
              <a:rPr lang="fi-FI" dirty="0"/>
              <a:t>Tee ohjelma, joka lukee numeroita tiedostosta numbers.txt ja lisää ne listaan</a:t>
            </a:r>
          </a:p>
          <a:p>
            <a:r>
              <a:rPr lang="fi-FI" dirty="0"/>
              <a:t>Listan alkiot ovat tyyppiä </a:t>
            </a:r>
            <a:r>
              <a:rPr lang="fi-FI" dirty="0" err="1"/>
              <a:t>Double</a:t>
            </a:r>
            <a:r>
              <a:rPr lang="fi-FI" dirty="0"/>
              <a:t>.</a:t>
            </a:r>
          </a:p>
          <a:p>
            <a:r>
              <a:rPr lang="fi-FI" dirty="0"/>
              <a:t>Rivi luetaan tekstinä. Rivillä oleva tekstimuotoinen numerotieto täytyy muuttaa </a:t>
            </a:r>
            <a:r>
              <a:rPr lang="fi-FI" dirty="0" err="1"/>
              <a:t>double</a:t>
            </a:r>
            <a:r>
              <a:rPr lang="fi-FI" dirty="0"/>
              <a:t>-tyyppiseksi ennen kuin se voidaan lisätä taulukkoon.</a:t>
            </a:r>
          </a:p>
          <a:p>
            <a:r>
              <a:rPr lang="fi-FI" dirty="0"/>
              <a:t>Ohjelma laskee</a:t>
            </a:r>
          </a:p>
          <a:p>
            <a:pPr lvl="1"/>
            <a:r>
              <a:rPr lang="fi-FI" dirty="0"/>
              <a:t>Lukujen summan</a:t>
            </a:r>
          </a:p>
          <a:p>
            <a:pPr lvl="1"/>
            <a:r>
              <a:rPr lang="fi-FI" dirty="0"/>
              <a:t>Keskiarvon </a:t>
            </a:r>
          </a:p>
          <a:p>
            <a:pPr lvl="1"/>
            <a:r>
              <a:rPr lang="fi-FI" dirty="0"/>
              <a:t>Mediaanin</a:t>
            </a:r>
          </a:p>
          <a:p>
            <a:pPr lvl="1"/>
            <a:r>
              <a:rPr lang="fi-FI" dirty="0"/>
              <a:t>Pienimmän luvun</a:t>
            </a:r>
          </a:p>
          <a:p>
            <a:pPr lvl="1"/>
            <a:r>
              <a:rPr lang="fi-FI" dirty="0"/>
              <a:t>Suurimman luvun</a:t>
            </a:r>
          </a:p>
          <a:p>
            <a:pPr lvl="1"/>
            <a:r>
              <a:rPr lang="fi-FI" dirty="0"/>
              <a:t>Keskihajonnan</a:t>
            </a:r>
          </a:p>
          <a:p>
            <a:endParaRPr lang="fi-FI" dirty="0"/>
          </a:p>
        </p:txBody>
      </p:sp>
    </p:spTree>
    <p:extLst>
      <p:ext uri="{BB962C8B-B14F-4D97-AF65-F5344CB8AC3E}">
        <p14:creationId xmlns:p14="http://schemas.microsoft.com/office/powerpoint/2010/main" val="2350345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29C9-2A74-68D9-74E7-60086B485D57}"/>
              </a:ext>
            </a:extLst>
          </p:cNvPr>
          <p:cNvSpPr>
            <a:spLocks noGrp="1"/>
          </p:cNvSpPr>
          <p:nvPr>
            <p:ph type="title"/>
          </p:nvPr>
        </p:nvSpPr>
        <p:spPr/>
        <p:txBody>
          <a:bodyPr/>
          <a:lstStyle/>
          <a:p>
            <a:r>
              <a:rPr lang="fi-FI" dirty="0" err="1"/>
              <a:t>Split</a:t>
            </a:r>
            <a:endParaRPr lang="fi-FI" dirty="0"/>
          </a:p>
        </p:txBody>
      </p:sp>
      <p:sp>
        <p:nvSpPr>
          <p:cNvPr id="3" name="Content Placeholder 2">
            <a:extLst>
              <a:ext uri="{FF2B5EF4-FFF2-40B4-BE49-F238E27FC236}">
                <a16:creationId xmlns:a16="http://schemas.microsoft.com/office/drawing/2014/main" id="{E3807ADB-98B8-1823-3C29-1DEF44E125B5}"/>
              </a:ext>
            </a:extLst>
          </p:cNvPr>
          <p:cNvSpPr>
            <a:spLocks noGrp="1"/>
          </p:cNvSpPr>
          <p:nvPr>
            <p:ph idx="1"/>
          </p:nvPr>
        </p:nvSpPr>
        <p:spPr>
          <a:xfrm>
            <a:off x="838200" y="1825625"/>
            <a:ext cx="5111578" cy="4351338"/>
          </a:xfrm>
        </p:spPr>
        <p:txBody>
          <a:bodyPr>
            <a:normAutofit/>
          </a:bodyPr>
          <a:lstStyle/>
          <a:p>
            <a:r>
              <a:rPr lang="fi-FI" sz="2400" dirty="0"/>
              <a:t>Tieto tallennetaan usein tiedostoihin CSV-muodossa eli pilkulla erotettuna.</a:t>
            </a:r>
          </a:p>
          <a:p>
            <a:r>
              <a:rPr lang="fi-FI" sz="2400" dirty="0"/>
              <a:t>Pilkulla tai jollakin muulla välimerkillä erotetut tiedot voidaan erottaa </a:t>
            </a:r>
            <a:r>
              <a:rPr lang="fi-FI" sz="2400" dirty="0" err="1"/>
              <a:t>Split</a:t>
            </a:r>
            <a:r>
              <a:rPr lang="fi-FI" sz="2400" dirty="0"/>
              <a:t>-metodilla. Tuloksena syntyy </a:t>
            </a:r>
            <a:r>
              <a:rPr lang="fi-FI" sz="2400" dirty="0" err="1"/>
              <a:t>String</a:t>
            </a:r>
            <a:r>
              <a:rPr lang="fi-FI" sz="2400" dirty="0"/>
              <a:t>[]-tyyppinen taulukko</a:t>
            </a:r>
          </a:p>
          <a:p>
            <a:r>
              <a:rPr lang="fi-FI" sz="2400" dirty="0"/>
              <a:t>Jos tiedot ovat lukuja, ne täytyy muuttaa numeroiksi ennen laskutoimituksia</a:t>
            </a:r>
          </a:p>
        </p:txBody>
      </p:sp>
      <p:sp>
        <p:nvSpPr>
          <p:cNvPr id="5" name="TextBox 4">
            <a:extLst>
              <a:ext uri="{FF2B5EF4-FFF2-40B4-BE49-F238E27FC236}">
                <a16:creationId xmlns:a16="http://schemas.microsoft.com/office/drawing/2014/main" id="{D3146923-A566-0AF6-6C28-B19454864D82}"/>
              </a:ext>
            </a:extLst>
          </p:cNvPr>
          <p:cNvSpPr txBox="1"/>
          <p:nvPr/>
        </p:nvSpPr>
        <p:spPr>
          <a:xfrm>
            <a:off x="5949778" y="1452585"/>
            <a:ext cx="6094970" cy="4832092"/>
          </a:xfrm>
          <a:prstGeom prst="rect">
            <a:avLst/>
          </a:prstGeom>
          <a:noFill/>
        </p:spPr>
        <p:txBody>
          <a:bodyPr wrap="square">
            <a:spAutoFit/>
          </a:bodyPr>
          <a:lstStyle/>
          <a:p>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class</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SplitEsim</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static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void</a:t>
            </a:r>
            <a:r>
              <a:rPr lang="fi-FI" sz="1400" b="0" dirty="0">
                <a:solidFill>
                  <a:srgbClr val="000000"/>
                </a:solidFill>
                <a:effectLst/>
                <a:latin typeface="Consolas" panose="020B0609020204030204" pitchFamily="49" charset="0"/>
              </a:rPr>
              <a:t> main(</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args</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nimet = </a:t>
            </a:r>
            <a:r>
              <a:rPr lang="fi-FI" sz="1400" b="0" dirty="0">
                <a:solidFill>
                  <a:srgbClr val="A31515"/>
                </a:solidFill>
                <a:effectLst/>
                <a:latin typeface="Consolas" panose="020B0609020204030204" pitchFamily="49" charset="0"/>
              </a:rPr>
              <a:t>"</a:t>
            </a:r>
            <a:r>
              <a:rPr lang="fi-FI" sz="1400" b="0" dirty="0" err="1">
                <a:solidFill>
                  <a:srgbClr val="A31515"/>
                </a:solidFill>
                <a:effectLst/>
                <a:latin typeface="Consolas" panose="020B0609020204030204" pitchFamily="49" charset="0"/>
              </a:rPr>
              <a:t>Matti,Teppo,Seppo</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nimitaulukko = </a:t>
            </a:r>
            <a:r>
              <a:rPr lang="fi-FI" sz="1400" b="0" dirty="0" err="1">
                <a:solidFill>
                  <a:srgbClr val="000000"/>
                </a:solidFill>
                <a:effectLst/>
                <a:latin typeface="Consolas" panose="020B0609020204030204" pitchFamily="49" charset="0"/>
              </a:rPr>
              <a:t>nimet.split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nimi </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nimitaulukko)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(nimi);</a:t>
            </a:r>
          </a:p>
          <a:p>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luvut = </a:t>
            </a:r>
            <a:r>
              <a:rPr lang="fi-FI" sz="1400" b="0" dirty="0">
                <a:solidFill>
                  <a:srgbClr val="A31515"/>
                </a:solidFill>
                <a:effectLst/>
                <a:latin typeface="Consolas" panose="020B0609020204030204" pitchFamily="49" charset="0"/>
              </a:rPr>
              <a:t>"12.3 14.4 8.5"</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palaset = </a:t>
            </a:r>
            <a:r>
              <a:rPr lang="fi-FI" sz="1400" b="0" dirty="0" err="1">
                <a:solidFill>
                  <a:srgbClr val="000000"/>
                </a:solidFill>
                <a:effectLst/>
                <a:latin typeface="Consolas" panose="020B0609020204030204" pitchFamily="49" charset="0"/>
              </a:rPr>
              <a:t>luvut.split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 "</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Double</a:t>
            </a:r>
            <a:r>
              <a:rPr lang="fi-FI" sz="1400" b="0" dirty="0">
                <a:solidFill>
                  <a:srgbClr val="000000"/>
                </a:solidFill>
                <a:effectLst/>
                <a:latin typeface="Consolas" panose="020B0609020204030204" pitchFamily="49" charset="0"/>
              </a:rPr>
              <a:t>&gt; lukulista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s </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palaset)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lukulista.add</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Double.parseDouble</a:t>
            </a:r>
            <a:r>
              <a:rPr lang="fi-FI" sz="1400" b="0" dirty="0">
                <a:solidFill>
                  <a:srgbClr val="000000"/>
                </a:solidFill>
                <a:effectLst/>
                <a:latin typeface="Consolas" panose="020B0609020204030204" pitchFamily="49" charset="0"/>
              </a:rPr>
              <a:t>(s));</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Collections.sort</a:t>
            </a:r>
            <a:r>
              <a:rPr lang="fi-FI" sz="1400" b="0" dirty="0">
                <a:solidFill>
                  <a:srgbClr val="000000"/>
                </a:solidFill>
                <a:effectLst/>
                <a:latin typeface="Consolas" panose="020B0609020204030204" pitchFamily="49" charset="0"/>
              </a:rPr>
              <a:t>(lukulista);</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9868843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BC1-5464-C06C-739C-24FE4AE97FCD}"/>
              </a:ext>
            </a:extLst>
          </p:cNvPr>
          <p:cNvSpPr>
            <a:spLocks noGrp="1"/>
          </p:cNvSpPr>
          <p:nvPr>
            <p:ph type="title"/>
          </p:nvPr>
        </p:nvSpPr>
        <p:spPr/>
        <p:txBody>
          <a:bodyPr/>
          <a:lstStyle/>
          <a:p>
            <a:r>
              <a:rPr lang="fi-FI" dirty="0"/>
              <a:t>Lista olioita</a:t>
            </a:r>
          </a:p>
        </p:txBody>
      </p:sp>
      <p:sp>
        <p:nvSpPr>
          <p:cNvPr id="3" name="Content Placeholder 2">
            <a:extLst>
              <a:ext uri="{FF2B5EF4-FFF2-40B4-BE49-F238E27FC236}">
                <a16:creationId xmlns:a16="http://schemas.microsoft.com/office/drawing/2014/main" id="{5C000FDC-53D3-F8A5-99C2-FE47BFB53490}"/>
              </a:ext>
            </a:extLst>
          </p:cNvPr>
          <p:cNvSpPr>
            <a:spLocks noGrp="1"/>
          </p:cNvSpPr>
          <p:nvPr>
            <p:ph idx="1"/>
          </p:nvPr>
        </p:nvSpPr>
        <p:spPr>
          <a:xfrm>
            <a:off x="838200" y="1825625"/>
            <a:ext cx="5093043" cy="4351338"/>
          </a:xfrm>
        </p:spPr>
        <p:txBody>
          <a:bodyPr>
            <a:normAutofit fontScale="92500" lnSpcReduction="20000"/>
          </a:bodyPr>
          <a:lstStyle/>
          <a:p>
            <a:r>
              <a:rPr lang="fi-FI" sz="2400" dirty="0"/>
              <a:t>Olioiden luominen tiedostosta luetusta datasta on helppoa, jos tiedot ovat jollakin välimerkillä erotettuja.</a:t>
            </a:r>
          </a:p>
          <a:p>
            <a:r>
              <a:rPr lang="fi-FI" sz="2400" dirty="0"/>
              <a:t>Esimerkissä tiedot luetaan listaan, jossa on Ehdokas-tyyppisiä olioita</a:t>
            </a:r>
          </a:p>
          <a:p>
            <a:r>
              <a:rPr lang="fi-FI" sz="2400" dirty="0"/>
              <a:t>Rivi </a:t>
            </a:r>
            <a:r>
              <a:rPr lang="fi-FI" sz="2400" dirty="0" err="1"/>
              <a:t>palastellaan</a:t>
            </a:r>
            <a:r>
              <a:rPr lang="fi-FI" sz="2400" dirty="0"/>
              <a:t> </a:t>
            </a:r>
            <a:r>
              <a:rPr lang="fi-FI" sz="2400" dirty="0" err="1"/>
              <a:t>splitillä</a:t>
            </a:r>
            <a:r>
              <a:rPr lang="fi-FI" sz="2400" dirty="0"/>
              <a:t>. Huomaa säännöllinen lauseke (</a:t>
            </a:r>
            <a:r>
              <a:rPr lang="fi-FI" sz="2400" dirty="0" err="1"/>
              <a:t>regex</a:t>
            </a:r>
            <a:r>
              <a:rPr lang="fi-FI" sz="2400" dirty="0"/>
              <a:t>), jolla sallitaan kaikki </a:t>
            </a:r>
            <a:r>
              <a:rPr lang="fi-FI" sz="2400" dirty="0" err="1"/>
              <a:t>whitespacet</a:t>
            </a:r>
            <a:endParaRPr lang="fi-FI" sz="2400" dirty="0"/>
          </a:p>
          <a:p>
            <a:r>
              <a:rPr lang="fi-FI" sz="2400" dirty="0"/>
              <a:t>Tiedot löytyy palaset taulukosta. Äänimäärä täytyy muuttaa kokonaisluvuksi</a:t>
            </a:r>
          </a:p>
          <a:p>
            <a:r>
              <a:rPr lang="fi-FI" sz="2400" dirty="0"/>
              <a:t>Luodaan Ehdokas-olio ja annetaan sille </a:t>
            </a:r>
            <a:r>
              <a:rPr lang="fi-FI" sz="2400" dirty="0" err="1"/>
              <a:t>palastellut</a:t>
            </a:r>
            <a:r>
              <a:rPr lang="fi-FI" sz="2400" dirty="0"/>
              <a:t> tiedot</a:t>
            </a:r>
          </a:p>
          <a:p>
            <a:r>
              <a:rPr lang="fi-FI" sz="2400" dirty="0" err="1"/>
              <a:t>Lisätää</a:t>
            </a:r>
            <a:r>
              <a:rPr lang="fi-FI" sz="2400" dirty="0"/>
              <a:t> Ehdokas-olio listaan.</a:t>
            </a:r>
          </a:p>
        </p:txBody>
      </p:sp>
      <p:sp>
        <p:nvSpPr>
          <p:cNvPr id="10" name="TextBox 9">
            <a:extLst>
              <a:ext uri="{FF2B5EF4-FFF2-40B4-BE49-F238E27FC236}">
                <a16:creationId xmlns:a16="http://schemas.microsoft.com/office/drawing/2014/main" id="{21B18171-8977-46F4-8A9E-AACBD4D6BEB1}"/>
              </a:ext>
            </a:extLst>
          </p:cNvPr>
          <p:cNvSpPr txBox="1"/>
          <p:nvPr/>
        </p:nvSpPr>
        <p:spPr>
          <a:xfrm>
            <a:off x="6019284" y="756994"/>
            <a:ext cx="5596067" cy="5632311"/>
          </a:xfrm>
          <a:prstGeom prst="rect">
            <a:avLst/>
          </a:prstGeom>
          <a:noFill/>
        </p:spPr>
        <p:txBody>
          <a:bodyPr wrap="square">
            <a:spAutoFit/>
          </a:bodyPr>
          <a:lstStyle/>
          <a:p>
            <a:r>
              <a:rPr lang="fi-FI" sz="1200" b="0" dirty="0">
                <a:solidFill>
                  <a:srgbClr val="008000"/>
                </a:solidFill>
                <a:effectLst/>
                <a:latin typeface="Consolas" panose="020B0609020204030204" pitchFamily="49" charset="0"/>
              </a:rPr>
              <a:t>// lukija tiedoston lukemista varten</a:t>
            </a:r>
            <a:endParaRPr lang="fi-FI" sz="1200" b="0" dirty="0">
              <a:solidFill>
                <a:srgbClr val="000000"/>
              </a:solidFill>
              <a:effectLst/>
              <a:latin typeface="Consolas" panose="020B0609020204030204" pitchFamily="49" charset="0"/>
            </a:endParaRPr>
          </a:p>
          <a:p>
            <a:r>
              <a:rPr lang="fi-FI" sz="1200" b="0" dirty="0" err="1">
                <a:solidFill>
                  <a:srgbClr val="0000FF"/>
                </a:solidFill>
                <a:effectLst/>
                <a:latin typeface="Consolas" panose="020B0609020204030204" pitchFamily="49" charset="0"/>
              </a:rPr>
              <a:t>try</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tiedostonLukija</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Paths.get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"ehdokkaat.txt"</a:t>
            </a:r>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lista rivejä varten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a:solidFill>
                  <a:srgbClr val="0000FF"/>
                </a:solidFill>
                <a:effectLst/>
                <a:latin typeface="Consolas" panose="020B0609020204030204" pitchFamily="49" charset="0"/>
              </a:rPr>
              <a:t>Ehdokas</a:t>
            </a:r>
            <a:r>
              <a:rPr lang="fi-FI" sz="1200" b="0" dirty="0">
                <a:solidFill>
                  <a:srgbClr val="000000"/>
                </a:solidFill>
                <a:effectLst/>
                <a:latin typeface="Consolas" panose="020B0609020204030204" pitchFamily="49" charset="0"/>
              </a:rPr>
              <a:t>&gt; ehdokkaat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luetaan tiedostoa kunnes kaikki rivit on luettu</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tiedostonLukija.hasNextLine</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luetaan yksi rivi</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rivi = </a:t>
            </a:r>
            <a:r>
              <a:rPr lang="fi-FI" sz="1200" b="0" dirty="0" err="1">
                <a:solidFill>
                  <a:srgbClr val="000000"/>
                </a:solidFill>
                <a:effectLst/>
                <a:latin typeface="Consolas" panose="020B0609020204030204" pitchFamily="49" charset="0"/>
              </a:rPr>
              <a:t>tiedostonLukija.nextLine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a:t>
            </a:r>
            <a:r>
              <a:rPr lang="fi-FI" sz="1200" b="0" dirty="0" err="1">
                <a:solidFill>
                  <a:srgbClr val="008000"/>
                </a:solidFill>
                <a:effectLst/>
                <a:latin typeface="Consolas" panose="020B0609020204030204" pitchFamily="49" charset="0"/>
              </a:rPr>
              <a:t>palastellaan</a:t>
            </a:r>
            <a:r>
              <a:rPr lang="fi-FI" sz="1200" b="0" dirty="0">
                <a:solidFill>
                  <a:srgbClr val="008000"/>
                </a:solidFill>
                <a:effectLst/>
                <a:latin typeface="Consolas" panose="020B0609020204030204" pitchFamily="49" charset="0"/>
              </a:rPr>
              <a:t> niin, että </a:t>
            </a:r>
            <a:r>
              <a:rPr lang="fi-FI" sz="1200" b="0" dirty="0" err="1">
                <a:solidFill>
                  <a:srgbClr val="008000"/>
                </a:solidFill>
                <a:effectLst/>
                <a:latin typeface="Consolas" panose="020B0609020204030204" pitchFamily="49" charset="0"/>
              </a:rPr>
              <a:t>whitespaceja</a:t>
            </a:r>
            <a:r>
              <a:rPr lang="fi-FI" sz="1200" b="0" dirty="0">
                <a:solidFill>
                  <a:srgbClr val="008000"/>
                </a:solidFill>
                <a:effectLst/>
                <a:latin typeface="Consolas" panose="020B0609020204030204" pitchFamily="49" charset="0"/>
              </a:rPr>
              <a:t> (ja </a:t>
            </a:r>
            <a:r>
              <a:rPr lang="fi-FI" sz="1200" b="0" dirty="0" err="1">
                <a:solidFill>
                  <a:srgbClr val="008000"/>
                </a:solidFill>
                <a:effectLst/>
                <a:latin typeface="Consolas" panose="020B0609020204030204" pitchFamily="49" charset="0"/>
              </a:rPr>
              <a:t>tab</a:t>
            </a:r>
            <a:r>
              <a:rPr lang="fi-FI" sz="1200" b="0" dirty="0">
                <a:solidFill>
                  <a:srgbClr val="008000"/>
                </a:solidFill>
                <a:effectLst/>
                <a:latin typeface="Consolas" panose="020B0609020204030204" pitchFamily="49" charset="0"/>
              </a:rPr>
              <a:t>) </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voi olla useita</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palaset = </a:t>
            </a:r>
            <a:r>
              <a:rPr lang="fi-FI" sz="1200" b="0" dirty="0" err="1">
                <a:solidFill>
                  <a:srgbClr val="000000"/>
                </a:solidFill>
                <a:effectLst/>
                <a:latin typeface="Consolas" panose="020B0609020204030204" pitchFamily="49" charset="0"/>
              </a:rPr>
              <a:t>rivi.split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"\\s+"</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etunimi = palaset[</a:t>
            </a:r>
            <a:r>
              <a:rPr lang="fi-FI" sz="1200" b="0" dirty="0">
                <a:solidFill>
                  <a:srgbClr val="098658"/>
                </a:solidFill>
                <a:effectLst/>
                <a:latin typeface="Consolas" panose="020B0609020204030204" pitchFamily="49" charset="0"/>
              </a:rPr>
              <a:t>0</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sukunimi = palaset[</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puolue = palaset[</a:t>
            </a:r>
            <a:r>
              <a:rPr lang="fi-FI" sz="1200" b="0" dirty="0">
                <a:solidFill>
                  <a:srgbClr val="098658"/>
                </a:solidFill>
                <a:effectLst/>
                <a:latin typeface="Consolas" panose="020B0609020204030204" pitchFamily="49" charset="0"/>
              </a:rPr>
              <a:t>2</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int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aanimaara</a:t>
            </a:r>
            <a:r>
              <a:rPr lang="fi-FI" sz="1200" b="0" dirty="0">
                <a:solidFill>
                  <a:srgbClr val="000000"/>
                </a:solidFill>
                <a:effectLst/>
                <a:latin typeface="Consolas" panose="020B0609020204030204" pitchFamily="49" charset="0"/>
              </a:rPr>
              <a:t> = </a:t>
            </a:r>
            <a:r>
              <a:rPr lang="fi-FI" sz="1200" b="0" dirty="0" err="1">
                <a:solidFill>
                  <a:srgbClr val="000000"/>
                </a:solidFill>
                <a:effectLst/>
                <a:latin typeface="Consolas" panose="020B0609020204030204" pitchFamily="49" charset="0"/>
              </a:rPr>
              <a:t>Integer.parseInt</a:t>
            </a:r>
            <a:r>
              <a:rPr lang="fi-FI" sz="1200" b="0" dirty="0">
                <a:solidFill>
                  <a:srgbClr val="000000"/>
                </a:solidFill>
                <a:effectLst/>
                <a:latin typeface="Consolas" panose="020B0609020204030204" pitchFamily="49" charset="0"/>
              </a:rPr>
              <a:t>(palaset[</a:t>
            </a:r>
            <a:r>
              <a:rPr lang="fi-FI" sz="1200" b="0" dirty="0">
                <a:solidFill>
                  <a:srgbClr val="098658"/>
                </a:solidFill>
                <a:effectLst/>
                <a:latin typeface="Consolas" panose="020B0609020204030204" pitchFamily="49" charset="0"/>
              </a:rPr>
              <a:t>3</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luodaan olio</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Ehdokas</a:t>
            </a:r>
            <a:r>
              <a:rPr lang="fi-FI" sz="1200" b="0" dirty="0">
                <a:solidFill>
                  <a:srgbClr val="000000"/>
                </a:solidFill>
                <a:effectLst/>
                <a:latin typeface="Consolas" panose="020B0609020204030204" pitchFamily="49" charset="0"/>
              </a:rPr>
              <a:t> e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Ehdokas(etunimi, sukunimi,</a:t>
            </a:r>
          </a:p>
          <a:p>
            <a:r>
              <a:rPr lang="fi-FI" sz="1200" b="0" dirty="0">
                <a:solidFill>
                  <a:srgbClr val="000000"/>
                </a:solidFill>
                <a:effectLst/>
                <a:latin typeface="Consolas" panose="020B0609020204030204" pitchFamily="49" charset="0"/>
              </a:rPr>
              <a:t>            puolue, </a:t>
            </a:r>
            <a:r>
              <a:rPr lang="fi-FI" sz="1200" b="0" dirty="0" err="1">
                <a:solidFill>
                  <a:srgbClr val="000000"/>
                </a:solidFill>
                <a:effectLst/>
                <a:latin typeface="Consolas" panose="020B0609020204030204" pitchFamily="49" charset="0"/>
              </a:rPr>
              <a:t>aanimaara</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lisätään ehdokas listaan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ehdokkaat.add</a:t>
            </a:r>
            <a:r>
              <a:rPr lang="fi-FI" sz="1200" b="0" dirty="0">
                <a:solidFill>
                  <a:srgbClr val="000000"/>
                </a:solidFill>
                <a:effectLst/>
                <a:latin typeface="Consolas" panose="020B0609020204030204" pitchFamily="49" charset="0"/>
              </a:rPr>
              <a:t>(e);               </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tulostetaan </a:t>
            </a:r>
            <a:r>
              <a:rPr lang="fi-FI" sz="1200" b="0" dirty="0" err="1">
                <a:solidFill>
                  <a:srgbClr val="008000"/>
                </a:solidFill>
                <a:effectLst/>
                <a:latin typeface="Consolas" panose="020B0609020204030204" pitchFamily="49" charset="0"/>
              </a:rPr>
              <a:t>foreachillä</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Ehdokas</a:t>
            </a:r>
            <a:r>
              <a:rPr lang="fi-FI" sz="1200" b="0" dirty="0">
                <a:solidFill>
                  <a:srgbClr val="000000"/>
                </a:solidFill>
                <a:effectLst/>
                <a:latin typeface="Consolas" panose="020B0609020204030204" pitchFamily="49" charset="0"/>
              </a:rPr>
              <a:t> e </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ehdokkaat)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e.toString</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45721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3331-88D0-7EDA-81BF-54044D1A3B12}"/>
              </a:ext>
            </a:extLst>
          </p:cNvPr>
          <p:cNvSpPr>
            <a:spLocks noGrp="1"/>
          </p:cNvSpPr>
          <p:nvPr>
            <p:ph type="title"/>
          </p:nvPr>
        </p:nvSpPr>
        <p:spPr/>
        <p:txBody>
          <a:bodyPr/>
          <a:lstStyle/>
          <a:p>
            <a:r>
              <a:rPr lang="fi-FI" dirty="0"/>
              <a:t>Rivin pilkkominen ja olion luominen</a:t>
            </a:r>
          </a:p>
        </p:txBody>
      </p:sp>
      <p:sp>
        <p:nvSpPr>
          <p:cNvPr id="4" name="Suorakulmio 3">
            <a:extLst>
              <a:ext uri="{FF2B5EF4-FFF2-40B4-BE49-F238E27FC236}">
                <a16:creationId xmlns:a16="http://schemas.microsoft.com/office/drawing/2014/main" id="{FC2991FC-EAD0-CBC8-6235-26B740EA1598}"/>
              </a:ext>
            </a:extLst>
          </p:cNvPr>
          <p:cNvSpPr/>
          <p:nvPr/>
        </p:nvSpPr>
        <p:spPr>
          <a:xfrm>
            <a:off x="2292179" y="1997075"/>
            <a:ext cx="48006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”Anne-Mari	Haapala	MUUT	265”</a:t>
            </a:r>
          </a:p>
        </p:txBody>
      </p:sp>
      <p:sp>
        <p:nvSpPr>
          <p:cNvPr id="5" name="Tekstikehys 4">
            <a:extLst>
              <a:ext uri="{FF2B5EF4-FFF2-40B4-BE49-F238E27FC236}">
                <a16:creationId xmlns:a16="http://schemas.microsoft.com/office/drawing/2014/main" id="{5985A936-083B-3F54-6947-EBE5E3BFA2A6}"/>
              </a:ext>
            </a:extLst>
          </p:cNvPr>
          <p:cNvSpPr txBox="1"/>
          <p:nvPr/>
        </p:nvSpPr>
        <p:spPr>
          <a:xfrm>
            <a:off x="2292179" y="1616075"/>
            <a:ext cx="1146661" cy="369332"/>
          </a:xfrm>
          <a:prstGeom prst="rect">
            <a:avLst/>
          </a:prstGeom>
          <a:noFill/>
        </p:spPr>
        <p:txBody>
          <a:bodyPr wrap="none" rtlCol="0">
            <a:spAutoFit/>
          </a:bodyPr>
          <a:lstStyle/>
          <a:p>
            <a:r>
              <a:rPr lang="fi-FI" dirty="0" err="1"/>
              <a:t>String</a:t>
            </a:r>
            <a:r>
              <a:rPr lang="fi-FI" dirty="0"/>
              <a:t> </a:t>
            </a:r>
            <a:r>
              <a:rPr lang="fi-FI" dirty="0" err="1"/>
              <a:t>row</a:t>
            </a:r>
            <a:endParaRPr lang="fi-FI" dirty="0"/>
          </a:p>
        </p:txBody>
      </p:sp>
      <p:sp>
        <p:nvSpPr>
          <p:cNvPr id="6" name="Tekstikehys 5">
            <a:extLst>
              <a:ext uri="{FF2B5EF4-FFF2-40B4-BE49-F238E27FC236}">
                <a16:creationId xmlns:a16="http://schemas.microsoft.com/office/drawing/2014/main" id="{69F53C74-48AF-4642-2E4F-656BC7FBF0E8}"/>
              </a:ext>
            </a:extLst>
          </p:cNvPr>
          <p:cNvSpPr txBox="1"/>
          <p:nvPr/>
        </p:nvSpPr>
        <p:spPr>
          <a:xfrm>
            <a:off x="2215980" y="2606675"/>
            <a:ext cx="3338030" cy="369332"/>
          </a:xfrm>
          <a:prstGeom prst="rect">
            <a:avLst/>
          </a:prstGeom>
          <a:noFill/>
        </p:spPr>
        <p:txBody>
          <a:bodyPr wrap="none" rtlCol="0">
            <a:spAutoFit/>
          </a:bodyPr>
          <a:lstStyle/>
          <a:p>
            <a:r>
              <a:rPr lang="fi-FI" dirty="0" err="1"/>
              <a:t>String</a:t>
            </a:r>
            <a:r>
              <a:rPr lang="fi-FI" dirty="0"/>
              <a:t>[] palaset = </a:t>
            </a:r>
            <a:r>
              <a:rPr lang="fi-FI" dirty="0" err="1"/>
              <a:t>row.split</a:t>
            </a:r>
            <a:r>
              <a:rPr lang="fi-FI" dirty="0"/>
              <a:t>(”\\s+”)</a:t>
            </a:r>
          </a:p>
        </p:txBody>
      </p:sp>
      <p:sp>
        <p:nvSpPr>
          <p:cNvPr id="7" name="Alanuoli 6">
            <a:extLst>
              <a:ext uri="{FF2B5EF4-FFF2-40B4-BE49-F238E27FC236}">
                <a16:creationId xmlns:a16="http://schemas.microsoft.com/office/drawing/2014/main" id="{870D210B-64F0-6DE5-5212-9F37592CA7B2}"/>
              </a:ext>
            </a:extLst>
          </p:cNvPr>
          <p:cNvSpPr/>
          <p:nvPr/>
        </p:nvSpPr>
        <p:spPr>
          <a:xfrm>
            <a:off x="4757287" y="2376200"/>
            <a:ext cx="125692" cy="21715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
        <p:nvSpPr>
          <p:cNvPr id="8" name="Suorakulmio 7">
            <a:extLst>
              <a:ext uri="{FF2B5EF4-FFF2-40B4-BE49-F238E27FC236}">
                <a16:creationId xmlns:a16="http://schemas.microsoft.com/office/drawing/2014/main" id="{BE8247B2-E50E-06DF-81F3-E8CF409E59B6}"/>
              </a:ext>
            </a:extLst>
          </p:cNvPr>
          <p:cNvSpPr/>
          <p:nvPr/>
        </p:nvSpPr>
        <p:spPr>
          <a:xfrm>
            <a:off x="2368379" y="29876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”Anne-Mari”</a:t>
            </a:r>
          </a:p>
        </p:txBody>
      </p:sp>
      <p:sp>
        <p:nvSpPr>
          <p:cNvPr id="9" name="Suorakulmio 8">
            <a:extLst>
              <a:ext uri="{FF2B5EF4-FFF2-40B4-BE49-F238E27FC236}">
                <a16:creationId xmlns:a16="http://schemas.microsoft.com/office/drawing/2014/main" id="{54755ACE-CDBB-0FEB-0130-F927E9793FD3}"/>
              </a:ext>
            </a:extLst>
          </p:cNvPr>
          <p:cNvSpPr/>
          <p:nvPr/>
        </p:nvSpPr>
        <p:spPr>
          <a:xfrm>
            <a:off x="4044779" y="29876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”Haapala”</a:t>
            </a:r>
          </a:p>
        </p:txBody>
      </p:sp>
      <p:sp>
        <p:nvSpPr>
          <p:cNvPr id="10" name="Suorakulmio 9">
            <a:extLst>
              <a:ext uri="{FF2B5EF4-FFF2-40B4-BE49-F238E27FC236}">
                <a16:creationId xmlns:a16="http://schemas.microsoft.com/office/drawing/2014/main" id="{55B346B6-EAEC-D776-2591-0FFBE518E4AC}"/>
              </a:ext>
            </a:extLst>
          </p:cNvPr>
          <p:cNvSpPr/>
          <p:nvPr/>
        </p:nvSpPr>
        <p:spPr>
          <a:xfrm>
            <a:off x="5721179" y="29876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”MUUT”</a:t>
            </a:r>
          </a:p>
        </p:txBody>
      </p:sp>
      <p:sp>
        <p:nvSpPr>
          <p:cNvPr id="11" name="Suorakulmio 10">
            <a:extLst>
              <a:ext uri="{FF2B5EF4-FFF2-40B4-BE49-F238E27FC236}">
                <a16:creationId xmlns:a16="http://schemas.microsoft.com/office/drawing/2014/main" id="{9C175793-C220-7BA5-693E-181875DE0BC4}"/>
              </a:ext>
            </a:extLst>
          </p:cNvPr>
          <p:cNvSpPr/>
          <p:nvPr/>
        </p:nvSpPr>
        <p:spPr>
          <a:xfrm>
            <a:off x="7397579" y="29876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”265”</a:t>
            </a:r>
          </a:p>
        </p:txBody>
      </p:sp>
      <p:sp>
        <p:nvSpPr>
          <p:cNvPr id="12" name="Tekstikehys 11">
            <a:extLst>
              <a:ext uri="{FF2B5EF4-FFF2-40B4-BE49-F238E27FC236}">
                <a16:creationId xmlns:a16="http://schemas.microsoft.com/office/drawing/2014/main" id="{AAE71996-C1D5-7651-1960-065455A998F0}"/>
              </a:ext>
            </a:extLst>
          </p:cNvPr>
          <p:cNvSpPr txBox="1"/>
          <p:nvPr/>
        </p:nvSpPr>
        <p:spPr>
          <a:xfrm>
            <a:off x="1987379" y="3749675"/>
            <a:ext cx="1509131" cy="369332"/>
          </a:xfrm>
          <a:prstGeom prst="rect">
            <a:avLst/>
          </a:prstGeom>
          <a:noFill/>
        </p:spPr>
        <p:txBody>
          <a:bodyPr wrap="none" rtlCol="0">
            <a:spAutoFit/>
          </a:bodyPr>
          <a:lstStyle/>
          <a:p>
            <a:r>
              <a:rPr lang="fi-FI" dirty="0" err="1"/>
              <a:t>String</a:t>
            </a:r>
            <a:r>
              <a:rPr lang="fi-FI" dirty="0"/>
              <a:t> etunimi</a:t>
            </a:r>
          </a:p>
        </p:txBody>
      </p:sp>
      <p:sp>
        <p:nvSpPr>
          <p:cNvPr id="13" name="Tekstikehys 12">
            <a:extLst>
              <a:ext uri="{FF2B5EF4-FFF2-40B4-BE49-F238E27FC236}">
                <a16:creationId xmlns:a16="http://schemas.microsoft.com/office/drawing/2014/main" id="{C6C76F92-0B60-D467-A8E2-CCFAD115A073}"/>
              </a:ext>
            </a:extLst>
          </p:cNvPr>
          <p:cNvSpPr txBox="1"/>
          <p:nvPr/>
        </p:nvSpPr>
        <p:spPr>
          <a:xfrm>
            <a:off x="3816179" y="3749675"/>
            <a:ext cx="1630831" cy="369332"/>
          </a:xfrm>
          <a:prstGeom prst="rect">
            <a:avLst/>
          </a:prstGeom>
          <a:noFill/>
        </p:spPr>
        <p:txBody>
          <a:bodyPr wrap="none" rtlCol="0">
            <a:spAutoFit/>
          </a:bodyPr>
          <a:lstStyle/>
          <a:p>
            <a:r>
              <a:rPr lang="fi-FI" dirty="0" err="1"/>
              <a:t>String</a:t>
            </a:r>
            <a:r>
              <a:rPr lang="fi-FI" dirty="0"/>
              <a:t> sukunimi</a:t>
            </a:r>
          </a:p>
        </p:txBody>
      </p:sp>
      <p:sp>
        <p:nvSpPr>
          <p:cNvPr id="14" name="Tekstikehys 13">
            <a:extLst>
              <a:ext uri="{FF2B5EF4-FFF2-40B4-BE49-F238E27FC236}">
                <a16:creationId xmlns:a16="http://schemas.microsoft.com/office/drawing/2014/main" id="{06378A22-422D-62F6-D58D-A617DB62F72B}"/>
              </a:ext>
            </a:extLst>
          </p:cNvPr>
          <p:cNvSpPr txBox="1"/>
          <p:nvPr/>
        </p:nvSpPr>
        <p:spPr>
          <a:xfrm>
            <a:off x="5785343" y="3761343"/>
            <a:ext cx="1640898" cy="369332"/>
          </a:xfrm>
          <a:prstGeom prst="rect">
            <a:avLst/>
          </a:prstGeom>
          <a:noFill/>
        </p:spPr>
        <p:txBody>
          <a:bodyPr wrap="none" rtlCol="0">
            <a:spAutoFit/>
          </a:bodyPr>
          <a:lstStyle/>
          <a:p>
            <a:r>
              <a:rPr lang="fi-FI" dirty="0" err="1"/>
              <a:t>String</a:t>
            </a:r>
            <a:r>
              <a:rPr lang="fi-FI" dirty="0"/>
              <a:t> vaaliliitto</a:t>
            </a:r>
          </a:p>
        </p:txBody>
      </p:sp>
      <p:cxnSp>
        <p:nvCxnSpPr>
          <p:cNvPr id="15" name="Suora nuoliyhdysviiva 15">
            <a:extLst>
              <a:ext uri="{FF2B5EF4-FFF2-40B4-BE49-F238E27FC236}">
                <a16:creationId xmlns:a16="http://schemas.microsoft.com/office/drawing/2014/main" id="{BC48FCE5-94BB-F1C7-8D10-CB8290E4E8CB}"/>
              </a:ext>
            </a:extLst>
          </p:cNvPr>
          <p:cNvCxnSpPr>
            <a:stCxn id="12" idx="0"/>
            <a:endCxn id="8" idx="2"/>
          </p:cNvCxnSpPr>
          <p:nvPr/>
        </p:nvCxnSpPr>
        <p:spPr>
          <a:xfrm flipV="1">
            <a:off x="2741945" y="3292475"/>
            <a:ext cx="464634" cy="457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uora nuoliyhdysviiva 17">
            <a:extLst>
              <a:ext uri="{FF2B5EF4-FFF2-40B4-BE49-F238E27FC236}">
                <a16:creationId xmlns:a16="http://schemas.microsoft.com/office/drawing/2014/main" id="{4FA1123D-608A-60E7-5452-B800F166EDCE}"/>
              </a:ext>
            </a:extLst>
          </p:cNvPr>
          <p:cNvCxnSpPr>
            <a:stCxn id="13" idx="0"/>
            <a:endCxn id="9" idx="2"/>
          </p:cNvCxnSpPr>
          <p:nvPr/>
        </p:nvCxnSpPr>
        <p:spPr>
          <a:xfrm flipV="1">
            <a:off x="4631595" y="3292475"/>
            <a:ext cx="251384" cy="457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uora nuoliyhdysviiva 20">
            <a:extLst>
              <a:ext uri="{FF2B5EF4-FFF2-40B4-BE49-F238E27FC236}">
                <a16:creationId xmlns:a16="http://schemas.microsoft.com/office/drawing/2014/main" id="{DF545DB0-8F7E-1B51-5596-E5F192249BC6}"/>
              </a:ext>
            </a:extLst>
          </p:cNvPr>
          <p:cNvCxnSpPr>
            <a:stCxn id="14" idx="0"/>
            <a:endCxn id="10" idx="2"/>
          </p:cNvCxnSpPr>
          <p:nvPr/>
        </p:nvCxnSpPr>
        <p:spPr>
          <a:xfrm flipH="1" flipV="1">
            <a:off x="6559379" y="3292475"/>
            <a:ext cx="46413" cy="46886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Alanuoli 23">
            <a:extLst>
              <a:ext uri="{FF2B5EF4-FFF2-40B4-BE49-F238E27FC236}">
                <a16:creationId xmlns:a16="http://schemas.microsoft.com/office/drawing/2014/main" id="{D37E9A59-4B97-769D-ACD9-6D93DE2526CD}"/>
              </a:ext>
            </a:extLst>
          </p:cNvPr>
          <p:cNvSpPr/>
          <p:nvPr/>
        </p:nvSpPr>
        <p:spPr>
          <a:xfrm>
            <a:off x="8159579" y="3368675"/>
            <a:ext cx="152400" cy="8382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
        <p:nvSpPr>
          <p:cNvPr id="19" name="Tekstikehys 24">
            <a:extLst>
              <a:ext uri="{FF2B5EF4-FFF2-40B4-BE49-F238E27FC236}">
                <a16:creationId xmlns:a16="http://schemas.microsoft.com/office/drawing/2014/main" id="{049FA459-F538-9F77-FEC5-F13A998B4412}"/>
              </a:ext>
            </a:extLst>
          </p:cNvPr>
          <p:cNvSpPr txBox="1"/>
          <p:nvPr/>
        </p:nvSpPr>
        <p:spPr>
          <a:xfrm>
            <a:off x="8464380" y="3521076"/>
            <a:ext cx="2733249" cy="646331"/>
          </a:xfrm>
          <a:prstGeom prst="rect">
            <a:avLst/>
          </a:prstGeom>
          <a:noFill/>
        </p:spPr>
        <p:txBody>
          <a:bodyPr wrap="none" rtlCol="0">
            <a:spAutoFit/>
          </a:bodyPr>
          <a:lstStyle/>
          <a:p>
            <a:r>
              <a:rPr lang="fi-FI" dirty="0" err="1"/>
              <a:t>int</a:t>
            </a:r>
            <a:r>
              <a:rPr lang="fi-FI" dirty="0"/>
              <a:t> </a:t>
            </a:r>
            <a:r>
              <a:rPr lang="fi-FI" dirty="0" err="1"/>
              <a:t>aanimaara</a:t>
            </a:r>
            <a:r>
              <a:rPr lang="fi-FI" dirty="0"/>
              <a:t> = </a:t>
            </a:r>
          </a:p>
          <a:p>
            <a:r>
              <a:rPr lang="fi-FI" dirty="0" err="1"/>
              <a:t>Integer.parseInt</a:t>
            </a:r>
            <a:r>
              <a:rPr lang="fi-FI" dirty="0"/>
              <a:t>(palaset[3])</a:t>
            </a:r>
          </a:p>
        </p:txBody>
      </p:sp>
      <p:sp>
        <p:nvSpPr>
          <p:cNvPr id="20" name="Suorakulmio 25">
            <a:extLst>
              <a:ext uri="{FF2B5EF4-FFF2-40B4-BE49-F238E27FC236}">
                <a16:creationId xmlns:a16="http://schemas.microsoft.com/office/drawing/2014/main" id="{B41D7118-5EDD-1EAC-1880-99A9B0E918F7}"/>
              </a:ext>
            </a:extLst>
          </p:cNvPr>
          <p:cNvSpPr/>
          <p:nvPr/>
        </p:nvSpPr>
        <p:spPr>
          <a:xfrm>
            <a:off x="7702379" y="42830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265</a:t>
            </a:r>
          </a:p>
        </p:txBody>
      </p:sp>
      <p:sp>
        <p:nvSpPr>
          <p:cNvPr id="21" name="Suorakulmio 27">
            <a:extLst>
              <a:ext uri="{FF2B5EF4-FFF2-40B4-BE49-F238E27FC236}">
                <a16:creationId xmlns:a16="http://schemas.microsoft.com/office/drawing/2014/main" id="{031D5FF4-5C3D-42B0-56BE-5A30709329B1}"/>
              </a:ext>
            </a:extLst>
          </p:cNvPr>
          <p:cNvSpPr/>
          <p:nvPr/>
        </p:nvSpPr>
        <p:spPr>
          <a:xfrm>
            <a:off x="2520779" y="5959475"/>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0x34A78B</a:t>
            </a:r>
          </a:p>
        </p:txBody>
      </p:sp>
      <p:sp>
        <p:nvSpPr>
          <p:cNvPr id="22" name="Tekstikehys 28">
            <a:extLst>
              <a:ext uri="{FF2B5EF4-FFF2-40B4-BE49-F238E27FC236}">
                <a16:creationId xmlns:a16="http://schemas.microsoft.com/office/drawing/2014/main" id="{9E587795-5472-D135-5C51-033BABBEF6D7}"/>
              </a:ext>
            </a:extLst>
          </p:cNvPr>
          <p:cNvSpPr txBox="1"/>
          <p:nvPr/>
        </p:nvSpPr>
        <p:spPr>
          <a:xfrm>
            <a:off x="2596979" y="5590143"/>
            <a:ext cx="1131272" cy="369332"/>
          </a:xfrm>
          <a:prstGeom prst="rect">
            <a:avLst/>
          </a:prstGeom>
          <a:noFill/>
        </p:spPr>
        <p:txBody>
          <a:bodyPr wrap="none" rtlCol="0">
            <a:spAutoFit/>
          </a:bodyPr>
          <a:lstStyle/>
          <a:p>
            <a:r>
              <a:rPr lang="fi-FI" dirty="0"/>
              <a:t>Ehdokas e</a:t>
            </a:r>
          </a:p>
        </p:txBody>
      </p:sp>
      <p:sp>
        <p:nvSpPr>
          <p:cNvPr id="23" name="Tekstikehys 29">
            <a:extLst>
              <a:ext uri="{FF2B5EF4-FFF2-40B4-BE49-F238E27FC236}">
                <a16:creationId xmlns:a16="http://schemas.microsoft.com/office/drawing/2014/main" id="{9374492C-D458-454B-8809-C5361E7876AC}"/>
              </a:ext>
            </a:extLst>
          </p:cNvPr>
          <p:cNvSpPr txBox="1"/>
          <p:nvPr/>
        </p:nvSpPr>
        <p:spPr>
          <a:xfrm>
            <a:off x="1987379" y="4511676"/>
            <a:ext cx="4395306" cy="646331"/>
          </a:xfrm>
          <a:prstGeom prst="rect">
            <a:avLst/>
          </a:prstGeom>
          <a:noFill/>
        </p:spPr>
        <p:txBody>
          <a:bodyPr wrap="none" rtlCol="0">
            <a:spAutoFit/>
          </a:bodyPr>
          <a:lstStyle/>
          <a:p>
            <a:r>
              <a:rPr lang="fi-FI" dirty="0"/>
              <a:t>Ehdokas e = new Ehdokas(etunimi, sukunimi,</a:t>
            </a:r>
            <a:br>
              <a:rPr lang="fi-FI" dirty="0"/>
            </a:br>
            <a:r>
              <a:rPr lang="fi-FI" dirty="0"/>
              <a:t>vaaliliitto, </a:t>
            </a:r>
            <a:r>
              <a:rPr lang="fi-FI" dirty="0" err="1"/>
              <a:t>aanimaara</a:t>
            </a:r>
            <a:r>
              <a:rPr lang="fi-FI" dirty="0"/>
              <a:t>);</a:t>
            </a:r>
          </a:p>
        </p:txBody>
      </p:sp>
      <p:sp>
        <p:nvSpPr>
          <p:cNvPr id="24" name="Suorakulmio 30">
            <a:extLst>
              <a:ext uri="{FF2B5EF4-FFF2-40B4-BE49-F238E27FC236}">
                <a16:creationId xmlns:a16="http://schemas.microsoft.com/office/drawing/2014/main" id="{69E025D2-E965-66BE-1314-73E3BE051764}"/>
              </a:ext>
            </a:extLst>
          </p:cNvPr>
          <p:cNvSpPr/>
          <p:nvPr/>
        </p:nvSpPr>
        <p:spPr>
          <a:xfrm>
            <a:off x="5492579" y="5045075"/>
            <a:ext cx="2819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 Ehdokas</a:t>
            </a:r>
          </a:p>
        </p:txBody>
      </p:sp>
      <p:sp>
        <p:nvSpPr>
          <p:cNvPr id="25" name="Suorakulmio 31">
            <a:extLst>
              <a:ext uri="{FF2B5EF4-FFF2-40B4-BE49-F238E27FC236}">
                <a16:creationId xmlns:a16="http://schemas.microsoft.com/office/drawing/2014/main" id="{22FB866B-C0A7-42BD-2080-FE87D4AD0718}"/>
              </a:ext>
            </a:extLst>
          </p:cNvPr>
          <p:cNvSpPr/>
          <p:nvPr/>
        </p:nvSpPr>
        <p:spPr>
          <a:xfrm>
            <a:off x="5492579" y="5349875"/>
            <a:ext cx="2819400" cy="1143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etunimi = ”Anne-Mari”</a:t>
            </a:r>
            <a:br>
              <a:rPr lang="fi-FI" dirty="0"/>
            </a:br>
            <a:r>
              <a:rPr lang="fi-FI" dirty="0"/>
              <a:t>sukunimi = ”Haapala”</a:t>
            </a:r>
            <a:br>
              <a:rPr lang="fi-FI" dirty="0"/>
            </a:br>
            <a:r>
              <a:rPr lang="fi-FI" dirty="0"/>
              <a:t>vaaliliitto = ”MUUT”</a:t>
            </a:r>
          </a:p>
          <a:p>
            <a:pPr algn="ctr"/>
            <a:r>
              <a:rPr lang="fi-FI" dirty="0" err="1"/>
              <a:t>aanimaara</a:t>
            </a:r>
            <a:r>
              <a:rPr lang="fi-FI" dirty="0"/>
              <a:t> = 265</a:t>
            </a:r>
          </a:p>
        </p:txBody>
      </p:sp>
      <p:cxnSp>
        <p:nvCxnSpPr>
          <p:cNvPr id="26" name="Suora nuoliyhdysviiva 32">
            <a:extLst>
              <a:ext uri="{FF2B5EF4-FFF2-40B4-BE49-F238E27FC236}">
                <a16:creationId xmlns:a16="http://schemas.microsoft.com/office/drawing/2014/main" id="{95AE395A-BB83-48AF-10C2-1CF74CCD61D3}"/>
              </a:ext>
            </a:extLst>
          </p:cNvPr>
          <p:cNvCxnSpPr>
            <a:stCxn id="21" idx="3"/>
            <a:endCxn id="25" idx="1"/>
          </p:cNvCxnSpPr>
          <p:nvPr/>
        </p:nvCxnSpPr>
        <p:spPr>
          <a:xfrm flipV="1">
            <a:off x="4197179" y="5921375"/>
            <a:ext cx="1295400" cy="1905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Alanuoli 35">
            <a:extLst>
              <a:ext uri="{FF2B5EF4-FFF2-40B4-BE49-F238E27FC236}">
                <a16:creationId xmlns:a16="http://schemas.microsoft.com/office/drawing/2014/main" id="{BF46F344-732C-2C45-BBFE-7F6F65636E51}"/>
              </a:ext>
            </a:extLst>
          </p:cNvPr>
          <p:cNvSpPr/>
          <p:nvPr/>
        </p:nvSpPr>
        <p:spPr>
          <a:xfrm>
            <a:off x="4349579" y="4206875"/>
            <a:ext cx="152400" cy="3048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Tree>
    <p:extLst>
      <p:ext uri="{BB962C8B-B14F-4D97-AF65-F5344CB8AC3E}">
        <p14:creationId xmlns:p14="http://schemas.microsoft.com/office/powerpoint/2010/main" val="14066649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29C4A-0EF3-3EE9-A275-A0104DCFE2E8}"/>
              </a:ext>
            </a:extLst>
          </p:cNvPr>
          <p:cNvSpPr>
            <a:spLocks noGrp="1"/>
          </p:cNvSpPr>
          <p:nvPr>
            <p:ph type="title"/>
          </p:nvPr>
        </p:nvSpPr>
        <p:spPr/>
        <p:txBody>
          <a:bodyPr/>
          <a:lstStyle/>
          <a:p>
            <a:r>
              <a:rPr lang="fi-FI" dirty="0"/>
              <a:t>Lista ehdokkaista</a:t>
            </a:r>
          </a:p>
        </p:txBody>
      </p:sp>
      <p:sp>
        <p:nvSpPr>
          <p:cNvPr id="6" name="Suorakulmio 4">
            <a:extLst>
              <a:ext uri="{FF2B5EF4-FFF2-40B4-BE49-F238E27FC236}">
                <a16:creationId xmlns:a16="http://schemas.microsoft.com/office/drawing/2014/main" id="{5FD65A39-261E-0E5F-A326-D8905B9B8F2E}"/>
              </a:ext>
            </a:extLst>
          </p:cNvPr>
          <p:cNvSpPr/>
          <p:nvPr/>
        </p:nvSpPr>
        <p:spPr>
          <a:xfrm>
            <a:off x="1958546" y="2726724"/>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0x64C7FF</a:t>
            </a:r>
          </a:p>
        </p:txBody>
      </p:sp>
      <p:sp>
        <p:nvSpPr>
          <p:cNvPr id="7" name="Suorakulmio 5">
            <a:extLst>
              <a:ext uri="{FF2B5EF4-FFF2-40B4-BE49-F238E27FC236}">
                <a16:creationId xmlns:a16="http://schemas.microsoft.com/office/drawing/2014/main" id="{4A18EBF8-CA9C-A596-0C30-FDB17BDFCF35}"/>
              </a:ext>
            </a:extLst>
          </p:cNvPr>
          <p:cNvSpPr/>
          <p:nvPr/>
        </p:nvSpPr>
        <p:spPr>
          <a:xfrm>
            <a:off x="5387546" y="1812324"/>
            <a:ext cx="2819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 </a:t>
            </a:r>
            <a:r>
              <a:rPr lang="fi-FI" dirty="0" err="1"/>
              <a:t>ArrayList</a:t>
            </a:r>
            <a:r>
              <a:rPr lang="fi-FI" dirty="0"/>
              <a:t>&lt;Ehdokas&gt;</a:t>
            </a:r>
          </a:p>
        </p:txBody>
      </p:sp>
      <p:sp>
        <p:nvSpPr>
          <p:cNvPr id="8" name="Suorakulmio 6">
            <a:extLst>
              <a:ext uri="{FF2B5EF4-FFF2-40B4-BE49-F238E27FC236}">
                <a16:creationId xmlns:a16="http://schemas.microsoft.com/office/drawing/2014/main" id="{EFC4DC02-DE4A-AB0A-79FA-A8223315FCD8}"/>
              </a:ext>
            </a:extLst>
          </p:cNvPr>
          <p:cNvSpPr/>
          <p:nvPr/>
        </p:nvSpPr>
        <p:spPr>
          <a:xfrm>
            <a:off x="5387546" y="2117124"/>
            <a:ext cx="2819400" cy="1143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i-FI" dirty="0"/>
          </a:p>
        </p:txBody>
      </p:sp>
      <p:sp>
        <p:nvSpPr>
          <p:cNvPr id="9" name="Tekstikehys 7">
            <a:extLst>
              <a:ext uri="{FF2B5EF4-FFF2-40B4-BE49-F238E27FC236}">
                <a16:creationId xmlns:a16="http://schemas.microsoft.com/office/drawing/2014/main" id="{9809DC54-894D-9150-3218-78E33BF20DBB}"/>
              </a:ext>
            </a:extLst>
          </p:cNvPr>
          <p:cNvSpPr txBox="1"/>
          <p:nvPr/>
        </p:nvSpPr>
        <p:spPr>
          <a:xfrm>
            <a:off x="1882346" y="2269524"/>
            <a:ext cx="3041987" cy="369332"/>
          </a:xfrm>
          <a:prstGeom prst="rect">
            <a:avLst/>
          </a:prstGeom>
          <a:noFill/>
        </p:spPr>
        <p:txBody>
          <a:bodyPr wrap="none" rtlCol="0">
            <a:spAutoFit/>
          </a:bodyPr>
          <a:lstStyle/>
          <a:p>
            <a:r>
              <a:rPr lang="fi-FI" dirty="0" err="1"/>
              <a:t>ArrayList</a:t>
            </a:r>
            <a:r>
              <a:rPr lang="fi-FI" dirty="0"/>
              <a:t>&lt;Ehdokas&gt; ehdokkaat</a:t>
            </a:r>
          </a:p>
        </p:txBody>
      </p:sp>
      <p:sp>
        <p:nvSpPr>
          <p:cNvPr id="11" name="Suorakulmio 9">
            <a:extLst>
              <a:ext uri="{FF2B5EF4-FFF2-40B4-BE49-F238E27FC236}">
                <a16:creationId xmlns:a16="http://schemas.microsoft.com/office/drawing/2014/main" id="{7EE87166-1F55-6526-1135-1789685F5278}"/>
              </a:ext>
            </a:extLst>
          </p:cNvPr>
          <p:cNvSpPr/>
          <p:nvPr/>
        </p:nvSpPr>
        <p:spPr>
          <a:xfrm>
            <a:off x="5920946" y="2498124"/>
            <a:ext cx="4572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i-FI"/>
          </a:p>
        </p:txBody>
      </p:sp>
      <p:sp>
        <p:nvSpPr>
          <p:cNvPr id="12" name="Suorakulmio 10">
            <a:extLst>
              <a:ext uri="{FF2B5EF4-FFF2-40B4-BE49-F238E27FC236}">
                <a16:creationId xmlns:a16="http://schemas.microsoft.com/office/drawing/2014/main" id="{C21B2EC5-A709-790A-E79E-00ACCCA543BA}"/>
              </a:ext>
            </a:extLst>
          </p:cNvPr>
          <p:cNvSpPr/>
          <p:nvPr/>
        </p:nvSpPr>
        <p:spPr>
          <a:xfrm>
            <a:off x="6378146" y="2498124"/>
            <a:ext cx="4572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i-FI"/>
          </a:p>
        </p:txBody>
      </p:sp>
      <p:cxnSp>
        <p:nvCxnSpPr>
          <p:cNvPr id="13" name="Suora nuoliyhdysviiva 12">
            <a:extLst>
              <a:ext uri="{FF2B5EF4-FFF2-40B4-BE49-F238E27FC236}">
                <a16:creationId xmlns:a16="http://schemas.microsoft.com/office/drawing/2014/main" id="{1D27803B-8D67-5111-C8CA-69AF64F36BA6}"/>
              </a:ext>
            </a:extLst>
          </p:cNvPr>
          <p:cNvCxnSpPr>
            <a:stCxn id="6" idx="3"/>
            <a:endCxn id="8" idx="1"/>
          </p:cNvCxnSpPr>
          <p:nvPr/>
        </p:nvCxnSpPr>
        <p:spPr>
          <a:xfrm flipV="1">
            <a:off x="3634946" y="2688624"/>
            <a:ext cx="1752600" cy="1905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Suorakulmio 15">
            <a:extLst>
              <a:ext uri="{FF2B5EF4-FFF2-40B4-BE49-F238E27FC236}">
                <a16:creationId xmlns:a16="http://schemas.microsoft.com/office/drawing/2014/main" id="{51349B7E-912A-805C-E5B3-9CD9CD966E61}"/>
              </a:ext>
            </a:extLst>
          </p:cNvPr>
          <p:cNvSpPr/>
          <p:nvPr/>
        </p:nvSpPr>
        <p:spPr>
          <a:xfrm>
            <a:off x="6606746" y="6165312"/>
            <a:ext cx="1676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0x34A78B</a:t>
            </a:r>
          </a:p>
        </p:txBody>
      </p:sp>
      <p:sp>
        <p:nvSpPr>
          <p:cNvPr id="15" name="Tekstikehys 16">
            <a:extLst>
              <a:ext uri="{FF2B5EF4-FFF2-40B4-BE49-F238E27FC236}">
                <a16:creationId xmlns:a16="http://schemas.microsoft.com/office/drawing/2014/main" id="{0434F84B-2F58-0CA0-1C25-1D452A7374FF}"/>
              </a:ext>
            </a:extLst>
          </p:cNvPr>
          <p:cNvSpPr txBox="1"/>
          <p:nvPr/>
        </p:nvSpPr>
        <p:spPr>
          <a:xfrm>
            <a:off x="5279905" y="6133046"/>
            <a:ext cx="1131272" cy="369332"/>
          </a:xfrm>
          <a:prstGeom prst="rect">
            <a:avLst/>
          </a:prstGeom>
          <a:noFill/>
        </p:spPr>
        <p:txBody>
          <a:bodyPr wrap="square" rtlCol="0">
            <a:spAutoFit/>
          </a:bodyPr>
          <a:lstStyle/>
          <a:p>
            <a:r>
              <a:rPr lang="fi-FI" dirty="0"/>
              <a:t>Ehdokas e</a:t>
            </a:r>
          </a:p>
        </p:txBody>
      </p:sp>
      <p:sp>
        <p:nvSpPr>
          <p:cNvPr id="16" name="Suorakulmio 17">
            <a:extLst>
              <a:ext uri="{FF2B5EF4-FFF2-40B4-BE49-F238E27FC236}">
                <a16:creationId xmlns:a16="http://schemas.microsoft.com/office/drawing/2014/main" id="{D58B6FF1-1212-AAE4-48EF-E89657B74D9E}"/>
              </a:ext>
            </a:extLst>
          </p:cNvPr>
          <p:cNvSpPr/>
          <p:nvPr/>
        </p:nvSpPr>
        <p:spPr>
          <a:xfrm>
            <a:off x="6682946" y="4174524"/>
            <a:ext cx="13716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 Ehdokas</a:t>
            </a:r>
          </a:p>
        </p:txBody>
      </p:sp>
      <p:sp>
        <p:nvSpPr>
          <p:cNvPr id="17" name="Suorakulmio 18">
            <a:extLst>
              <a:ext uri="{FF2B5EF4-FFF2-40B4-BE49-F238E27FC236}">
                <a16:creationId xmlns:a16="http://schemas.microsoft.com/office/drawing/2014/main" id="{BB9A076B-7E0E-F8B5-5F9E-A05B6F3E5F05}"/>
              </a:ext>
            </a:extLst>
          </p:cNvPr>
          <p:cNvSpPr/>
          <p:nvPr/>
        </p:nvSpPr>
        <p:spPr>
          <a:xfrm>
            <a:off x="6682946" y="4479324"/>
            <a:ext cx="1371600" cy="1143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Anne-Mari</a:t>
            </a:r>
            <a:br>
              <a:rPr lang="fi-FI" dirty="0"/>
            </a:br>
            <a:r>
              <a:rPr lang="fi-FI" dirty="0"/>
              <a:t>Haapala</a:t>
            </a:r>
            <a:br>
              <a:rPr lang="fi-FI" dirty="0"/>
            </a:br>
            <a:r>
              <a:rPr lang="fi-FI" dirty="0"/>
              <a:t>MUUT</a:t>
            </a:r>
          </a:p>
          <a:p>
            <a:pPr algn="ctr"/>
            <a:r>
              <a:rPr lang="fi-FI" dirty="0"/>
              <a:t>265</a:t>
            </a:r>
          </a:p>
        </p:txBody>
      </p:sp>
      <p:cxnSp>
        <p:nvCxnSpPr>
          <p:cNvPr id="18" name="Suora nuoliyhdysviiva 19">
            <a:extLst>
              <a:ext uri="{FF2B5EF4-FFF2-40B4-BE49-F238E27FC236}">
                <a16:creationId xmlns:a16="http://schemas.microsoft.com/office/drawing/2014/main" id="{57DC0032-ACD1-7003-202E-2B623E21D51C}"/>
              </a:ext>
            </a:extLst>
          </p:cNvPr>
          <p:cNvCxnSpPr>
            <a:stCxn id="14" idx="0"/>
            <a:endCxn id="17" idx="2"/>
          </p:cNvCxnSpPr>
          <p:nvPr/>
        </p:nvCxnSpPr>
        <p:spPr>
          <a:xfrm flipH="1" flipV="1">
            <a:off x="7368746" y="5622324"/>
            <a:ext cx="76200" cy="5429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uora nuoliyhdysviiva 22">
            <a:extLst>
              <a:ext uri="{FF2B5EF4-FFF2-40B4-BE49-F238E27FC236}">
                <a16:creationId xmlns:a16="http://schemas.microsoft.com/office/drawing/2014/main" id="{078F9190-1D63-3AAC-3C6F-99C2B84C1BB7}"/>
              </a:ext>
            </a:extLst>
          </p:cNvPr>
          <p:cNvCxnSpPr>
            <a:stCxn id="12" idx="2"/>
            <a:endCxn id="16" idx="0"/>
          </p:cNvCxnSpPr>
          <p:nvPr/>
        </p:nvCxnSpPr>
        <p:spPr>
          <a:xfrm rot="16200000" flipH="1">
            <a:off x="6340046" y="3145824"/>
            <a:ext cx="1295400"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Suorakulmio 41">
            <a:extLst>
              <a:ext uri="{FF2B5EF4-FFF2-40B4-BE49-F238E27FC236}">
                <a16:creationId xmlns:a16="http://schemas.microsoft.com/office/drawing/2014/main" id="{DF80E07C-6E14-76B7-13A2-202BB118F6C1}"/>
              </a:ext>
            </a:extLst>
          </p:cNvPr>
          <p:cNvSpPr/>
          <p:nvPr/>
        </p:nvSpPr>
        <p:spPr>
          <a:xfrm>
            <a:off x="4777946" y="3717324"/>
            <a:ext cx="13716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 Ehdokas</a:t>
            </a:r>
          </a:p>
        </p:txBody>
      </p:sp>
      <p:sp>
        <p:nvSpPr>
          <p:cNvPr id="23" name="Suorakulmio 42">
            <a:extLst>
              <a:ext uri="{FF2B5EF4-FFF2-40B4-BE49-F238E27FC236}">
                <a16:creationId xmlns:a16="http://schemas.microsoft.com/office/drawing/2014/main" id="{16F4ACB0-98C8-7D83-CCE3-80488DA1F42F}"/>
              </a:ext>
            </a:extLst>
          </p:cNvPr>
          <p:cNvSpPr/>
          <p:nvPr/>
        </p:nvSpPr>
        <p:spPr>
          <a:xfrm>
            <a:off x="4777946" y="4022124"/>
            <a:ext cx="1371600" cy="1143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a:t>Anneli</a:t>
            </a:r>
            <a:br>
              <a:rPr lang="fi-FI" dirty="0"/>
            </a:br>
            <a:r>
              <a:rPr lang="fi-FI" dirty="0"/>
              <a:t>Manninen</a:t>
            </a:r>
            <a:br>
              <a:rPr lang="fi-FI" dirty="0"/>
            </a:br>
            <a:r>
              <a:rPr lang="fi-FI" dirty="0"/>
              <a:t>PS</a:t>
            </a:r>
          </a:p>
          <a:p>
            <a:pPr algn="ctr"/>
            <a:r>
              <a:rPr lang="fi-FI" dirty="0"/>
              <a:t>253</a:t>
            </a:r>
          </a:p>
        </p:txBody>
      </p:sp>
      <p:cxnSp>
        <p:nvCxnSpPr>
          <p:cNvPr id="24" name="Suora nuoliyhdysviiva 43">
            <a:extLst>
              <a:ext uri="{FF2B5EF4-FFF2-40B4-BE49-F238E27FC236}">
                <a16:creationId xmlns:a16="http://schemas.microsoft.com/office/drawing/2014/main" id="{5006B5BD-4AEB-9157-E8EB-54505E6093B9}"/>
              </a:ext>
            </a:extLst>
          </p:cNvPr>
          <p:cNvCxnSpPr>
            <a:stCxn id="11" idx="2"/>
            <a:endCxn id="22" idx="0"/>
          </p:cNvCxnSpPr>
          <p:nvPr/>
        </p:nvCxnSpPr>
        <p:spPr>
          <a:xfrm rot="5400000">
            <a:off x="5387546" y="2955324"/>
            <a:ext cx="8382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22622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27155-8751-54EB-6AB1-B28A2B98AC32}"/>
              </a:ext>
            </a:extLst>
          </p:cNvPr>
          <p:cNvSpPr>
            <a:spLocks noGrp="1"/>
          </p:cNvSpPr>
          <p:nvPr>
            <p:ph type="title"/>
          </p:nvPr>
        </p:nvSpPr>
        <p:spPr/>
        <p:txBody>
          <a:bodyPr/>
          <a:lstStyle/>
          <a:p>
            <a:r>
              <a:rPr lang="fi-FI" dirty="0">
                <a:solidFill>
                  <a:srgbClr val="FF0000"/>
                </a:solidFill>
              </a:rPr>
              <a:t>Harjoitus</a:t>
            </a:r>
          </a:p>
        </p:txBody>
      </p:sp>
      <p:sp>
        <p:nvSpPr>
          <p:cNvPr id="3" name="Content Placeholder 2">
            <a:extLst>
              <a:ext uri="{FF2B5EF4-FFF2-40B4-BE49-F238E27FC236}">
                <a16:creationId xmlns:a16="http://schemas.microsoft.com/office/drawing/2014/main" id="{04BE31ED-72AD-D711-5E9D-45EBD6FE3CE3}"/>
              </a:ext>
            </a:extLst>
          </p:cNvPr>
          <p:cNvSpPr>
            <a:spLocks noGrp="1"/>
          </p:cNvSpPr>
          <p:nvPr>
            <p:ph idx="1"/>
          </p:nvPr>
        </p:nvSpPr>
        <p:spPr/>
        <p:txBody>
          <a:bodyPr/>
          <a:lstStyle/>
          <a:p>
            <a:r>
              <a:rPr lang="fi-FI" dirty="0"/>
              <a:t>Tee ohjelma, joka lukee tiedoston ehdokkaat.txt ja tekee </a:t>
            </a:r>
            <a:r>
              <a:rPr lang="fi-FI" dirty="0" err="1"/>
              <a:t>ArrayListin</a:t>
            </a:r>
            <a:r>
              <a:rPr lang="fi-FI" dirty="0"/>
              <a:t> ehdokkaista.</a:t>
            </a:r>
          </a:p>
          <a:p>
            <a:r>
              <a:rPr lang="fi-FI" dirty="0"/>
              <a:t>Lopuksi ohjelma käy listan läpi ja etsii ehdokkaan, jolla on </a:t>
            </a:r>
            <a:r>
              <a:rPr lang="fi-FI"/>
              <a:t>suurin äänimäärä</a:t>
            </a:r>
            <a:endParaRPr lang="fi-FI" dirty="0"/>
          </a:p>
        </p:txBody>
      </p:sp>
    </p:spTree>
    <p:extLst>
      <p:ext uri="{BB962C8B-B14F-4D97-AF65-F5344CB8AC3E}">
        <p14:creationId xmlns:p14="http://schemas.microsoft.com/office/powerpoint/2010/main" val="29878730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3E0F-BF29-CBCA-CCAF-946F693FB161}"/>
              </a:ext>
            </a:extLst>
          </p:cNvPr>
          <p:cNvSpPr>
            <a:spLocks noGrp="1"/>
          </p:cNvSpPr>
          <p:nvPr>
            <p:ph type="title"/>
          </p:nvPr>
        </p:nvSpPr>
        <p:spPr/>
        <p:txBody>
          <a:bodyPr/>
          <a:lstStyle/>
          <a:p>
            <a:r>
              <a:rPr lang="fi-FI" dirty="0">
                <a:solidFill>
                  <a:srgbClr val="FF0000"/>
                </a:solidFill>
              </a:rPr>
              <a:t>Harjoitus</a:t>
            </a:r>
          </a:p>
        </p:txBody>
      </p:sp>
      <p:sp>
        <p:nvSpPr>
          <p:cNvPr id="3" name="Content Placeholder 2">
            <a:extLst>
              <a:ext uri="{FF2B5EF4-FFF2-40B4-BE49-F238E27FC236}">
                <a16:creationId xmlns:a16="http://schemas.microsoft.com/office/drawing/2014/main" id="{CD098878-403A-F52E-56A3-50A19B76B762}"/>
              </a:ext>
            </a:extLst>
          </p:cNvPr>
          <p:cNvSpPr>
            <a:spLocks noGrp="1"/>
          </p:cNvSpPr>
          <p:nvPr>
            <p:ph idx="1"/>
          </p:nvPr>
        </p:nvSpPr>
        <p:spPr/>
        <p:txBody>
          <a:bodyPr/>
          <a:lstStyle/>
          <a:p>
            <a:r>
              <a:rPr lang="en-US" dirty="0"/>
              <a:t>Tee </a:t>
            </a:r>
            <a:r>
              <a:rPr lang="en-US" dirty="0" err="1"/>
              <a:t>luokka</a:t>
            </a:r>
            <a:r>
              <a:rPr lang="en-US" dirty="0"/>
              <a:t> </a:t>
            </a:r>
            <a:r>
              <a:rPr lang="en-US" dirty="0" err="1"/>
              <a:t>Kortti</a:t>
            </a:r>
            <a:endParaRPr lang="en-US" dirty="0"/>
          </a:p>
          <a:p>
            <a:pPr lvl="1"/>
            <a:r>
              <a:rPr lang="en-US" dirty="0" err="1"/>
              <a:t>Jäsenmuuttujat</a:t>
            </a:r>
            <a:r>
              <a:rPr lang="en-US" dirty="0"/>
              <a:t>: maa ja </a:t>
            </a:r>
            <a:r>
              <a:rPr lang="en-US" dirty="0" err="1"/>
              <a:t>arvo</a:t>
            </a:r>
            <a:endParaRPr lang="en-US" dirty="0"/>
          </a:p>
          <a:p>
            <a:pPr lvl="2"/>
            <a:r>
              <a:rPr lang="en-US" dirty="0"/>
              <a:t>Maa: </a:t>
            </a:r>
            <a:r>
              <a:rPr lang="en-US" dirty="0" err="1"/>
              <a:t>tutustu</a:t>
            </a:r>
            <a:r>
              <a:rPr lang="en-US" dirty="0"/>
              <a:t> </a:t>
            </a:r>
            <a:r>
              <a:rPr lang="en-US" dirty="0" err="1"/>
              <a:t>Enum:iin</a:t>
            </a:r>
            <a:r>
              <a:rPr lang="en-US" dirty="0"/>
              <a:t>: </a:t>
            </a:r>
            <a:r>
              <a:rPr lang="fi-FI" dirty="0">
                <a:hlinkClick r:id="rId2"/>
              </a:rPr>
              <a:t>https://ohjelmointi-20.mooc.fi/osa-10/3-yleishyodyllisia-tekniikoita</a:t>
            </a:r>
            <a:r>
              <a:rPr lang="fi-FI" dirty="0"/>
              <a:t>  </a:t>
            </a:r>
            <a:endParaRPr lang="en-US" dirty="0"/>
          </a:p>
          <a:p>
            <a:pPr lvl="1"/>
            <a:r>
              <a:rPr lang="en-US" dirty="0" err="1"/>
              <a:t>ToString</a:t>
            </a:r>
            <a:endParaRPr lang="en-US" dirty="0"/>
          </a:p>
          <a:p>
            <a:r>
              <a:rPr lang="en-US" dirty="0"/>
              <a:t>Tee </a:t>
            </a:r>
            <a:r>
              <a:rPr lang="en-US" dirty="0" err="1"/>
              <a:t>luokka</a:t>
            </a:r>
            <a:r>
              <a:rPr lang="en-US" dirty="0"/>
              <a:t> </a:t>
            </a:r>
            <a:r>
              <a:rPr lang="en-US" dirty="0" err="1"/>
              <a:t>Korttipakka</a:t>
            </a:r>
            <a:endParaRPr lang="en-US" dirty="0"/>
          </a:p>
          <a:p>
            <a:pPr lvl="1"/>
            <a:r>
              <a:rPr lang="en-US" dirty="0"/>
              <a:t>Lista </a:t>
            </a:r>
            <a:r>
              <a:rPr lang="en-US" dirty="0" err="1"/>
              <a:t>korteista</a:t>
            </a:r>
            <a:endParaRPr lang="en-US" dirty="0"/>
          </a:p>
          <a:p>
            <a:pPr lvl="1"/>
            <a:r>
              <a:rPr lang="en-US" dirty="0" err="1"/>
              <a:t>ToString</a:t>
            </a:r>
            <a:r>
              <a:rPr lang="en-US" dirty="0"/>
              <a:t>, </a:t>
            </a:r>
            <a:r>
              <a:rPr lang="en-US" dirty="0" err="1"/>
              <a:t>Alustus</a:t>
            </a:r>
            <a:r>
              <a:rPr lang="en-US" dirty="0"/>
              <a:t>, </a:t>
            </a:r>
            <a:r>
              <a:rPr lang="en-US" dirty="0" err="1"/>
              <a:t>Sekoita</a:t>
            </a:r>
            <a:r>
              <a:rPr lang="en-US" dirty="0"/>
              <a:t>, </a:t>
            </a:r>
            <a:r>
              <a:rPr lang="en-US" dirty="0" err="1"/>
              <a:t>Jakaminen</a:t>
            </a:r>
            <a:r>
              <a:rPr lang="en-US" dirty="0"/>
              <a:t>, </a:t>
            </a:r>
            <a:r>
              <a:rPr lang="en-US" dirty="0" err="1"/>
              <a:t>Järjestäminen</a:t>
            </a:r>
            <a:endParaRPr lang="en-US" dirty="0"/>
          </a:p>
          <a:p>
            <a:pPr lvl="2"/>
            <a:r>
              <a:rPr lang="en-US" dirty="0" err="1"/>
              <a:t>toString</a:t>
            </a:r>
            <a:r>
              <a:rPr lang="en-US" dirty="0"/>
              <a:t>: </a:t>
            </a:r>
            <a:r>
              <a:rPr lang="en-US" dirty="0" err="1"/>
              <a:t>tutustu</a:t>
            </a:r>
            <a:r>
              <a:rPr lang="en-US" dirty="0"/>
              <a:t> </a:t>
            </a:r>
            <a:r>
              <a:rPr lang="en-US" dirty="0" err="1"/>
              <a:t>StringBuilderiin</a:t>
            </a:r>
            <a:r>
              <a:rPr lang="en-US" dirty="0"/>
              <a:t>: </a:t>
            </a:r>
            <a:r>
              <a:rPr lang="fi-FI" dirty="0">
                <a:hlinkClick r:id="rId2"/>
              </a:rPr>
              <a:t>https://ohjelmointi-20.mooc.fi/osa-10/3-yleishyodyllisia-tekniikoita</a:t>
            </a:r>
            <a:r>
              <a:rPr lang="fi-FI" dirty="0"/>
              <a:t>  </a:t>
            </a:r>
            <a:endParaRPr lang="en-US" dirty="0"/>
          </a:p>
          <a:p>
            <a:pPr lvl="2"/>
            <a:r>
              <a:rPr lang="en-US" dirty="0" err="1"/>
              <a:t>Sekoita</a:t>
            </a:r>
            <a:r>
              <a:rPr lang="en-US" dirty="0"/>
              <a:t>: </a:t>
            </a:r>
            <a:r>
              <a:rPr lang="en-US"/>
              <a:t>Collections.shuffle</a:t>
            </a:r>
            <a:endParaRPr lang="en-US" dirty="0"/>
          </a:p>
          <a:p>
            <a:endParaRPr lang="fi-FI" dirty="0"/>
          </a:p>
        </p:txBody>
      </p:sp>
    </p:spTree>
    <p:extLst>
      <p:ext uri="{BB962C8B-B14F-4D97-AF65-F5344CB8AC3E}">
        <p14:creationId xmlns:p14="http://schemas.microsoft.com/office/powerpoint/2010/main" val="19714896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73D39-83EB-6FCC-9374-B4F798C3ED69}"/>
              </a:ext>
            </a:extLst>
          </p:cNvPr>
          <p:cNvSpPr>
            <a:spLocks noGrp="1"/>
          </p:cNvSpPr>
          <p:nvPr>
            <p:ph type="title"/>
          </p:nvPr>
        </p:nvSpPr>
        <p:spPr/>
        <p:txBody>
          <a:bodyPr/>
          <a:lstStyle/>
          <a:p>
            <a:r>
              <a:rPr lang="fi-FI" dirty="0"/>
              <a:t>Korttipakan korttien jakaminen - </a:t>
            </a:r>
            <a:r>
              <a:rPr lang="fi-FI" dirty="0" err="1"/>
              <a:t>subList</a:t>
            </a:r>
            <a:endParaRPr lang="fi-FI" dirty="0"/>
          </a:p>
        </p:txBody>
      </p:sp>
      <p:sp>
        <p:nvSpPr>
          <p:cNvPr id="3" name="Content Placeholder 2">
            <a:extLst>
              <a:ext uri="{FF2B5EF4-FFF2-40B4-BE49-F238E27FC236}">
                <a16:creationId xmlns:a16="http://schemas.microsoft.com/office/drawing/2014/main" id="{EDC44869-F4D0-5ECB-F52A-399220388838}"/>
              </a:ext>
            </a:extLst>
          </p:cNvPr>
          <p:cNvSpPr>
            <a:spLocks noGrp="1"/>
          </p:cNvSpPr>
          <p:nvPr>
            <p:ph idx="1"/>
          </p:nvPr>
        </p:nvSpPr>
        <p:spPr>
          <a:xfrm>
            <a:off x="838200" y="1825625"/>
            <a:ext cx="2244436" cy="627191"/>
          </a:xfrm>
        </p:spPr>
        <p:txBody>
          <a:bodyPr>
            <a:noAutofit/>
          </a:bodyPr>
          <a:lstStyle/>
          <a:p>
            <a:r>
              <a:rPr lang="fi-FI" sz="1800" dirty="0"/>
              <a:t>Vertaa Javan ja C#:n toteutuksia</a:t>
            </a:r>
          </a:p>
          <a:p>
            <a:r>
              <a:rPr lang="fi-FI" sz="1800" dirty="0"/>
              <a:t>Java</a:t>
            </a:r>
          </a:p>
          <a:p>
            <a:endParaRPr lang="fi-FI" sz="1800" dirty="0"/>
          </a:p>
          <a:p>
            <a:endParaRPr lang="fi-FI" sz="1800" dirty="0"/>
          </a:p>
          <a:p>
            <a:endParaRPr lang="fi-FI" sz="1800" dirty="0"/>
          </a:p>
          <a:p>
            <a:endParaRPr lang="fi-FI" sz="1800" dirty="0"/>
          </a:p>
          <a:p>
            <a:endParaRPr lang="fi-FI" sz="1800" dirty="0"/>
          </a:p>
          <a:p>
            <a:r>
              <a:rPr lang="fi-FI" sz="1800" dirty="0"/>
              <a:t>C#</a:t>
            </a:r>
          </a:p>
        </p:txBody>
      </p:sp>
      <p:pic>
        <p:nvPicPr>
          <p:cNvPr id="5" name="Picture 4">
            <a:extLst>
              <a:ext uri="{FF2B5EF4-FFF2-40B4-BE49-F238E27FC236}">
                <a16:creationId xmlns:a16="http://schemas.microsoft.com/office/drawing/2014/main" id="{C370DC1E-9C51-6FFA-0908-C1843D1FF3AB}"/>
              </a:ext>
            </a:extLst>
          </p:cNvPr>
          <p:cNvPicPr>
            <a:picLocks noChangeAspect="1"/>
          </p:cNvPicPr>
          <p:nvPr/>
        </p:nvPicPr>
        <p:blipFill>
          <a:blip r:embed="rId2"/>
          <a:stretch>
            <a:fillRect/>
          </a:stretch>
        </p:blipFill>
        <p:spPr>
          <a:xfrm>
            <a:off x="3296666" y="4159038"/>
            <a:ext cx="5363849" cy="2262544"/>
          </a:xfrm>
          <a:prstGeom prst="rect">
            <a:avLst/>
          </a:prstGeom>
        </p:spPr>
      </p:pic>
      <p:pic>
        <p:nvPicPr>
          <p:cNvPr id="8" name="Picture 7">
            <a:extLst>
              <a:ext uri="{FF2B5EF4-FFF2-40B4-BE49-F238E27FC236}">
                <a16:creationId xmlns:a16="http://schemas.microsoft.com/office/drawing/2014/main" id="{8543BBF9-5447-03E0-F028-CC366E5B0AFC}"/>
              </a:ext>
            </a:extLst>
          </p:cNvPr>
          <p:cNvPicPr>
            <a:picLocks noChangeAspect="1"/>
          </p:cNvPicPr>
          <p:nvPr/>
        </p:nvPicPr>
        <p:blipFill>
          <a:blip r:embed="rId3"/>
          <a:stretch>
            <a:fillRect/>
          </a:stretch>
        </p:blipFill>
        <p:spPr>
          <a:xfrm>
            <a:off x="3247020" y="1469143"/>
            <a:ext cx="8855992" cy="2569457"/>
          </a:xfrm>
          <a:prstGeom prst="rect">
            <a:avLst/>
          </a:prstGeom>
        </p:spPr>
      </p:pic>
    </p:spTree>
    <p:extLst>
      <p:ext uri="{BB962C8B-B14F-4D97-AF65-F5344CB8AC3E}">
        <p14:creationId xmlns:p14="http://schemas.microsoft.com/office/powerpoint/2010/main" val="30003017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92B0-D6B3-E4BE-4D85-F202A5D4825D}"/>
              </a:ext>
            </a:extLst>
          </p:cNvPr>
          <p:cNvSpPr>
            <a:spLocks noGrp="1"/>
          </p:cNvSpPr>
          <p:nvPr>
            <p:ph type="ctrTitle"/>
          </p:nvPr>
        </p:nvSpPr>
        <p:spPr/>
        <p:txBody>
          <a:bodyPr/>
          <a:lstStyle/>
          <a:p>
            <a:r>
              <a:rPr lang="fi-FI" dirty="0"/>
              <a:t>Olioiden järjestäminen kokoelmassa</a:t>
            </a:r>
          </a:p>
        </p:txBody>
      </p:sp>
      <p:sp>
        <p:nvSpPr>
          <p:cNvPr id="3" name="Subtitle 2">
            <a:extLst>
              <a:ext uri="{FF2B5EF4-FFF2-40B4-BE49-F238E27FC236}">
                <a16:creationId xmlns:a16="http://schemas.microsoft.com/office/drawing/2014/main" id="{60706827-6620-1C78-EBE0-6AF3CE73E889}"/>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846566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dirty="0" err="1"/>
              <a:t>Olioiden</a:t>
            </a:r>
            <a:r>
              <a:rPr lang="en-US" dirty="0"/>
              <a:t> </a:t>
            </a:r>
            <a:r>
              <a:rPr lang="en-US" dirty="0" err="1"/>
              <a:t>järjestäminen</a:t>
            </a:r>
            <a:endParaRPr lang="en-US" dirty="0"/>
          </a:p>
        </p:txBody>
      </p:sp>
      <p:sp>
        <p:nvSpPr>
          <p:cNvPr id="3" name="Sisällön paikkamerkki 2"/>
          <p:cNvSpPr>
            <a:spLocks noGrp="1"/>
          </p:cNvSpPr>
          <p:nvPr>
            <p:ph idx="1"/>
          </p:nvPr>
        </p:nvSpPr>
        <p:spPr/>
        <p:txBody>
          <a:bodyPr/>
          <a:lstStyle/>
          <a:p>
            <a:r>
              <a:rPr lang="en-US" dirty="0" err="1"/>
              <a:t>Perustietotyyppejä</a:t>
            </a:r>
            <a:r>
              <a:rPr lang="en-US" dirty="0"/>
              <a:t> </a:t>
            </a:r>
            <a:r>
              <a:rPr lang="en-US" dirty="0" err="1"/>
              <a:t>sisältävät</a:t>
            </a:r>
            <a:r>
              <a:rPr lang="en-US" dirty="0"/>
              <a:t> </a:t>
            </a:r>
            <a:r>
              <a:rPr lang="en-US" dirty="0" err="1"/>
              <a:t>kokoelmat</a:t>
            </a:r>
            <a:r>
              <a:rPr lang="en-US" dirty="0"/>
              <a:t> </a:t>
            </a:r>
            <a:r>
              <a:rPr lang="en-US" dirty="0" err="1"/>
              <a:t>voidaan</a:t>
            </a:r>
            <a:r>
              <a:rPr lang="en-US" dirty="0"/>
              <a:t> </a:t>
            </a:r>
            <a:r>
              <a:rPr lang="en-US" dirty="0" err="1"/>
              <a:t>järjestää</a:t>
            </a:r>
            <a:r>
              <a:rPr lang="en-US" dirty="0"/>
              <a:t> </a:t>
            </a:r>
            <a:r>
              <a:rPr lang="en-US" dirty="0" err="1"/>
              <a:t>helposti</a:t>
            </a:r>
            <a:r>
              <a:rPr lang="en-US" dirty="0"/>
              <a:t> sort-</a:t>
            </a:r>
            <a:r>
              <a:rPr lang="en-US" dirty="0" err="1"/>
              <a:t>metodilla</a:t>
            </a:r>
            <a:r>
              <a:rPr lang="en-US" dirty="0"/>
              <a:t> (</a:t>
            </a:r>
            <a:r>
              <a:rPr lang="en-US" dirty="0" err="1"/>
              <a:t>Collections.Sort</a:t>
            </a:r>
            <a:r>
              <a:rPr lang="en-US" dirty="0"/>
              <a:t>())</a:t>
            </a:r>
          </a:p>
          <a:p>
            <a:r>
              <a:rPr lang="en-US" dirty="0" err="1"/>
              <a:t>Jos</a:t>
            </a:r>
            <a:r>
              <a:rPr lang="en-US" dirty="0"/>
              <a:t> </a:t>
            </a:r>
            <a:r>
              <a:rPr lang="en-US" dirty="0" err="1"/>
              <a:t>kokoelma</a:t>
            </a:r>
            <a:r>
              <a:rPr lang="en-US" dirty="0"/>
              <a:t> </a:t>
            </a:r>
            <a:r>
              <a:rPr lang="en-US" dirty="0" err="1"/>
              <a:t>sisältää</a:t>
            </a:r>
            <a:r>
              <a:rPr lang="en-US" dirty="0"/>
              <a:t> </a:t>
            </a:r>
            <a:r>
              <a:rPr lang="en-US" dirty="0" err="1"/>
              <a:t>olioita</a:t>
            </a:r>
            <a:r>
              <a:rPr lang="en-US" dirty="0"/>
              <a:t> (</a:t>
            </a:r>
            <a:r>
              <a:rPr lang="en-US" dirty="0" err="1"/>
              <a:t>Kortti</a:t>
            </a:r>
            <a:r>
              <a:rPr lang="en-US" dirty="0"/>
              <a:t>, </a:t>
            </a:r>
            <a:r>
              <a:rPr lang="en-US" dirty="0" err="1"/>
              <a:t>Henkilö</a:t>
            </a:r>
            <a:r>
              <a:rPr lang="en-US" dirty="0"/>
              <a:t>), </a:t>
            </a:r>
            <a:r>
              <a:rPr lang="en-US" dirty="0" err="1"/>
              <a:t>täytyy</a:t>
            </a:r>
            <a:r>
              <a:rPr lang="en-US" dirty="0"/>
              <a:t> </a:t>
            </a:r>
            <a:r>
              <a:rPr lang="en-US" dirty="0" err="1"/>
              <a:t>järjestämissääntö</a:t>
            </a:r>
            <a:r>
              <a:rPr lang="en-US" dirty="0"/>
              <a:t> </a:t>
            </a:r>
            <a:r>
              <a:rPr lang="en-US" dirty="0" err="1"/>
              <a:t>kertoa</a:t>
            </a:r>
            <a:r>
              <a:rPr lang="en-US" dirty="0"/>
              <a:t> Sort-</a:t>
            </a:r>
            <a:r>
              <a:rPr lang="en-US" dirty="0" err="1"/>
              <a:t>algoritmille</a:t>
            </a:r>
            <a:endParaRPr lang="en-US" dirty="0"/>
          </a:p>
          <a:p>
            <a:pPr lvl="1"/>
            <a:r>
              <a:rPr lang="en-US" dirty="0" err="1"/>
              <a:t>Järjestetäänkö</a:t>
            </a:r>
            <a:r>
              <a:rPr lang="en-US" dirty="0"/>
              <a:t> </a:t>
            </a:r>
            <a:r>
              <a:rPr lang="en-US" dirty="0" err="1"/>
              <a:t>kokoelma</a:t>
            </a:r>
            <a:r>
              <a:rPr lang="en-US" dirty="0"/>
              <a:t> </a:t>
            </a:r>
            <a:r>
              <a:rPr lang="en-US" dirty="0" err="1"/>
              <a:t>nimen</a:t>
            </a:r>
            <a:r>
              <a:rPr lang="en-US" dirty="0"/>
              <a:t>, </a:t>
            </a:r>
            <a:r>
              <a:rPr lang="en-US" dirty="0" err="1"/>
              <a:t>syntymäajan</a:t>
            </a:r>
            <a:r>
              <a:rPr lang="en-US" dirty="0"/>
              <a:t> </a:t>
            </a:r>
            <a:r>
              <a:rPr lang="en-US" dirty="0" err="1"/>
              <a:t>vai</a:t>
            </a:r>
            <a:r>
              <a:rPr lang="en-US" dirty="0"/>
              <a:t> </a:t>
            </a:r>
            <a:r>
              <a:rPr lang="en-US" dirty="0" err="1"/>
              <a:t>osoitteen</a:t>
            </a:r>
            <a:r>
              <a:rPr lang="en-US" dirty="0"/>
              <a:t> </a:t>
            </a:r>
            <a:r>
              <a:rPr lang="en-US" dirty="0" err="1"/>
              <a:t>perusteella</a:t>
            </a:r>
            <a:endParaRPr lang="en-US" dirty="0"/>
          </a:p>
          <a:p>
            <a:pPr lvl="1"/>
            <a:r>
              <a:rPr lang="en-US" dirty="0" err="1"/>
              <a:t>Järjestetäänkö</a:t>
            </a:r>
            <a:r>
              <a:rPr lang="en-US" dirty="0"/>
              <a:t> </a:t>
            </a:r>
            <a:r>
              <a:rPr lang="en-US" dirty="0" err="1"/>
              <a:t>kortit</a:t>
            </a:r>
            <a:r>
              <a:rPr lang="en-US" dirty="0"/>
              <a:t> </a:t>
            </a:r>
            <a:r>
              <a:rPr lang="en-US" dirty="0" err="1"/>
              <a:t>maan</a:t>
            </a:r>
            <a:r>
              <a:rPr lang="en-US" dirty="0"/>
              <a:t> </a:t>
            </a:r>
            <a:r>
              <a:rPr lang="en-US" dirty="0" err="1"/>
              <a:t>vai</a:t>
            </a:r>
            <a:r>
              <a:rPr lang="en-US" dirty="0"/>
              <a:t> </a:t>
            </a:r>
            <a:r>
              <a:rPr lang="en-US" dirty="0" err="1"/>
              <a:t>arvon</a:t>
            </a:r>
            <a:r>
              <a:rPr lang="en-US" dirty="0"/>
              <a:t> </a:t>
            </a:r>
            <a:r>
              <a:rPr lang="en-US" dirty="0" err="1"/>
              <a:t>mukaan</a:t>
            </a:r>
            <a:r>
              <a:rPr lang="en-US" dirty="0"/>
              <a:t> tai </a:t>
            </a:r>
            <a:r>
              <a:rPr lang="en-US" dirty="0" err="1"/>
              <a:t>vaikuttavatko</a:t>
            </a:r>
            <a:r>
              <a:rPr lang="en-US" dirty="0"/>
              <a:t> </a:t>
            </a:r>
            <a:r>
              <a:rPr lang="en-US" dirty="0" err="1"/>
              <a:t>molemmat</a:t>
            </a:r>
            <a:r>
              <a:rPr lang="en-US" dirty="0"/>
              <a:t> </a:t>
            </a:r>
            <a:r>
              <a:rPr lang="en-US" dirty="0" err="1"/>
              <a:t>tekijät</a:t>
            </a:r>
            <a:r>
              <a:rPr lang="en-US" dirty="0"/>
              <a:t> </a:t>
            </a:r>
            <a:r>
              <a:rPr lang="en-US" dirty="0" err="1"/>
              <a:t>järjestämiseen</a:t>
            </a:r>
            <a:endParaRPr lang="en-US" dirty="0"/>
          </a:p>
        </p:txBody>
      </p:sp>
    </p:spTree>
    <p:extLst>
      <p:ext uri="{BB962C8B-B14F-4D97-AF65-F5344CB8AC3E}">
        <p14:creationId xmlns:p14="http://schemas.microsoft.com/office/powerpoint/2010/main" val="3289920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6C552-8055-05B2-C17B-9D01B55C0631}"/>
              </a:ext>
            </a:extLst>
          </p:cNvPr>
          <p:cNvSpPr>
            <a:spLocks noGrp="1"/>
          </p:cNvSpPr>
          <p:nvPr>
            <p:ph type="title"/>
          </p:nvPr>
        </p:nvSpPr>
        <p:spPr/>
        <p:txBody>
          <a:bodyPr/>
          <a:lstStyle/>
          <a:p>
            <a:r>
              <a:rPr lang="fi-FI" dirty="0"/>
              <a:t>Olioiden järjestäminen</a:t>
            </a:r>
          </a:p>
        </p:txBody>
      </p:sp>
      <p:sp>
        <p:nvSpPr>
          <p:cNvPr id="3" name="Content Placeholder 2">
            <a:extLst>
              <a:ext uri="{FF2B5EF4-FFF2-40B4-BE49-F238E27FC236}">
                <a16:creationId xmlns:a16="http://schemas.microsoft.com/office/drawing/2014/main" id="{3A14C151-46F2-B9DD-35AD-0A0D0C300D2F}"/>
              </a:ext>
            </a:extLst>
          </p:cNvPr>
          <p:cNvSpPr>
            <a:spLocks noGrp="1"/>
          </p:cNvSpPr>
          <p:nvPr>
            <p:ph idx="1"/>
          </p:nvPr>
        </p:nvSpPr>
        <p:spPr/>
        <p:txBody>
          <a:bodyPr>
            <a:normAutofit lnSpcReduction="10000"/>
          </a:bodyPr>
          <a:lstStyle/>
          <a:p>
            <a:r>
              <a:rPr lang="en-US" dirty="0" err="1"/>
              <a:t>Voidaan</a:t>
            </a:r>
            <a:r>
              <a:rPr lang="en-US" dirty="0"/>
              <a:t> </a:t>
            </a:r>
            <a:r>
              <a:rPr lang="en-US" dirty="0" err="1"/>
              <a:t>määrittää</a:t>
            </a:r>
            <a:r>
              <a:rPr lang="en-US" dirty="0"/>
              <a:t> </a:t>
            </a:r>
            <a:r>
              <a:rPr lang="en-US" dirty="0" err="1"/>
              <a:t>järjestämissäännöt</a:t>
            </a:r>
            <a:r>
              <a:rPr lang="en-US" dirty="0"/>
              <a:t> “</a:t>
            </a:r>
            <a:r>
              <a:rPr lang="en-US" dirty="0" err="1"/>
              <a:t>oliomaisesti</a:t>
            </a:r>
            <a:r>
              <a:rPr lang="en-US" dirty="0"/>
              <a:t>”</a:t>
            </a:r>
          </a:p>
          <a:p>
            <a:pPr lvl="1"/>
            <a:r>
              <a:rPr lang="en-US" dirty="0" err="1"/>
              <a:t>Toteutetaan</a:t>
            </a:r>
            <a:r>
              <a:rPr lang="en-US" dirty="0"/>
              <a:t> </a:t>
            </a:r>
            <a:r>
              <a:rPr lang="fi-FI" dirty="0" err="1"/>
              <a:t>Comparable</a:t>
            </a:r>
            <a:r>
              <a:rPr lang="fi-FI" dirty="0"/>
              <a:t> -rajapinta </a:t>
            </a:r>
          </a:p>
          <a:p>
            <a:pPr lvl="2"/>
            <a:r>
              <a:rPr lang="fi-FI" dirty="0"/>
              <a:t>Voidaan määritellä olioiden oletusjärjestys</a:t>
            </a:r>
          </a:p>
          <a:p>
            <a:pPr lvl="1"/>
            <a:r>
              <a:rPr lang="en-US" dirty="0" err="1"/>
              <a:t>Toteutetaan</a:t>
            </a:r>
            <a:r>
              <a:rPr lang="en-US" dirty="0"/>
              <a:t> Comparator -</a:t>
            </a:r>
            <a:r>
              <a:rPr lang="en-US" dirty="0" err="1"/>
              <a:t>rajapinta</a:t>
            </a:r>
            <a:endParaRPr lang="en-US" dirty="0"/>
          </a:p>
          <a:p>
            <a:pPr lvl="2"/>
            <a:r>
              <a:rPr lang="en-US" dirty="0" err="1"/>
              <a:t>Voidaan</a:t>
            </a:r>
            <a:r>
              <a:rPr lang="en-US" dirty="0"/>
              <a:t> </a:t>
            </a:r>
            <a:r>
              <a:rPr lang="en-US" dirty="0" err="1"/>
              <a:t>tehdä</a:t>
            </a:r>
            <a:r>
              <a:rPr lang="en-US" dirty="0"/>
              <a:t> </a:t>
            </a:r>
            <a:r>
              <a:rPr lang="en-US" dirty="0" err="1"/>
              <a:t>useita</a:t>
            </a:r>
            <a:r>
              <a:rPr lang="en-US" dirty="0"/>
              <a:t> “</a:t>
            </a:r>
            <a:r>
              <a:rPr lang="en-US" dirty="0" err="1"/>
              <a:t>järjestäjiä</a:t>
            </a:r>
            <a:r>
              <a:rPr lang="en-US" dirty="0"/>
              <a:t>” </a:t>
            </a:r>
            <a:r>
              <a:rPr lang="en-US" dirty="0" err="1"/>
              <a:t>eri</a:t>
            </a:r>
            <a:r>
              <a:rPr lang="en-US" dirty="0"/>
              <a:t> </a:t>
            </a:r>
            <a:r>
              <a:rPr lang="en-US" dirty="0" err="1"/>
              <a:t>parametrien</a:t>
            </a:r>
            <a:r>
              <a:rPr lang="en-US" dirty="0"/>
              <a:t> </a:t>
            </a:r>
            <a:r>
              <a:rPr lang="en-US" dirty="0" err="1"/>
              <a:t>mukaan</a:t>
            </a:r>
            <a:endParaRPr lang="en-US" dirty="0"/>
          </a:p>
          <a:p>
            <a:pPr lvl="1"/>
            <a:r>
              <a:rPr lang="en-US" dirty="0"/>
              <a:t>MOOC 2020: </a:t>
            </a:r>
            <a:r>
              <a:rPr lang="en-US" dirty="0" err="1"/>
              <a:t>Valmis</a:t>
            </a:r>
            <a:r>
              <a:rPr lang="en-US" dirty="0"/>
              <a:t> </a:t>
            </a:r>
            <a:r>
              <a:rPr lang="en-US" dirty="0" err="1"/>
              <a:t>rajapinta</a:t>
            </a:r>
            <a:r>
              <a:rPr lang="en-US" dirty="0"/>
              <a:t> Comparable</a:t>
            </a:r>
          </a:p>
          <a:p>
            <a:pPr lvl="2"/>
            <a:r>
              <a:rPr lang="fi-FI" dirty="0">
                <a:hlinkClick r:id="rId2"/>
              </a:rPr>
              <a:t>https://ohjelmointi-20.mooc.fi/osa-10/2-rajapinta-comparable</a:t>
            </a:r>
            <a:r>
              <a:rPr lang="fi-FI" dirty="0"/>
              <a:t> </a:t>
            </a:r>
            <a:endParaRPr lang="en-US" dirty="0"/>
          </a:p>
          <a:p>
            <a:r>
              <a:rPr lang="fi-FI" dirty="0"/>
              <a:t>. Oliolistan voi järjestää myös </a:t>
            </a:r>
            <a:r>
              <a:rPr lang="fi-FI" dirty="0" err="1"/>
              <a:t>streamien</a:t>
            </a:r>
            <a:r>
              <a:rPr lang="fi-FI" dirty="0"/>
              <a:t> ja lambda-lausekkeiden avulla. Tämä on oikeastaan näppärämpi tapa, johon tutustutaan myöhemmin</a:t>
            </a:r>
          </a:p>
          <a:p>
            <a:pPr lvl="1"/>
            <a:r>
              <a:rPr lang="fi-FI" dirty="0"/>
              <a:t>MOOC 2020: Kokoelmien käsittely arvojen virtana</a:t>
            </a:r>
          </a:p>
          <a:p>
            <a:pPr lvl="2"/>
            <a:r>
              <a:rPr lang="fi-FI" dirty="0">
                <a:hlinkClick r:id="rId3"/>
              </a:rPr>
              <a:t>https://ohjelmointi-20.mooc.fi/osa-10/1-kokoelmien-kasittely-virtana</a:t>
            </a:r>
            <a:r>
              <a:rPr lang="fi-FI" dirty="0"/>
              <a:t> </a:t>
            </a:r>
          </a:p>
          <a:p>
            <a:endParaRPr lang="fi-FI" dirty="0"/>
          </a:p>
        </p:txBody>
      </p:sp>
    </p:spTree>
    <p:extLst>
      <p:ext uri="{BB962C8B-B14F-4D97-AF65-F5344CB8AC3E}">
        <p14:creationId xmlns:p14="http://schemas.microsoft.com/office/powerpoint/2010/main" val="1447788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E3FB3-EC5A-14FF-A3F6-8B16B9BE0D5B}"/>
              </a:ext>
            </a:extLst>
          </p:cNvPr>
          <p:cNvSpPr>
            <a:spLocks noGrp="1"/>
          </p:cNvSpPr>
          <p:nvPr>
            <p:ph type="title"/>
          </p:nvPr>
        </p:nvSpPr>
        <p:spPr/>
        <p:txBody>
          <a:bodyPr/>
          <a:lstStyle/>
          <a:p>
            <a:r>
              <a:rPr lang="fi-FI" dirty="0" err="1"/>
              <a:t>Comparable</a:t>
            </a:r>
            <a:r>
              <a:rPr lang="fi-FI" dirty="0"/>
              <a:t>-rajapinta</a:t>
            </a:r>
          </a:p>
        </p:txBody>
      </p:sp>
      <p:sp>
        <p:nvSpPr>
          <p:cNvPr id="3" name="Content Placeholder 2">
            <a:extLst>
              <a:ext uri="{FF2B5EF4-FFF2-40B4-BE49-F238E27FC236}">
                <a16:creationId xmlns:a16="http://schemas.microsoft.com/office/drawing/2014/main" id="{7AEF913D-FB24-F331-7E76-8AB11C97ACD6}"/>
              </a:ext>
            </a:extLst>
          </p:cNvPr>
          <p:cNvSpPr>
            <a:spLocks noGrp="1"/>
          </p:cNvSpPr>
          <p:nvPr>
            <p:ph idx="1"/>
          </p:nvPr>
        </p:nvSpPr>
        <p:spPr/>
        <p:txBody>
          <a:bodyPr>
            <a:normAutofit fontScale="92500"/>
          </a:bodyPr>
          <a:lstStyle/>
          <a:p>
            <a:r>
              <a:rPr lang="fi-FI" dirty="0" err="1"/>
              <a:t>Comparable</a:t>
            </a:r>
            <a:r>
              <a:rPr lang="fi-FI" dirty="0"/>
              <a:t>-rajapinta määrittelee metodin </a:t>
            </a:r>
            <a:r>
              <a:rPr lang="fi-FI" dirty="0" err="1"/>
              <a:t>compareTo</a:t>
            </a:r>
            <a:r>
              <a:rPr lang="fi-FI" dirty="0"/>
              <a:t>, jota käytetään olioiden vertailuun.</a:t>
            </a:r>
          </a:p>
          <a:p>
            <a:r>
              <a:rPr lang="fi-FI" dirty="0"/>
              <a:t>Jos luokka toteuttaa </a:t>
            </a:r>
            <a:r>
              <a:rPr lang="fi-FI" dirty="0" err="1"/>
              <a:t>Comparable</a:t>
            </a:r>
            <a:r>
              <a:rPr lang="fi-FI" dirty="0"/>
              <a:t>-rajapinnan, voidaan luokan oliot järjestää Javan valmiita järjestysalgoritmeja käyttäen.</a:t>
            </a:r>
          </a:p>
          <a:p>
            <a:r>
              <a:rPr lang="fi-FI" dirty="0" err="1"/>
              <a:t>Comparable</a:t>
            </a:r>
            <a:r>
              <a:rPr lang="fi-FI" dirty="0"/>
              <a:t>-rajapinnan </a:t>
            </a:r>
            <a:r>
              <a:rPr lang="fi-FI" dirty="0" err="1"/>
              <a:t>compareTo</a:t>
            </a:r>
            <a:r>
              <a:rPr lang="fi-FI" dirty="0"/>
              <a:t>-metodi saa parametrinaan olion, johon "</a:t>
            </a:r>
            <a:r>
              <a:rPr lang="fi-FI" dirty="0" err="1"/>
              <a:t>this</a:t>
            </a:r>
            <a:r>
              <a:rPr lang="fi-FI" dirty="0"/>
              <a:t>"-oliota verrataan. Verrataan siis ”tätä” oliota toiseen olioon.</a:t>
            </a:r>
          </a:p>
          <a:p>
            <a:pPr lvl="1"/>
            <a:r>
              <a:rPr lang="fi-FI" dirty="0"/>
              <a:t>Jos tämä olio on vertailujärjestyksessä ennen parametrina annettua oliota, tulee metodin palauttaa negatiivinen luku.</a:t>
            </a:r>
          </a:p>
          <a:p>
            <a:pPr lvl="1"/>
            <a:r>
              <a:rPr lang="fi-FI" dirty="0"/>
              <a:t>Jos taas tämä olio on järjestyksessä parametrina saatavan olion jälkeen, tulee metodin palauttaa positiivinen luku.</a:t>
            </a:r>
          </a:p>
          <a:p>
            <a:pPr lvl="1"/>
            <a:r>
              <a:rPr lang="fi-FI" dirty="0"/>
              <a:t>Muulloin palautetaan luku 0. Tällöin olioiden ajatellaan olevan yhtä suuria.</a:t>
            </a:r>
          </a:p>
        </p:txBody>
      </p:sp>
      <p:sp>
        <p:nvSpPr>
          <p:cNvPr id="5" name="TextBox 4">
            <a:extLst>
              <a:ext uri="{FF2B5EF4-FFF2-40B4-BE49-F238E27FC236}">
                <a16:creationId xmlns:a16="http://schemas.microsoft.com/office/drawing/2014/main" id="{C0DF7B17-74B0-B047-7AB6-4AC9658D5858}"/>
              </a:ext>
            </a:extLst>
          </p:cNvPr>
          <p:cNvSpPr txBox="1"/>
          <p:nvPr/>
        </p:nvSpPr>
        <p:spPr>
          <a:xfrm>
            <a:off x="2812707" y="6123543"/>
            <a:ext cx="6094970" cy="369332"/>
          </a:xfrm>
          <a:prstGeom prst="rect">
            <a:avLst/>
          </a:prstGeom>
          <a:noFill/>
        </p:spPr>
        <p:txBody>
          <a:bodyPr wrap="square">
            <a:spAutoFit/>
          </a:bodyPr>
          <a:lstStyle/>
          <a:p>
            <a:r>
              <a:rPr lang="fi-FI" dirty="0">
                <a:hlinkClick r:id="rId2"/>
              </a:rPr>
              <a:t>https://ohjelmointi-20.mooc.fi/osa-10/2-rajapinta-comparable</a:t>
            </a:r>
            <a:r>
              <a:rPr lang="fi-FI" dirty="0"/>
              <a:t> </a:t>
            </a:r>
          </a:p>
        </p:txBody>
      </p:sp>
    </p:spTree>
    <p:extLst>
      <p:ext uri="{BB962C8B-B14F-4D97-AF65-F5344CB8AC3E}">
        <p14:creationId xmlns:p14="http://schemas.microsoft.com/office/powerpoint/2010/main" val="12452274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FA00-27B7-EE12-1320-789C451412D8}"/>
              </a:ext>
            </a:extLst>
          </p:cNvPr>
          <p:cNvSpPr>
            <a:spLocks noGrp="1"/>
          </p:cNvSpPr>
          <p:nvPr>
            <p:ph type="title"/>
          </p:nvPr>
        </p:nvSpPr>
        <p:spPr/>
        <p:txBody>
          <a:bodyPr/>
          <a:lstStyle/>
          <a:p>
            <a:r>
              <a:rPr lang="fi-FI" dirty="0" err="1"/>
              <a:t>Comparable</a:t>
            </a:r>
            <a:r>
              <a:rPr lang="fi-FI" dirty="0"/>
              <a:t>-rajapinta</a:t>
            </a:r>
          </a:p>
        </p:txBody>
      </p:sp>
      <p:sp>
        <p:nvSpPr>
          <p:cNvPr id="3" name="Content Placeholder 2">
            <a:extLst>
              <a:ext uri="{FF2B5EF4-FFF2-40B4-BE49-F238E27FC236}">
                <a16:creationId xmlns:a16="http://schemas.microsoft.com/office/drawing/2014/main" id="{3369DB9D-DBB6-478B-9F08-AF849680AA68}"/>
              </a:ext>
            </a:extLst>
          </p:cNvPr>
          <p:cNvSpPr>
            <a:spLocks noGrp="1"/>
          </p:cNvSpPr>
          <p:nvPr>
            <p:ph idx="1"/>
          </p:nvPr>
        </p:nvSpPr>
        <p:spPr/>
        <p:txBody>
          <a:bodyPr/>
          <a:lstStyle/>
          <a:p>
            <a:r>
              <a:rPr lang="en-US" dirty="0" err="1"/>
              <a:t>Määritetään</a:t>
            </a:r>
            <a:r>
              <a:rPr lang="en-US" dirty="0"/>
              <a:t> </a:t>
            </a:r>
            <a:r>
              <a:rPr lang="en-US" dirty="0" err="1"/>
              <a:t>luokassa</a:t>
            </a:r>
            <a:r>
              <a:rPr lang="en-US" dirty="0"/>
              <a:t> (</a:t>
            </a:r>
            <a:r>
              <a:rPr lang="en-US" dirty="0" err="1"/>
              <a:t>esim</a:t>
            </a:r>
            <a:r>
              <a:rPr lang="en-US" dirty="0"/>
              <a:t>. </a:t>
            </a:r>
            <a:r>
              <a:rPr lang="en-US" dirty="0" err="1"/>
              <a:t>Henkilö</a:t>
            </a:r>
            <a:r>
              <a:rPr lang="en-US" dirty="0"/>
              <a:t>) </a:t>
            </a:r>
            <a:r>
              <a:rPr lang="en-US" dirty="0" err="1"/>
              <a:t>millä</a:t>
            </a:r>
            <a:r>
              <a:rPr lang="en-US" dirty="0"/>
              <a:t> </a:t>
            </a:r>
            <a:r>
              <a:rPr lang="en-US" dirty="0" err="1"/>
              <a:t>ehdolla</a:t>
            </a:r>
            <a:r>
              <a:rPr lang="en-US" dirty="0"/>
              <a:t> </a:t>
            </a:r>
            <a:r>
              <a:rPr lang="en-US" b="1" dirty="0" err="1"/>
              <a:t>tämä</a:t>
            </a:r>
            <a:r>
              <a:rPr lang="en-US" dirty="0"/>
              <a:t> (this) </a:t>
            </a:r>
            <a:r>
              <a:rPr lang="en-US" dirty="0" err="1"/>
              <a:t>henkilö</a:t>
            </a:r>
            <a:r>
              <a:rPr lang="en-US" dirty="0"/>
              <a:t> on </a:t>
            </a:r>
            <a:r>
              <a:rPr lang="en-US" dirty="0" err="1"/>
              <a:t>suurempi</a:t>
            </a:r>
            <a:r>
              <a:rPr lang="en-US" dirty="0"/>
              <a:t> </a:t>
            </a:r>
            <a:r>
              <a:rPr lang="en-US" dirty="0" err="1"/>
              <a:t>kuin</a:t>
            </a:r>
            <a:r>
              <a:rPr lang="en-US" dirty="0"/>
              <a:t> </a:t>
            </a:r>
            <a:r>
              <a:rPr lang="en-US" dirty="0" err="1"/>
              <a:t>joku</a:t>
            </a:r>
            <a:r>
              <a:rPr lang="en-US" dirty="0"/>
              <a:t> </a:t>
            </a:r>
            <a:r>
              <a:rPr lang="en-US" b="1" dirty="0" err="1"/>
              <a:t>toinen</a:t>
            </a:r>
            <a:r>
              <a:rPr lang="en-US" dirty="0"/>
              <a:t> </a:t>
            </a:r>
            <a:r>
              <a:rPr lang="en-US" dirty="0" err="1"/>
              <a:t>henkilö</a:t>
            </a:r>
            <a:endParaRPr lang="en-US" dirty="0"/>
          </a:p>
          <a:p>
            <a:pPr lvl="1"/>
            <a:r>
              <a:rPr lang="en-US" dirty="0" err="1"/>
              <a:t>Esimerkiksi</a:t>
            </a:r>
            <a:r>
              <a:rPr lang="en-US" dirty="0"/>
              <a:t> </a:t>
            </a:r>
            <a:r>
              <a:rPr lang="en-US" dirty="0" err="1"/>
              <a:t>sukunimen</a:t>
            </a:r>
            <a:r>
              <a:rPr lang="en-US" dirty="0"/>
              <a:t> ja </a:t>
            </a:r>
            <a:r>
              <a:rPr lang="en-US" dirty="0" err="1"/>
              <a:t>etunimen</a:t>
            </a:r>
            <a:r>
              <a:rPr lang="en-US" dirty="0"/>
              <a:t> </a:t>
            </a:r>
            <a:r>
              <a:rPr lang="en-US" dirty="0" err="1"/>
              <a:t>mukaan</a:t>
            </a:r>
            <a:endParaRPr lang="en-US" dirty="0"/>
          </a:p>
          <a:p>
            <a:r>
              <a:rPr lang="en-US" dirty="0" err="1"/>
              <a:t>Ensin</a:t>
            </a:r>
            <a:r>
              <a:rPr lang="en-US" dirty="0"/>
              <a:t> </a:t>
            </a:r>
            <a:r>
              <a:rPr lang="en-US" dirty="0" err="1"/>
              <a:t>kerrotaan</a:t>
            </a:r>
            <a:r>
              <a:rPr lang="en-US" dirty="0"/>
              <a:t> </a:t>
            </a:r>
            <a:r>
              <a:rPr lang="en-US" dirty="0" err="1"/>
              <a:t>Henkilö-luokalle</a:t>
            </a:r>
            <a:r>
              <a:rPr lang="en-US" dirty="0"/>
              <a:t>, </a:t>
            </a:r>
            <a:r>
              <a:rPr lang="en-US" dirty="0" err="1"/>
              <a:t>että</a:t>
            </a:r>
            <a:r>
              <a:rPr lang="en-US" dirty="0"/>
              <a:t> se </a:t>
            </a:r>
            <a:r>
              <a:rPr lang="en-US" dirty="0" err="1"/>
              <a:t>toteuttaa</a:t>
            </a:r>
            <a:r>
              <a:rPr lang="en-US" dirty="0"/>
              <a:t> </a:t>
            </a:r>
            <a:r>
              <a:rPr lang="en-US" dirty="0" err="1"/>
              <a:t>IComparable-rajapinnan</a:t>
            </a:r>
            <a:endParaRPr lang="en-US" dirty="0"/>
          </a:p>
          <a:p>
            <a:pPr lvl="1"/>
            <a:r>
              <a:rPr kumimoji="0" lang="fi-FI" sz="20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public</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fi-FI" sz="20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class</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fi-FI" sz="20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Henkilo</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fi-FI" sz="20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implements</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fi-FI" sz="20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Comparable</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&lt;</a:t>
            </a:r>
            <a:r>
              <a:rPr kumimoji="0" lang="fi-FI" sz="20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Henkilo</a:t>
            </a:r>
            <a:r>
              <a:rPr kumimoji="0" lang="fi-FI"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&gt;</a:t>
            </a:r>
            <a:endParaRPr lang="en-US" sz="2000" dirty="0"/>
          </a:p>
          <a:p>
            <a:r>
              <a:rPr lang="fi-FI" dirty="0"/>
              <a:t>Jos luokka toteuttaa </a:t>
            </a:r>
            <a:r>
              <a:rPr lang="fi-FI" dirty="0" err="1"/>
              <a:t>Comparable</a:t>
            </a:r>
            <a:r>
              <a:rPr lang="fi-FI" dirty="0"/>
              <a:t>-rajapinnan, on siihen tehtävä metodi </a:t>
            </a:r>
            <a:r>
              <a:rPr lang="fi-FI" dirty="0" err="1"/>
              <a:t>compareTo</a:t>
            </a:r>
            <a:r>
              <a:rPr lang="fi-FI" dirty="0"/>
              <a:t> (@override)</a:t>
            </a:r>
          </a:p>
          <a:p>
            <a:endParaRPr lang="en-US" dirty="0"/>
          </a:p>
          <a:p>
            <a:endParaRPr lang="en-US" dirty="0"/>
          </a:p>
          <a:p>
            <a:endParaRPr lang="fi-FI" dirty="0"/>
          </a:p>
        </p:txBody>
      </p:sp>
    </p:spTree>
    <p:extLst>
      <p:ext uri="{BB962C8B-B14F-4D97-AF65-F5344CB8AC3E}">
        <p14:creationId xmlns:p14="http://schemas.microsoft.com/office/powerpoint/2010/main" val="20993465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3C38-05C8-AE6C-22F1-032F9109B547}"/>
              </a:ext>
            </a:extLst>
          </p:cNvPr>
          <p:cNvSpPr>
            <a:spLocks noGrp="1"/>
          </p:cNvSpPr>
          <p:nvPr>
            <p:ph type="title"/>
          </p:nvPr>
        </p:nvSpPr>
        <p:spPr/>
        <p:txBody>
          <a:bodyPr/>
          <a:lstStyle/>
          <a:p>
            <a:r>
              <a:rPr lang="fi-FI" dirty="0" err="1"/>
              <a:t>Comparable</a:t>
            </a:r>
            <a:r>
              <a:rPr lang="fi-FI" dirty="0"/>
              <a:t>-rajapinta</a:t>
            </a:r>
          </a:p>
        </p:txBody>
      </p:sp>
      <p:sp>
        <p:nvSpPr>
          <p:cNvPr id="3" name="Content Placeholder 2">
            <a:extLst>
              <a:ext uri="{FF2B5EF4-FFF2-40B4-BE49-F238E27FC236}">
                <a16:creationId xmlns:a16="http://schemas.microsoft.com/office/drawing/2014/main" id="{F3B3A8D8-2F51-FF11-F322-41851DD8A1CB}"/>
              </a:ext>
            </a:extLst>
          </p:cNvPr>
          <p:cNvSpPr>
            <a:spLocks noGrp="1"/>
          </p:cNvSpPr>
          <p:nvPr>
            <p:ph idx="1"/>
          </p:nvPr>
        </p:nvSpPr>
        <p:spPr>
          <a:xfrm>
            <a:off x="838200" y="1825625"/>
            <a:ext cx="4073611" cy="3858483"/>
          </a:xfrm>
        </p:spPr>
        <p:txBody>
          <a:bodyPr>
            <a:normAutofit/>
          </a:bodyPr>
          <a:lstStyle/>
          <a:p>
            <a:r>
              <a:rPr lang="fi-FI" sz="2000" dirty="0"/>
              <a:t>Luokka Henkilö toteuttaa </a:t>
            </a:r>
            <a:r>
              <a:rPr lang="fi-FI" sz="2000" dirty="0" err="1"/>
              <a:t>Comparable</a:t>
            </a:r>
            <a:r>
              <a:rPr lang="fi-FI" sz="2000" dirty="0"/>
              <a:t>-rajapinnan</a:t>
            </a:r>
          </a:p>
          <a:p>
            <a:pPr lvl="1"/>
            <a:r>
              <a:rPr lang="fi-FI" sz="1600" dirty="0" err="1"/>
              <a:t>implements</a:t>
            </a:r>
            <a:r>
              <a:rPr lang="fi-FI" sz="1600" dirty="0"/>
              <a:t> </a:t>
            </a:r>
            <a:r>
              <a:rPr lang="fi-FI" sz="1600" dirty="0" err="1"/>
              <a:t>Comparable</a:t>
            </a:r>
            <a:r>
              <a:rPr lang="fi-FI" sz="1600" dirty="0"/>
              <a:t>&lt;</a:t>
            </a:r>
            <a:r>
              <a:rPr lang="fi-FI" sz="1600" dirty="0" err="1"/>
              <a:t>Henkilo</a:t>
            </a:r>
            <a:r>
              <a:rPr lang="fi-FI" sz="1600" dirty="0"/>
              <a:t>&gt;</a:t>
            </a:r>
          </a:p>
          <a:p>
            <a:r>
              <a:rPr lang="fi-FI" sz="2000" dirty="0" err="1"/>
              <a:t>compareTo</a:t>
            </a:r>
            <a:r>
              <a:rPr lang="fi-FI" sz="2000" dirty="0"/>
              <a:t>()-metodi palauttaa positiivisen luvun, negatiivisen luvun tai nollan sen mukaan, mikä on haluttu vertailun tulos</a:t>
            </a:r>
          </a:p>
          <a:p>
            <a:endParaRPr lang="fi-FI" sz="2000" dirty="0"/>
          </a:p>
        </p:txBody>
      </p:sp>
      <p:sp>
        <p:nvSpPr>
          <p:cNvPr id="11" name="TextBox 10">
            <a:extLst>
              <a:ext uri="{FF2B5EF4-FFF2-40B4-BE49-F238E27FC236}">
                <a16:creationId xmlns:a16="http://schemas.microsoft.com/office/drawing/2014/main" id="{BF54240E-F3FA-22B8-A1CD-11DBD9BE3CBB}"/>
              </a:ext>
            </a:extLst>
          </p:cNvPr>
          <p:cNvSpPr txBox="1"/>
          <p:nvPr/>
        </p:nvSpPr>
        <p:spPr>
          <a:xfrm>
            <a:off x="5284057" y="1604459"/>
            <a:ext cx="6566072" cy="4832092"/>
          </a:xfrm>
          <a:prstGeom prst="rect">
            <a:avLst/>
          </a:prstGeom>
          <a:noFill/>
        </p:spPr>
        <p:txBody>
          <a:bodyPr wrap="square">
            <a:spAutoFit/>
          </a:bodyPr>
          <a:lstStyle/>
          <a:p>
            <a:r>
              <a:rPr lang="fi-FI" sz="1100" b="0" dirty="0" err="1">
                <a:solidFill>
                  <a:srgbClr val="0000FF"/>
                </a:solidFill>
                <a:effectLst/>
                <a:latin typeface="Consolas" panose="020B0609020204030204" pitchFamily="49" charset="0"/>
              </a:rPr>
              <a:t>public</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class</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Henkilo</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implements</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Comparable</a:t>
            </a:r>
            <a:r>
              <a:rPr lang="fi-FI" sz="1100" b="0" dirty="0">
                <a:solidFill>
                  <a:srgbClr val="000000"/>
                </a:solidFill>
                <a:effectLst/>
                <a:latin typeface="Consolas" panose="020B0609020204030204" pitchFamily="49" charset="0"/>
              </a:rPr>
              <a:t>&lt;</a:t>
            </a:r>
            <a:r>
              <a:rPr lang="fi-FI" sz="1100" b="0" dirty="0" err="1">
                <a:solidFill>
                  <a:srgbClr val="0000FF"/>
                </a:solidFill>
                <a:effectLst/>
                <a:latin typeface="Consolas" panose="020B0609020204030204" pitchFamily="49" charset="0"/>
              </a:rPr>
              <a:t>Henkilo</a:t>
            </a:r>
            <a:r>
              <a:rPr lang="fi-FI" sz="1100" b="0" dirty="0">
                <a:solidFill>
                  <a:srgbClr val="000000"/>
                </a:solidFill>
                <a:effectLst/>
                <a:latin typeface="Consolas" panose="020B0609020204030204" pitchFamily="49" charset="0"/>
              </a:rPr>
              <a:t>&gt;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private</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etunimi;</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private</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sukunimi;</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private</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syntymavuosi</a:t>
            </a:r>
            <a:r>
              <a:rPr lang="fi-FI" sz="1100" b="0" dirty="0">
                <a:solidFill>
                  <a:srgbClr val="000000"/>
                </a:solidFill>
                <a:effectLst/>
                <a:latin typeface="Consolas" panose="020B0609020204030204" pitchFamily="49" charset="0"/>
              </a:rPr>
              <a:t>;</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public</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Henkilo</a:t>
            </a:r>
            <a:r>
              <a:rPr lang="fi-FI" sz="1100" b="0" dirty="0">
                <a:solidFill>
                  <a:srgbClr val="000000"/>
                </a:solidFill>
                <a:effectLst/>
                <a:latin typeface="Consolas" panose="020B0609020204030204" pitchFamily="49" charset="0"/>
              </a:rPr>
              <a:t>(</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etunimi,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sukunimi,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syntymavuosi</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this</a:t>
            </a:r>
            <a:r>
              <a:rPr lang="fi-FI" sz="1100" b="0" dirty="0" err="1">
                <a:solidFill>
                  <a:srgbClr val="000000"/>
                </a:solidFill>
                <a:effectLst/>
                <a:latin typeface="Consolas" panose="020B0609020204030204" pitchFamily="49" charset="0"/>
              </a:rPr>
              <a:t>.etunimi</a:t>
            </a:r>
            <a:r>
              <a:rPr lang="fi-FI" sz="1100" b="0" dirty="0">
                <a:solidFill>
                  <a:srgbClr val="000000"/>
                </a:solidFill>
                <a:effectLst/>
                <a:latin typeface="Consolas" panose="020B0609020204030204" pitchFamily="49" charset="0"/>
              </a:rPr>
              <a:t> = etunimi;</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this</a:t>
            </a:r>
            <a:r>
              <a:rPr lang="fi-FI" sz="1100" b="0" dirty="0" err="1">
                <a:solidFill>
                  <a:srgbClr val="000000"/>
                </a:solidFill>
                <a:effectLst/>
                <a:latin typeface="Consolas" panose="020B0609020204030204" pitchFamily="49" charset="0"/>
              </a:rPr>
              <a:t>.sukunimi</a:t>
            </a:r>
            <a:r>
              <a:rPr lang="fi-FI" sz="1100" b="0" dirty="0">
                <a:solidFill>
                  <a:srgbClr val="000000"/>
                </a:solidFill>
                <a:effectLst/>
                <a:latin typeface="Consolas" panose="020B0609020204030204" pitchFamily="49" charset="0"/>
              </a:rPr>
              <a:t> = sukunimi;</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this</a:t>
            </a:r>
            <a:r>
              <a:rPr lang="fi-FI" sz="1100" b="0" dirty="0" err="1">
                <a:solidFill>
                  <a:srgbClr val="000000"/>
                </a:solidFill>
                <a:effectLst/>
                <a:latin typeface="Consolas" panose="020B0609020204030204" pitchFamily="49" charset="0"/>
              </a:rPr>
              <a:t>.syntymavuosi</a:t>
            </a:r>
            <a:r>
              <a:rPr lang="fi-FI" sz="1100" b="0" dirty="0">
                <a:solidFill>
                  <a:srgbClr val="000000"/>
                </a:solidFill>
                <a:effectLst/>
                <a:latin typeface="Consolas" panose="020B0609020204030204" pitchFamily="49" charset="0"/>
              </a:rPr>
              <a:t> = </a:t>
            </a:r>
            <a:r>
              <a:rPr lang="fi-FI" sz="1100" b="0" dirty="0" err="1">
                <a:solidFill>
                  <a:srgbClr val="000000"/>
                </a:solidFill>
                <a:effectLst/>
                <a:latin typeface="Consolas" panose="020B0609020204030204" pitchFamily="49" charset="0"/>
              </a:rPr>
              <a:t>syntymavuosi</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a:solidFill>
                  <a:srgbClr val="0000FF"/>
                </a:solidFill>
                <a:effectLst/>
                <a:latin typeface="Consolas" panose="020B0609020204030204" pitchFamily="49" charset="0"/>
              </a:rPr>
              <a:t>Override</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public</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compareTo</a:t>
            </a:r>
            <a:r>
              <a:rPr lang="fi-FI" sz="1100" b="0" dirty="0">
                <a:solidFill>
                  <a:srgbClr val="000000"/>
                </a:solidFill>
                <a:effectLst/>
                <a:latin typeface="Consolas" panose="020B0609020204030204" pitchFamily="49" charset="0"/>
              </a:rPr>
              <a:t>(</a:t>
            </a:r>
            <a:r>
              <a:rPr lang="fi-FI" sz="1100" b="0" dirty="0" err="1">
                <a:solidFill>
                  <a:srgbClr val="0000FF"/>
                </a:solidFill>
                <a:effectLst/>
                <a:latin typeface="Consolas" panose="020B0609020204030204" pitchFamily="49" charset="0"/>
              </a:rPr>
              <a:t>Henkilo</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otherHenkilo</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if</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this</a:t>
            </a:r>
            <a:r>
              <a:rPr lang="fi-FI" sz="1100" b="0" dirty="0" err="1">
                <a:solidFill>
                  <a:srgbClr val="000000"/>
                </a:solidFill>
                <a:effectLst/>
                <a:latin typeface="Consolas" panose="020B0609020204030204" pitchFamily="49" charset="0"/>
              </a:rPr>
              <a:t>.sukunimi.compareTo</a:t>
            </a:r>
            <a:r>
              <a:rPr lang="fi-FI" sz="1100" b="0" dirty="0">
                <a:solidFill>
                  <a:srgbClr val="000000"/>
                </a:solidFill>
                <a:effectLst/>
                <a:latin typeface="Consolas" panose="020B0609020204030204" pitchFamily="49" charset="0"/>
              </a:rPr>
              <a:t>(</a:t>
            </a:r>
            <a:r>
              <a:rPr lang="fi-FI" sz="1100" b="0" dirty="0" err="1">
                <a:solidFill>
                  <a:srgbClr val="000000"/>
                </a:solidFill>
                <a:effectLst/>
                <a:latin typeface="Consolas" panose="020B0609020204030204" pitchFamily="49" charset="0"/>
              </a:rPr>
              <a:t>otherHenkilo.sukunimi</a:t>
            </a:r>
            <a:r>
              <a:rPr lang="fi-FI" sz="1100" b="0" dirty="0">
                <a:solidFill>
                  <a:srgbClr val="000000"/>
                </a:solidFill>
                <a:effectLst/>
                <a:latin typeface="Consolas" panose="020B0609020204030204" pitchFamily="49" charset="0"/>
              </a:rPr>
              <a:t>) &gt; </a:t>
            </a:r>
            <a:r>
              <a:rPr lang="fi-FI" sz="1100" b="0" dirty="0">
                <a:solidFill>
                  <a:srgbClr val="098658"/>
                </a:solidFill>
                <a:effectLst/>
                <a:latin typeface="Consolas" panose="020B0609020204030204" pitchFamily="49" charset="0"/>
              </a:rPr>
              <a:t>0</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return</a:t>
            </a:r>
            <a:r>
              <a:rPr lang="fi-FI" sz="1100" b="0" dirty="0">
                <a:solidFill>
                  <a:srgbClr val="000000"/>
                </a:solidFill>
                <a:effectLst/>
                <a:latin typeface="Consolas" panose="020B0609020204030204" pitchFamily="49" charset="0"/>
              </a:rPr>
              <a:t> </a:t>
            </a:r>
            <a:r>
              <a:rPr lang="fi-FI" sz="1100" b="0" dirty="0">
                <a:solidFill>
                  <a:srgbClr val="098658"/>
                </a:solidFill>
                <a:effectLst/>
                <a:latin typeface="Consolas" panose="020B0609020204030204" pitchFamily="49" charset="0"/>
              </a:rPr>
              <a:t>1</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else</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if</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this</a:t>
            </a:r>
            <a:r>
              <a:rPr lang="fi-FI" sz="1100" b="0" dirty="0" err="1">
                <a:solidFill>
                  <a:srgbClr val="000000"/>
                </a:solidFill>
                <a:effectLst/>
                <a:latin typeface="Consolas" panose="020B0609020204030204" pitchFamily="49" charset="0"/>
              </a:rPr>
              <a:t>.sukunimi.compareTo</a:t>
            </a:r>
            <a:r>
              <a:rPr lang="fi-FI" sz="1100" b="0" dirty="0">
                <a:solidFill>
                  <a:srgbClr val="000000"/>
                </a:solidFill>
                <a:effectLst/>
                <a:latin typeface="Consolas" panose="020B0609020204030204" pitchFamily="49" charset="0"/>
              </a:rPr>
              <a:t>(</a:t>
            </a:r>
            <a:r>
              <a:rPr lang="fi-FI" sz="1100" b="0" dirty="0" err="1">
                <a:solidFill>
                  <a:srgbClr val="000000"/>
                </a:solidFill>
                <a:effectLst/>
                <a:latin typeface="Consolas" panose="020B0609020204030204" pitchFamily="49" charset="0"/>
              </a:rPr>
              <a:t>otherHenkilo.sukunimi</a:t>
            </a:r>
            <a:r>
              <a:rPr lang="fi-FI" sz="1100" b="0" dirty="0">
                <a:solidFill>
                  <a:srgbClr val="000000"/>
                </a:solidFill>
                <a:effectLst/>
                <a:latin typeface="Consolas" panose="020B0609020204030204" pitchFamily="49" charset="0"/>
              </a:rPr>
              <a:t>) &lt; </a:t>
            </a:r>
            <a:r>
              <a:rPr lang="fi-FI" sz="1100" b="0" dirty="0">
                <a:solidFill>
                  <a:srgbClr val="098658"/>
                </a:solidFill>
                <a:effectLst/>
                <a:latin typeface="Consolas" panose="020B0609020204030204" pitchFamily="49" charset="0"/>
              </a:rPr>
              <a:t>0</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return</a:t>
            </a:r>
            <a:r>
              <a:rPr lang="fi-FI" sz="1100" b="0" dirty="0">
                <a:solidFill>
                  <a:srgbClr val="000000"/>
                </a:solidFill>
                <a:effectLst/>
                <a:latin typeface="Consolas" panose="020B0609020204030204" pitchFamily="49" charset="0"/>
              </a:rPr>
              <a:t> -</a:t>
            </a:r>
            <a:r>
              <a:rPr lang="fi-FI" sz="1100" b="0" dirty="0">
                <a:solidFill>
                  <a:srgbClr val="098658"/>
                </a:solidFill>
                <a:effectLst/>
                <a:latin typeface="Consolas" panose="020B0609020204030204" pitchFamily="49" charset="0"/>
              </a:rPr>
              <a:t>1</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else</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return</a:t>
            </a:r>
            <a:r>
              <a:rPr lang="fi-FI" sz="1100" b="0" dirty="0">
                <a:solidFill>
                  <a:srgbClr val="000000"/>
                </a:solidFill>
                <a:effectLst/>
                <a:latin typeface="Consolas" panose="020B0609020204030204" pitchFamily="49" charset="0"/>
              </a:rPr>
              <a:t> </a:t>
            </a:r>
            <a:r>
              <a:rPr lang="fi-FI" sz="1100" b="0" dirty="0">
                <a:solidFill>
                  <a:srgbClr val="098658"/>
                </a:solidFill>
                <a:effectLst/>
                <a:latin typeface="Consolas" panose="020B0609020204030204" pitchFamily="49" charset="0"/>
              </a:rPr>
              <a:t>0</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a:solidFill>
                  <a:srgbClr val="008000"/>
                </a:solidFill>
                <a:effectLst/>
                <a:latin typeface="Consolas" panose="020B0609020204030204" pitchFamily="49" charset="0"/>
              </a:rPr>
              <a:t>// </a:t>
            </a:r>
            <a:r>
              <a:rPr lang="fi-FI" sz="1100" b="0" dirty="0" err="1">
                <a:solidFill>
                  <a:srgbClr val="008000"/>
                </a:solidFill>
                <a:effectLst/>
                <a:latin typeface="Consolas" panose="020B0609020204030204" pitchFamily="49" charset="0"/>
              </a:rPr>
              <a:t>return</a:t>
            </a:r>
            <a:r>
              <a:rPr lang="fi-FI" sz="1100" b="0" dirty="0">
                <a:solidFill>
                  <a:srgbClr val="008000"/>
                </a:solidFill>
                <a:effectLst/>
                <a:latin typeface="Consolas" panose="020B0609020204030204" pitchFamily="49" charset="0"/>
              </a:rPr>
              <a:t> </a:t>
            </a:r>
            <a:r>
              <a:rPr lang="fi-FI" sz="1100" b="0" dirty="0" err="1">
                <a:solidFill>
                  <a:srgbClr val="008000"/>
                </a:solidFill>
                <a:effectLst/>
                <a:latin typeface="Consolas" panose="020B0609020204030204" pitchFamily="49" charset="0"/>
              </a:rPr>
              <a:t>this.sukunimi.compareTo</a:t>
            </a:r>
            <a:r>
              <a:rPr lang="fi-FI" sz="1100" b="0" dirty="0">
                <a:solidFill>
                  <a:srgbClr val="008000"/>
                </a:solidFill>
                <a:effectLst/>
                <a:latin typeface="Consolas" panose="020B0609020204030204" pitchFamily="49" charset="0"/>
              </a:rPr>
              <a:t>(</a:t>
            </a:r>
            <a:r>
              <a:rPr lang="fi-FI" sz="1100" b="0" dirty="0" err="1">
                <a:solidFill>
                  <a:srgbClr val="008000"/>
                </a:solidFill>
                <a:effectLst/>
                <a:latin typeface="Consolas" panose="020B0609020204030204" pitchFamily="49" charset="0"/>
              </a:rPr>
              <a:t>otherHenkilo.sukunimi</a:t>
            </a:r>
            <a:r>
              <a:rPr lang="fi-FI" sz="1100" b="0" dirty="0">
                <a:solidFill>
                  <a:srgbClr val="008000"/>
                </a:solidFill>
                <a:effectLst/>
                <a:latin typeface="Consolas" panose="020B0609020204030204" pitchFamily="49" charset="0"/>
              </a:rPr>
              <a:t>);</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a:solidFill>
                  <a:srgbClr val="0000FF"/>
                </a:solidFill>
                <a:effectLst/>
                <a:latin typeface="Consolas" panose="020B0609020204030204" pitchFamily="49" charset="0"/>
              </a:rPr>
              <a:t>Override</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public</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toString</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return</a:t>
            </a:r>
            <a:r>
              <a:rPr lang="fi-FI" sz="1100" b="0" dirty="0">
                <a:solidFill>
                  <a:srgbClr val="000000"/>
                </a:solidFill>
                <a:effectLst/>
                <a:latin typeface="Consolas" panose="020B0609020204030204" pitchFamily="49" charset="0"/>
              </a:rPr>
              <a:t> </a:t>
            </a:r>
            <a:r>
              <a:rPr lang="fi-FI" sz="1100" b="0" dirty="0">
                <a:solidFill>
                  <a:srgbClr val="A31515"/>
                </a:solidFill>
                <a:effectLst/>
                <a:latin typeface="Consolas" panose="020B0609020204030204" pitchFamily="49" charset="0"/>
              </a:rPr>
              <a:t>"</a:t>
            </a:r>
            <a:r>
              <a:rPr lang="fi-FI" sz="1100" b="0" dirty="0" err="1">
                <a:solidFill>
                  <a:srgbClr val="A31515"/>
                </a:solidFill>
                <a:effectLst/>
                <a:latin typeface="Consolas" panose="020B0609020204030204" pitchFamily="49" charset="0"/>
              </a:rPr>
              <a:t>Henkilo</a:t>
            </a:r>
            <a:r>
              <a:rPr lang="fi-FI" sz="1100" b="0" dirty="0">
                <a:solidFill>
                  <a:srgbClr val="A31515"/>
                </a:solidFill>
                <a:effectLst/>
                <a:latin typeface="Consolas" panose="020B0609020204030204" pitchFamily="49" charset="0"/>
              </a:rPr>
              <a:t> [etunimi="</a:t>
            </a:r>
            <a:r>
              <a:rPr lang="fi-FI" sz="1100" b="0" dirty="0">
                <a:solidFill>
                  <a:srgbClr val="000000"/>
                </a:solidFill>
                <a:effectLst/>
                <a:latin typeface="Consolas" panose="020B0609020204030204" pitchFamily="49" charset="0"/>
              </a:rPr>
              <a:t> + etunimi + </a:t>
            </a:r>
            <a:r>
              <a:rPr lang="fi-FI" sz="1100" b="0" dirty="0">
                <a:solidFill>
                  <a:srgbClr val="A31515"/>
                </a:solidFill>
                <a:effectLst/>
                <a:latin typeface="Consolas" panose="020B0609020204030204" pitchFamily="49" charset="0"/>
              </a:rPr>
              <a:t>", sukunimi="</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sukunimi + </a:t>
            </a:r>
            <a:r>
              <a:rPr lang="fi-FI" sz="1100" b="0" dirty="0">
                <a:solidFill>
                  <a:srgbClr val="A31515"/>
                </a:solidFill>
                <a:effectLst/>
                <a:latin typeface="Consolas" panose="020B0609020204030204" pitchFamily="49" charset="0"/>
              </a:rPr>
              <a:t>", </a:t>
            </a:r>
            <a:r>
              <a:rPr lang="fi-FI" sz="1100" b="0" dirty="0" err="1">
                <a:solidFill>
                  <a:srgbClr val="A31515"/>
                </a:solidFill>
                <a:effectLst/>
                <a:latin typeface="Consolas" panose="020B0609020204030204" pitchFamily="49" charset="0"/>
              </a:rPr>
              <a:t>syntymavuosi</a:t>
            </a:r>
            <a:r>
              <a:rPr lang="fi-FI" sz="1100" b="0" dirty="0">
                <a:solidFill>
                  <a:srgbClr val="A31515"/>
                </a:solidFill>
                <a:effectLst/>
                <a:latin typeface="Consolas" panose="020B0609020204030204" pitchFamily="49" charset="0"/>
              </a:rPr>
              <a:t>="</a:t>
            </a:r>
            <a:r>
              <a:rPr lang="fi-FI" sz="1100" b="0" dirty="0">
                <a:solidFill>
                  <a:srgbClr val="000000"/>
                </a:solidFill>
                <a:effectLst/>
                <a:latin typeface="Consolas" panose="020B0609020204030204" pitchFamily="49" charset="0"/>
              </a:rPr>
              <a:t> + </a:t>
            </a:r>
            <a:r>
              <a:rPr lang="fi-FI" sz="1100" b="0" dirty="0" err="1">
                <a:solidFill>
                  <a:srgbClr val="000000"/>
                </a:solidFill>
                <a:effectLst/>
                <a:latin typeface="Consolas" panose="020B0609020204030204" pitchFamily="49" charset="0"/>
              </a:rPr>
              <a:t>syntymavuosi</a:t>
            </a:r>
            <a:r>
              <a:rPr lang="fi-FI" sz="1100" b="0" dirty="0">
                <a:solidFill>
                  <a:srgbClr val="000000"/>
                </a:solidFill>
                <a:effectLst/>
                <a:latin typeface="Consolas" panose="020B0609020204030204" pitchFamily="49" charset="0"/>
              </a:rPr>
              <a:t> + </a:t>
            </a:r>
            <a:r>
              <a:rPr lang="fi-FI" sz="1100" b="0" dirty="0">
                <a:solidFill>
                  <a:srgbClr val="A31515"/>
                </a:solidFill>
                <a:effectLst/>
                <a:latin typeface="Consolas" panose="020B0609020204030204" pitchFamily="49" charset="0"/>
              </a:rPr>
              <a:t>"]"</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349558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26C97-51FA-2D81-16AE-1E7323FC2A25}"/>
              </a:ext>
            </a:extLst>
          </p:cNvPr>
          <p:cNvSpPr>
            <a:spLocks noGrp="1"/>
          </p:cNvSpPr>
          <p:nvPr>
            <p:ph type="title"/>
          </p:nvPr>
        </p:nvSpPr>
        <p:spPr/>
        <p:txBody>
          <a:bodyPr/>
          <a:lstStyle/>
          <a:p>
            <a:r>
              <a:rPr lang="fi-FI" dirty="0" err="1"/>
              <a:t>Comparable</a:t>
            </a:r>
            <a:r>
              <a:rPr lang="fi-FI" dirty="0"/>
              <a:t>-rajapinta</a:t>
            </a:r>
          </a:p>
        </p:txBody>
      </p:sp>
      <p:sp>
        <p:nvSpPr>
          <p:cNvPr id="3" name="Content Placeholder 2">
            <a:extLst>
              <a:ext uri="{FF2B5EF4-FFF2-40B4-BE49-F238E27FC236}">
                <a16:creationId xmlns:a16="http://schemas.microsoft.com/office/drawing/2014/main" id="{8B5CE91C-AA2B-18EE-5D13-2EC2BCB3EA24}"/>
              </a:ext>
            </a:extLst>
          </p:cNvPr>
          <p:cNvSpPr>
            <a:spLocks noGrp="1"/>
          </p:cNvSpPr>
          <p:nvPr>
            <p:ph idx="1"/>
          </p:nvPr>
        </p:nvSpPr>
        <p:spPr>
          <a:xfrm>
            <a:off x="838200" y="1825625"/>
            <a:ext cx="3474308" cy="4351338"/>
          </a:xfrm>
        </p:spPr>
        <p:txBody>
          <a:bodyPr>
            <a:normAutofit fontScale="92500" lnSpcReduction="10000"/>
          </a:bodyPr>
          <a:lstStyle/>
          <a:p>
            <a:r>
              <a:rPr lang="fi-FI" sz="2400" dirty="0"/>
              <a:t>Esimerkkejä</a:t>
            </a:r>
          </a:p>
          <a:p>
            <a:endParaRPr lang="fi-FI" sz="2400" dirty="0"/>
          </a:p>
          <a:p>
            <a:r>
              <a:rPr lang="fi-FI" sz="2400" dirty="0"/>
              <a:t>Huomaa, että oletusjärjestyksiä voi olla vain yksi. (Luokassa ei voi olla useampaa </a:t>
            </a:r>
            <a:r>
              <a:rPr lang="fi-FI" sz="2400" dirty="0" err="1"/>
              <a:t>compareTo</a:t>
            </a:r>
            <a:r>
              <a:rPr lang="fi-FI" sz="2400" dirty="0"/>
              <a:t>()-metodia kerrallaan.</a:t>
            </a:r>
          </a:p>
          <a:p>
            <a:endParaRPr lang="fi-FI" sz="2400" dirty="0"/>
          </a:p>
          <a:p>
            <a:r>
              <a:rPr lang="fi-FI" sz="2400" dirty="0"/>
              <a:t>Jos tarvitaan useampia järjestämissääntöjä, täytyy käyttää (lisäksi) </a:t>
            </a:r>
            <a:r>
              <a:rPr lang="fi-FI" sz="2400" dirty="0" err="1"/>
              <a:t>Comparator</a:t>
            </a:r>
            <a:r>
              <a:rPr lang="fi-FI" sz="2400" dirty="0"/>
              <a:t>-rajapintaa.</a:t>
            </a:r>
          </a:p>
        </p:txBody>
      </p:sp>
      <p:sp>
        <p:nvSpPr>
          <p:cNvPr id="5" name="TextBox 4">
            <a:extLst>
              <a:ext uri="{FF2B5EF4-FFF2-40B4-BE49-F238E27FC236}">
                <a16:creationId xmlns:a16="http://schemas.microsoft.com/office/drawing/2014/main" id="{0B0B6997-86DC-0DB4-64EC-D901FC7CA8DE}"/>
              </a:ext>
            </a:extLst>
          </p:cNvPr>
          <p:cNvSpPr txBox="1"/>
          <p:nvPr/>
        </p:nvSpPr>
        <p:spPr>
          <a:xfrm>
            <a:off x="4128700" y="1634862"/>
            <a:ext cx="6714353" cy="1169551"/>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oletusjärjestys syntymävuoden mukaan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Override</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compareTo</a:t>
            </a:r>
            <a:r>
              <a:rPr lang="fi-FI" sz="1400" b="0" dirty="0">
                <a:solidFill>
                  <a:srgbClr val="000000"/>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otherHenkilo</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return</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this</a:t>
            </a:r>
            <a:r>
              <a:rPr lang="fi-FI" sz="1400" b="0" dirty="0" err="1">
                <a:solidFill>
                  <a:srgbClr val="000000"/>
                </a:solidFill>
                <a:effectLst/>
                <a:latin typeface="Consolas" panose="020B0609020204030204" pitchFamily="49" charset="0"/>
              </a:rPr>
              <a:t>.syntymavuosi</a:t>
            </a:r>
            <a:r>
              <a:rPr lang="fi-FI" sz="1400" b="0" dirty="0">
                <a:solidFill>
                  <a:srgbClr val="000000"/>
                </a:solidFill>
                <a:effectLst/>
                <a:latin typeface="Consolas" panose="020B0609020204030204" pitchFamily="49" charset="0"/>
              </a:rPr>
              <a:t> - </a:t>
            </a:r>
            <a:r>
              <a:rPr lang="fi-FI" sz="1400" b="0" dirty="0" err="1">
                <a:solidFill>
                  <a:srgbClr val="000000"/>
                </a:solidFill>
                <a:effectLst/>
                <a:latin typeface="Consolas" panose="020B0609020204030204" pitchFamily="49" charset="0"/>
              </a:rPr>
              <a:t>otherHenkilo.syntymavuosi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D2E31132-8A94-DA7E-9B93-F1B9277C7434}"/>
              </a:ext>
            </a:extLst>
          </p:cNvPr>
          <p:cNvSpPr txBox="1"/>
          <p:nvPr/>
        </p:nvSpPr>
        <p:spPr>
          <a:xfrm>
            <a:off x="4128700" y="2960425"/>
            <a:ext cx="7437223" cy="1600438"/>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oletusjärjestys sukunimen mukaan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Override</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compareTo</a:t>
            </a:r>
            <a:r>
              <a:rPr lang="fi-FI" sz="1400" b="0" dirty="0">
                <a:solidFill>
                  <a:srgbClr val="000000"/>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otherHenkilo</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return</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this</a:t>
            </a:r>
            <a:r>
              <a:rPr lang="fi-FI" sz="1400" b="0" dirty="0" err="1">
                <a:solidFill>
                  <a:srgbClr val="000000"/>
                </a:solidFill>
                <a:effectLst/>
                <a:latin typeface="Consolas" panose="020B0609020204030204" pitchFamily="49" charset="0"/>
              </a:rPr>
              <a:t>.sukunimi.compareTo</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otherHenkilo.sukunimi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236BA8D5-65D4-60EA-3599-D8828EC140EA}"/>
              </a:ext>
            </a:extLst>
          </p:cNvPr>
          <p:cNvSpPr txBox="1"/>
          <p:nvPr/>
        </p:nvSpPr>
        <p:spPr>
          <a:xfrm>
            <a:off x="4120336" y="4315197"/>
            <a:ext cx="7518315" cy="1815882"/>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oletusjärjestys sukunimen ja etunimen mukaan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Override</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public</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compareTo</a:t>
            </a:r>
            <a:r>
              <a:rPr lang="fi-FI" sz="1400" b="0" dirty="0">
                <a:solidFill>
                  <a:srgbClr val="000000"/>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otherHenkilo</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result</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this</a:t>
            </a:r>
            <a:r>
              <a:rPr lang="fi-FI" sz="1400" b="0" dirty="0" err="1">
                <a:solidFill>
                  <a:srgbClr val="000000"/>
                </a:solidFill>
                <a:effectLst/>
                <a:latin typeface="Consolas" panose="020B0609020204030204" pitchFamily="49" charset="0"/>
              </a:rPr>
              <a:t>.sukunimi.compareTo</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otherHenkilo.sukunimi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if</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result</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result</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this</a:t>
            </a:r>
            <a:r>
              <a:rPr lang="fi-FI" sz="1400" b="0" dirty="0" err="1">
                <a:solidFill>
                  <a:srgbClr val="000000"/>
                </a:solidFill>
                <a:effectLst/>
                <a:latin typeface="Consolas" panose="020B0609020204030204" pitchFamily="49" charset="0"/>
              </a:rPr>
              <a:t>.etunimi.compareTo</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otherHenkilo.etunimi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return</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result</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1795523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39C0D-74A5-4B58-9556-555AB4543DCC}"/>
              </a:ext>
            </a:extLst>
          </p:cNvPr>
          <p:cNvSpPr>
            <a:spLocks noGrp="1"/>
          </p:cNvSpPr>
          <p:nvPr>
            <p:ph type="title"/>
          </p:nvPr>
        </p:nvSpPr>
        <p:spPr/>
        <p:txBody>
          <a:bodyPr/>
          <a:lstStyle/>
          <a:p>
            <a:r>
              <a:rPr lang="fi-FI" dirty="0" err="1"/>
              <a:t>Comparable</a:t>
            </a:r>
            <a:r>
              <a:rPr lang="fi-FI" dirty="0"/>
              <a:t>-rajapinta</a:t>
            </a:r>
          </a:p>
        </p:txBody>
      </p:sp>
      <p:sp>
        <p:nvSpPr>
          <p:cNvPr id="3" name="Content Placeholder 2">
            <a:extLst>
              <a:ext uri="{FF2B5EF4-FFF2-40B4-BE49-F238E27FC236}">
                <a16:creationId xmlns:a16="http://schemas.microsoft.com/office/drawing/2014/main" id="{85D786E5-4158-CC90-E228-B59E34A95D9D}"/>
              </a:ext>
            </a:extLst>
          </p:cNvPr>
          <p:cNvSpPr>
            <a:spLocks noGrp="1"/>
          </p:cNvSpPr>
          <p:nvPr>
            <p:ph idx="1"/>
          </p:nvPr>
        </p:nvSpPr>
        <p:spPr>
          <a:xfrm>
            <a:off x="838200" y="1825625"/>
            <a:ext cx="4821195" cy="4351338"/>
          </a:xfrm>
        </p:spPr>
        <p:txBody>
          <a:bodyPr/>
          <a:lstStyle/>
          <a:p>
            <a:r>
              <a:rPr lang="fi-FI" dirty="0"/>
              <a:t>Koska listan alkiot ovat oliotyyppiä täytyy </a:t>
            </a:r>
            <a:r>
              <a:rPr lang="fi-FI" dirty="0" err="1"/>
              <a:t>Henkilo</a:t>
            </a:r>
            <a:r>
              <a:rPr lang="fi-FI" dirty="0"/>
              <a:t>-luokassa olla toteutettuna </a:t>
            </a:r>
            <a:r>
              <a:rPr lang="fi-FI" dirty="0" err="1"/>
              <a:t>Comparable</a:t>
            </a:r>
            <a:r>
              <a:rPr lang="fi-FI" dirty="0"/>
              <a:t>-rajapinta, että järjestäminen voidaan tehdä. </a:t>
            </a:r>
          </a:p>
          <a:p>
            <a:r>
              <a:rPr lang="fi-FI" dirty="0"/>
              <a:t>Kun </a:t>
            </a:r>
            <a:r>
              <a:rPr lang="fi-FI" dirty="0" err="1"/>
              <a:t>Comparable</a:t>
            </a:r>
            <a:r>
              <a:rPr lang="fi-FI" dirty="0"/>
              <a:t> on määritelty, </a:t>
            </a:r>
            <a:r>
              <a:rPr lang="fi-FI" dirty="0" err="1"/>
              <a:t>Collections.sort</a:t>
            </a:r>
            <a:r>
              <a:rPr lang="fi-FI" dirty="0"/>
              <a:t>(</a:t>
            </a:r>
            <a:r>
              <a:rPr lang="fi-FI" dirty="0" err="1"/>
              <a:t>henkilot</a:t>
            </a:r>
            <a:r>
              <a:rPr lang="fi-FI" dirty="0"/>
              <a:t>) toimii kuten alkeistietotyypin listoissa.</a:t>
            </a:r>
          </a:p>
          <a:p>
            <a:endParaRPr lang="fi-FI" dirty="0"/>
          </a:p>
        </p:txBody>
      </p:sp>
      <p:sp>
        <p:nvSpPr>
          <p:cNvPr id="5" name="TextBox 4">
            <a:extLst>
              <a:ext uri="{FF2B5EF4-FFF2-40B4-BE49-F238E27FC236}">
                <a16:creationId xmlns:a16="http://schemas.microsoft.com/office/drawing/2014/main" id="{550075CC-264D-B844-AB92-FC96E26E6A6C}"/>
              </a:ext>
            </a:extLst>
          </p:cNvPr>
          <p:cNvSpPr txBox="1"/>
          <p:nvPr/>
        </p:nvSpPr>
        <p:spPr>
          <a:xfrm>
            <a:off x="5943085" y="1783894"/>
            <a:ext cx="5410715" cy="4708981"/>
          </a:xfrm>
          <a:prstGeom prst="rect">
            <a:avLst/>
          </a:prstGeom>
          <a:noFill/>
        </p:spPr>
        <p:txBody>
          <a:bodyPr wrap="square">
            <a:spAutoFit/>
          </a:bodyPr>
          <a:lstStyle/>
          <a:p>
            <a:r>
              <a:rPr lang="fi-FI" sz="1200" b="0" dirty="0">
                <a:solidFill>
                  <a:srgbClr val="0000FF"/>
                </a:solidFill>
                <a:effectLst/>
                <a:latin typeface="Consolas" panose="020B0609020204030204" pitchFamily="49" charset="0"/>
              </a:rPr>
              <a:t>import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java.util.ArrayList</a:t>
            </a:r>
            <a:r>
              <a:rPr lang="fi-FI" sz="1200" b="0" dirty="0">
                <a:solidFill>
                  <a:srgbClr val="000000"/>
                </a:solidFill>
                <a:effectLst/>
                <a:latin typeface="Consolas" panose="020B0609020204030204" pitchFamily="49" charset="0"/>
              </a:rPr>
              <a:t>;</a:t>
            </a:r>
          </a:p>
          <a:p>
            <a:r>
              <a:rPr lang="fi-FI" sz="1200" b="0" dirty="0">
                <a:solidFill>
                  <a:srgbClr val="0000FF"/>
                </a:solidFill>
                <a:effectLst/>
                <a:latin typeface="Consolas" panose="020B0609020204030204" pitchFamily="49" charset="0"/>
              </a:rPr>
              <a:t>import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java.util.Collections</a:t>
            </a:r>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r>
              <a:rPr lang="fi-FI" sz="1200" b="0" dirty="0" err="1">
                <a:solidFill>
                  <a:srgbClr val="0000FF"/>
                </a:solidFill>
                <a:effectLst/>
                <a:latin typeface="Consolas" panose="020B0609020204030204" pitchFamily="49" charset="0"/>
              </a:rPr>
              <a:t>public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class</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HenkiloLista</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public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static</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void</a:t>
            </a:r>
            <a:r>
              <a:rPr lang="fi-FI" sz="1200" b="0" dirty="0">
                <a:solidFill>
                  <a:srgbClr val="000000"/>
                </a:solidFill>
                <a:effectLst/>
                <a:latin typeface="Consolas" panose="020B0609020204030204" pitchFamily="49" charset="0"/>
              </a:rPr>
              <a:t> main(</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args</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"Hanhi"</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1925</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"Ankka"</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1922</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mikki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"Mikki"</a:t>
            </a:r>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"Hiiri"</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1920</a:t>
            </a:r>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&gt; </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(mikki);</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Collections.sort</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endParaRPr lang="fi-FI"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7386848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FBD53-1749-6647-E8D1-50EC570C2C72}"/>
              </a:ext>
            </a:extLst>
          </p:cNvPr>
          <p:cNvSpPr>
            <a:spLocks noGrp="1"/>
          </p:cNvSpPr>
          <p:nvPr>
            <p:ph type="title"/>
          </p:nvPr>
        </p:nvSpPr>
        <p:spPr/>
        <p:txBody>
          <a:bodyPr/>
          <a:lstStyle/>
          <a:p>
            <a:r>
              <a:rPr lang="fi-FI" dirty="0">
                <a:solidFill>
                  <a:srgbClr val="FF0000"/>
                </a:solidFill>
              </a:rPr>
              <a:t>Tehtävä</a:t>
            </a:r>
          </a:p>
        </p:txBody>
      </p:sp>
      <p:sp>
        <p:nvSpPr>
          <p:cNvPr id="3" name="Content Placeholder 2">
            <a:extLst>
              <a:ext uri="{FF2B5EF4-FFF2-40B4-BE49-F238E27FC236}">
                <a16:creationId xmlns:a16="http://schemas.microsoft.com/office/drawing/2014/main" id="{210B6D39-2EDF-E79A-E571-136FD5697D37}"/>
              </a:ext>
            </a:extLst>
          </p:cNvPr>
          <p:cNvSpPr>
            <a:spLocks noGrp="1"/>
          </p:cNvSpPr>
          <p:nvPr>
            <p:ph idx="1"/>
          </p:nvPr>
        </p:nvSpPr>
        <p:spPr/>
        <p:txBody>
          <a:bodyPr/>
          <a:lstStyle/>
          <a:p>
            <a:r>
              <a:rPr lang="en-US" dirty="0" err="1"/>
              <a:t>Järjestä</a:t>
            </a:r>
            <a:r>
              <a:rPr lang="en-US" dirty="0"/>
              <a:t> </a:t>
            </a:r>
            <a:r>
              <a:rPr lang="en-US" dirty="0" err="1"/>
              <a:t>Ehdokas-luokan</a:t>
            </a:r>
            <a:r>
              <a:rPr lang="en-US" dirty="0"/>
              <a:t> </a:t>
            </a:r>
            <a:r>
              <a:rPr lang="en-US" dirty="0" err="1"/>
              <a:t>oliot</a:t>
            </a:r>
            <a:r>
              <a:rPr lang="en-US" dirty="0"/>
              <a:t> </a:t>
            </a:r>
            <a:r>
              <a:rPr lang="en-US" dirty="0" err="1"/>
              <a:t>äänimäärän</a:t>
            </a:r>
            <a:r>
              <a:rPr lang="en-US" dirty="0"/>
              <a:t> </a:t>
            </a:r>
            <a:r>
              <a:rPr lang="en-US" dirty="0" err="1"/>
              <a:t>mukaan</a:t>
            </a:r>
            <a:r>
              <a:rPr lang="en-US" dirty="0"/>
              <a:t> </a:t>
            </a:r>
            <a:r>
              <a:rPr lang="en-US" dirty="0" err="1"/>
              <a:t>toteuttamalla</a:t>
            </a:r>
            <a:r>
              <a:rPr lang="en-US" dirty="0"/>
              <a:t> Comparable-</a:t>
            </a:r>
            <a:r>
              <a:rPr lang="en-US" dirty="0" err="1"/>
              <a:t>rajapinta</a:t>
            </a:r>
            <a:endParaRPr lang="en-US" dirty="0"/>
          </a:p>
          <a:p>
            <a:r>
              <a:rPr lang="en-US" dirty="0" err="1"/>
              <a:t>Järjestä</a:t>
            </a:r>
            <a:r>
              <a:rPr lang="en-US" dirty="0"/>
              <a:t> </a:t>
            </a:r>
            <a:r>
              <a:rPr lang="en-US" dirty="0" err="1"/>
              <a:t>korttipakka</a:t>
            </a:r>
            <a:endParaRPr lang="en-US" dirty="0"/>
          </a:p>
          <a:p>
            <a:pPr lvl="1"/>
            <a:r>
              <a:rPr lang="en-US" dirty="0" err="1"/>
              <a:t>Hertta</a:t>
            </a:r>
            <a:r>
              <a:rPr lang="en-US" dirty="0"/>
              <a:t> (1-13), </a:t>
            </a:r>
            <a:r>
              <a:rPr lang="en-US" dirty="0" err="1"/>
              <a:t>Ruutu</a:t>
            </a:r>
            <a:r>
              <a:rPr lang="en-US" dirty="0"/>
              <a:t> (1-13), </a:t>
            </a:r>
            <a:r>
              <a:rPr lang="en-US" dirty="0" err="1"/>
              <a:t>Risti</a:t>
            </a:r>
            <a:r>
              <a:rPr lang="en-US" dirty="0"/>
              <a:t> (1-13), </a:t>
            </a:r>
            <a:r>
              <a:rPr lang="en-US" dirty="0" err="1"/>
              <a:t>Pata</a:t>
            </a:r>
            <a:r>
              <a:rPr lang="en-US" dirty="0"/>
              <a:t> (1-13)</a:t>
            </a:r>
          </a:p>
          <a:p>
            <a:endParaRPr lang="fi-FI" dirty="0"/>
          </a:p>
        </p:txBody>
      </p:sp>
    </p:spTree>
    <p:extLst>
      <p:ext uri="{BB962C8B-B14F-4D97-AF65-F5344CB8AC3E}">
        <p14:creationId xmlns:p14="http://schemas.microsoft.com/office/powerpoint/2010/main" val="25767455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5F8C-CF58-CDC3-6FC1-C8742CBB022A}"/>
              </a:ext>
            </a:extLst>
          </p:cNvPr>
          <p:cNvSpPr>
            <a:spLocks noGrp="1"/>
          </p:cNvSpPr>
          <p:nvPr>
            <p:ph type="title"/>
          </p:nvPr>
        </p:nvSpPr>
        <p:spPr/>
        <p:txBody>
          <a:bodyPr/>
          <a:lstStyle/>
          <a:p>
            <a:r>
              <a:rPr lang="fi-FI" dirty="0" err="1"/>
              <a:t>Comparator</a:t>
            </a:r>
            <a:r>
              <a:rPr lang="fi-FI" dirty="0"/>
              <a:t>-luokka</a:t>
            </a:r>
          </a:p>
        </p:txBody>
      </p:sp>
      <p:sp>
        <p:nvSpPr>
          <p:cNvPr id="3" name="Content Placeholder 2">
            <a:extLst>
              <a:ext uri="{FF2B5EF4-FFF2-40B4-BE49-F238E27FC236}">
                <a16:creationId xmlns:a16="http://schemas.microsoft.com/office/drawing/2014/main" id="{95A36EAE-C290-B5EE-B8EC-99D578B661E0}"/>
              </a:ext>
            </a:extLst>
          </p:cNvPr>
          <p:cNvSpPr>
            <a:spLocks noGrp="1"/>
          </p:cNvSpPr>
          <p:nvPr>
            <p:ph idx="1"/>
          </p:nvPr>
        </p:nvSpPr>
        <p:spPr/>
        <p:txBody>
          <a:bodyPr>
            <a:normAutofit fontScale="92500" lnSpcReduction="20000"/>
          </a:bodyPr>
          <a:lstStyle/>
          <a:p>
            <a:r>
              <a:rPr lang="fi-FI" dirty="0"/>
              <a:t>Usein olioita halutaan järjestää useamman asian perusteella. Esimerkiksi vaalien ehdokkaat voidaan haluta järjestää nimen, puolueen, äänimäärän tai vertailuluvun perusteella.</a:t>
            </a:r>
          </a:p>
          <a:p>
            <a:r>
              <a:rPr lang="fi-FI" dirty="0"/>
              <a:t>Oletusjärjestyksiä (</a:t>
            </a:r>
            <a:r>
              <a:rPr lang="fi-FI" dirty="0" err="1"/>
              <a:t>Comparable</a:t>
            </a:r>
            <a:r>
              <a:rPr lang="fi-FI" dirty="0"/>
              <a:t>) voi olla vain yksi. Muut järjestämiset voidaan toteuttaa </a:t>
            </a:r>
            <a:r>
              <a:rPr lang="fi-FI" dirty="0" err="1"/>
              <a:t>Comparator</a:t>
            </a:r>
            <a:r>
              <a:rPr lang="fi-FI" dirty="0"/>
              <a:t>-luokan avulla.</a:t>
            </a:r>
          </a:p>
          <a:p>
            <a:r>
              <a:rPr lang="fi-FI" dirty="0"/>
              <a:t>Perinteinen tapa oli tehdä omat vertailijaluokat Javan nimettöminä sisäluokkina. Tässä tavassa syntyi paljon koodia, eikä sitä kannata enää käyttää. Tässä esimerkki, tosin C#:</a:t>
            </a:r>
            <a:r>
              <a:rPr lang="fi-FI" dirty="0" err="1"/>
              <a:t>lla</a:t>
            </a:r>
            <a:r>
              <a:rPr lang="fi-FI" dirty="0"/>
              <a:t>:</a:t>
            </a:r>
          </a:p>
          <a:p>
            <a:pPr lvl="1"/>
            <a:r>
              <a:rPr lang="fi-FI" dirty="0">
                <a:hlinkClick r:id="rId2"/>
              </a:rPr>
              <a:t>https://learn.microsoft.com/en-US/troubleshoot/developer/visualstudio/csharp/language-compilers/use-icomparable-icomparer</a:t>
            </a:r>
            <a:r>
              <a:rPr lang="fi-FI" dirty="0"/>
              <a:t> </a:t>
            </a:r>
          </a:p>
          <a:p>
            <a:r>
              <a:rPr lang="fi-FI" dirty="0"/>
              <a:t>MOOC 2020 -materiaalissa ei ole enää esitetty tätä perinteistä tapaa, vaan järjestämisessä on käytetty lambda-lauseketta ja metodeja </a:t>
            </a:r>
            <a:r>
              <a:rPr lang="fi-FI" dirty="0" err="1"/>
              <a:t>comparing</a:t>
            </a:r>
            <a:r>
              <a:rPr lang="fi-FI" dirty="0"/>
              <a:t> ja </a:t>
            </a:r>
            <a:r>
              <a:rPr lang="fi-FI" dirty="0" err="1"/>
              <a:t>thenComparing</a:t>
            </a:r>
            <a:r>
              <a:rPr lang="fi-FI" dirty="0"/>
              <a:t>. Näitä </a:t>
            </a:r>
            <a:r>
              <a:rPr lang="fi-FI" dirty="0" err="1"/>
              <a:t>tapojakäytetään</a:t>
            </a:r>
            <a:r>
              <a:rPr lang="fi-FI" dirty="0"/>
              <a:t> myös meidän kurssilla.</a:t>
            </a:r>
          </a:p>
        </p:txBody>
      </p:sp>
    </p:spTree>
    <p:extLst>
      <p:ext uri="{BB962C8B-B14F-4D97-AF65-F5344CB8AC3E}">
        <p14:creationId xmlns:p14="http://schemas.microsoft.com/office/powerpoint/2010/main" val="27985603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EEDA4-E994-DE7C-EDEE-998DBCB3AFCB}"/>
              </a:ext>
            </a:extLst>
          </p:cNvPr>
          <p:cNvSpPr>
            <a:spLocks noGrp="1"/>
          </p:cNvSpPr>
          <p:nvPr>
            <p:ph type="title"/>
          </p:nvPr>
        </p:nvSpPr>
        <p:spPr/>
        <p:txBody>
          <a:bodyPr/>
          <a:lstStyle/>
          <a:p>
            <a:r>
              <a:rPr lang="fi-FI" dirty="0" err="1"/>
              <a:t>Comparer</a:t>
            </a:r>
            <a:r>
              <a:rPr lang="fi-FI" dirty="0"/>
              <a:t>, </a:t>
            </a:r>
            <a:r>
              <a:rPr lang="fi-FI" dirty="0" err="1"/>
              <a:t>comparing</a:t>
            </a:r>
            <a:r>
              <a:rPr lang="fi-FI" dirty="0"/>
              <a:t> ja </a:t>
            </a:r>
            <a:r>
              <a:rPr lang="fi-FI" dirty="0" err="1"/>
              <a:t>thenComparing</a:t>
            </a:r>
            <a:r>
              <a:rPr lang="fi-FI" dirty="0"/>
              <a:t> </a:t>
            </a:r>
          </a:p>
        </p:txBody>
      </p:sp>
      <p:sp>
        <p:nvSpPr>
          <p:cNvPr id="3" name="Content Placeholder 2">
            <a:extLst>
              <a:ext uri="{FF2B5EF4-FFF2-40B4-BE49-F238E27FC236}">
                <a16:creationId xmlns:a16="http://schemas.microsoft.com/office/drawing/2014/main" id="{7CA34268-749B-9273-1C89-5009C332BFED}"/>
              </a:ext>
            </a:extLst>
          </p:cNvPr>
          <p:cNvSpPr>
            <a:spLocks noGrp="1"/>
          </p:cNvSpPr>
          <p:nvPr>
            <p:ph idx="1"/>
          </p:nvPr>
        </p:nvSpPr>
        <p:spPr>
          <a:xfrm>
            <a:off x="838200" y="1825625"/>
            <a:ext cx="5154827" cy="4351338"/>
          </a:xfrm>
        </p:spPr>
        <p:txBody>
          <a:bodyPr>
            <a:normAutofit fontScale="85000" lnSpcReduction="20000"/>
          </a:bodyPr>
          <a:lstStyle/>
          <a:p>
            <a:r>
              <a:rPr lang="fi-FI" dirty="0" err="1"/>
              <a:t>Comparator</a:t>
            </a:r>
            <a:r>
              <a:rPr lang="fi-FI" dirty="0"/>
              <a:t>-luokassa on järjestämistä varten mm. metodit: </a:t>
            </a:r>
            <a:r>
              <a:rPr lang="fi-FI" dirty="0" err="1"/>
              <a:t>comparing</a:t>
            </a:r>
            <a:r>
              <a:rPr lang="fi-FI" dirty="0"/>
              <a:t> ja </a:t>
            </a:r>
            <a:r>
              <a:rPr lang="fi-FI" dirty="0" err="1"/>
              <a:t>thenComparing</a:t>
            </a:r>
            <a:r>
              <a:rPr lang="fi-FI" dirty="0"/>
              <a:t>.</a:t>
            </a:r>
          </a:p>
          <a:p>
            <a:r>
              <a:rPr lang="fi-FI" dirty="0"/>
              <a:t>Metodille </a:t>
            </a:r>
            <a:r>
              <a:rPr lang="fi-FI" dirty="0" err="1"/>
              <a:t>comparing</a:t>
            </a:r>
            <a:r>
              <a:rPr lang="fi-FI" dirty="0"/>
              <a:t> kerrotaan ensin verrattava arvo, ja metodille </a:t>
            </a:r>
            <a:r>
              <a:rPr lang="fi-FI" dirty="0" err="1"/>
              <a:t>thenComparing</a:t>
            </a:r>
            <a:r>
              <a:rPr lang="fi-FI" dirty="0"/>
              <a:t> seuraavaksi verrattava arvo.</a:t>
            </a:r>
          </a:p>
          <a:p>
            <a:r>
              <a:rPr lang="fi-FI" dirty="0"/>
              <a:t>Metodia </a:t>
            </a:r>
            <a:r>
              <a:rPr lang="fi-FI" dirty="0" err="1"/>
              <a:t>thenComparing</a:t>
            </a:r>
            <a:r>
              <a:rPr lang="fi-FI" dirty="0"/>
              <a:t> voi käyttää metodeja ketjuttaen</a:t>
            </a:r>
          </a:p>
          <a:p>
            <a:r>
              <a:rPr lang="fi-FI" dirty="0"/>
              <a:t>Huomaa, että esimerkissä tehdään vertailija-metodi, joka annetaan parametriksi </a:t>
            </a:r>
            <a:r>
              <a:rPr lang="fi-FI" dirty="0" err="1"/>
              <a:t>Collections.sort:lle</a:t>
            </a:r>
            <a:r>
              <a:rPr lang="fi-FI" dirty="0"/>
              <a:t>. Tämä on siis lyhyempi tapa samaan asiaan kuin vanha perinteinen tapa.</a:t>
            </a:r>
          </a:p>
        </p:txBody>
      </p:sp>
      <p:sp>
        <p:nvSpPr>
          <p:cNvPr id="5" name="TextBox 4">
            <a:extLst>
              <a:ext uri="{FF2B5EF4-FFF2-40B4-BE49-F238E27FC236}">
                <a16:creationId xmlns:a16="http://schemas.microsoft.com/office/drawing/2014/main" id="{C3DC2917-E97A-8DCE-EF3C-C08EAFFF197B}"/>
              </a:ext>
            </a:extLst>
          </p:cNvPr>
          <p:cNvSpPr txBox="1"/>
          <p:nvPr/>
        </p:nvSpPr>
        <p:spPr>
          <a:xfrm>
            <a:off x="6469696" y="1690688"/>
            <a:ext cx="5552818" cy="4832092"/>
          </a:xfrm>
          <a:prstGeom prst="rect">
            <a:avLst/>
          </a:prstGeom>
          <a:noFill/>
        </p:spPr>
        <p:txBody>
          <a:bodyPr wrap="square">
            <a:spAutoFit/>
          </a:bodyPr>
          <a:lstStyle/>
          <a:p>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hannu</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"Hannu"</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"Hanhi"</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1925</a:t>
            </a:r>
            <a:r>
              <a:rPr lang="fi-FI" sz="1400" b="0" dirty="0">
                <a:solidFill>
                  <a:srgbClr val="000000"/>
                </a:solidFill>
                <a:effectLst/>
                <a:latin typeface="Consolas" panose="020B0609020204030204" pitchFamily="49" charset="0"/>
              </a:rPr>
              <a:t>);</a:t>
            </a:r>
          </a:p>
          <a:p>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aku</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"Aku"</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"Ankka"</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1922</a:t>
            </a:r>
            <a:r>
              <a:rPr lang="fi-FI" sz="1400" b="0" dirty="0">
                <a:solidFill>
                  <a:srgbClr val="000000"/>
                </a:solidFill>
                <a:effectLst/>
                <a:latin typeface="Consolas" panose="020B0609020204030204" pitchFamily="49" charset="0"/>
              </a:rPr>
              <a:t>);</a:t>
            </a:r>
          </a:p>
          <a:p>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mikki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"Mikki"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"Hiiri"</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1920</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&gt; </a:t>
            </a:r>
            <a:r>
              <a:rPr lang="fi-FI" sz="1400" b="0" dirty="0" err="1">
                <a:solidFill>
                  <a:srgbClr val="000000"/>
                </a:solidFill>
                <a:effectLst/>
                <a:latin typeface="Consolas" panose="020B0609020204030204" pitchFamily="49" charset="0"/>
              </a:rPr>
              <a:t>henkilot</a:t>
            </a:r>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r>
              <a:rPr lang="fi-FI" sz="1400" b="0" dirty="0" err="1">
                <a:solidFill>
                  <a:srgbClr val="000000"/>
                </a:solidFill>
                <a:effectLst/>
                <a:latin typeface="Consolas" panose="020B0609020204030204" pitchFamily="49" charset="0"/>
              </a:rPr>
              <a:t>henkilot.add</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hannu</a:t>
            </a:r>
            <a:r>
              <a:rPr lang="fi-FI" sz="1400" b="0" dirty="0">
                <a:solidFill>
                  <a:srgbClr val="000000"/>
                </a:solidFill>
                <a:effectLst/>
                <a:latin typeface="Consolas" panose="020B0609020204030204" pitchFamily="49" charset="0"/>
              </a:rPr>
              <a:t>);</a:t>
            </a:r>
          </a:p>
          <a:p>
            <a:r>
              <a:rPr lang="fi-FI" sz="1400" b="0" dirty="0" err="1">
                <a:solidFill>
                  <a:srgbClr val="000000"/>
                </a:solidFill>
                <a:effectLst/>
                <a:latin typeface="Consolas" panose="020B0609020204030204" pitchFamily="49" charset="0"/>
              </a:rPr>
              <a:t>henkilot.add</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aku</a:t>
            </a:r>
            <a:r>
              <a:rPr lang="fi-FI" sz="1400" b="0" dirty="0">
                <a:solidFill>
                  <a:srgbClr val="000000"/>
                </a:solidFill>
                <a:effectLst/>
                <a:latin typeface="Consolas" panose="020B0609020204030204" pitchFamily="49" charset="0"/>
              </a:rPr>
              <a:t>);</a:t>
            </a:r>
          </a:p>
          <a:p>
            <a:r>
              <a:rPr lang="fi-FI" sz="1400" b="0" dirty="0" err="1">
                <a:solidFill>
                  <a:srgbClr val="000000"/>
                </a:solidFill>
                <a:effectLst/>
                <a:latin typeface="Consolas" panose="020B0609020204030204" pitchFamily="49" charset="0"/>
              </a:rPr>
              <a:t>henkilot.add</a:t>
            </a:r>
            <a:r>
              <a:rPr lang="fi-FI" sz="1400" b="0" dirty="0">
                <a:solidFill>
                  <a:srgbClr val="000000"/>
                </a:solidFill>
                <a:effectLst/>
                <a:latin typeface="Consolas" panose="020B0609020204030204" pitchFamily="49" charset="0"/>
              </a:rPr>
              <a:t>(mikki);</a:t>
            </a:r>
          </a:p>
          <a:p>
            <a:br>
              <a:rPr lang="fi-FI" sz="1400" b="0" dirty="0">
                <a:solidFill>
                  <a:srgbClr val="000000"/>
                </a:solidFill>
                <a:effectLst/>
                <a:latin typeface="Consolas" panose="020B0609020204030204" pitchFamily="49" charset="0"/>
              </a:rPr>
            </a:br>
            <a:r>
              <a:rPr lang="fi-FI" sz="1400" b="0" dirty="0">
                <a:solidFill>
                  <a:srgbClr val="008000"/>
                </a:solidFill>
                <a:effectLst/>
                <a:latin typeface="Consolas" panose="020B0609020204030204" pitchFamily="49" charset="0"/>
              </a:rPr>
              <a:t>// järjestetään syntymävuoden ja sukunimen mukaan</a:t>
            </a:r>
            <a:endParaRPr lang="fi-FI" sz="1400" b="0" dirty="0">
              <a:solidFill>
                <a:srgbClr val="000000"/>
              </a:solidFill>
              <a:effectLst/>
              <a:latin typeface="Consolas" panose="020B0609020204030204" pitchFamily="49" charset="0"/>
            </a:endParaRPr>
          </a:p>
          <a:p>
            <a:r>
              <a:rPr lang="fi-FI" sz="1400" b="0" dirty="0" err="1">
                <a:solidFill>
                  <a:srgbClr val="0000FF"/>
                </a:solidFill>
                <a:effectLst/>
                <a:latin typeface="Consolas" panose="020B0609020204030204" pitchFamily="49" charset="0"/>
              </a:rPr>
              <a:t>Comparator</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&gt; vertailija = </a:t>
            </a:r>
            <a:r>
              <a:rPr lang="fi-FI" sz="1400" b="0" dirty="0" err="1">
                <a:solidFill>
                  <a:srgbClr val="0000FF"/>
                </a:solidFill>
                <a:effectLst/>
                <a:latin typeface="Consolas" panose="020B0609020204030204" pitchFamily="49" charset="0"/>
              </a:rPr>
              <a:t>Comparator</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comparing</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Henkilo</a:t>
            </a:r>
            <a:r>
              <a:rPr lang="fi-FI" sz="1400" b="0" dirty="0">
                <a:solidFill>
                  <a:srgbClr val="0000FF"/>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getSyntymavuosi</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thenComparing</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Henkilo</a:t>
            </a:r>
            <a:r>
              <a:rPr lang="fi-FI" sz="1400" b="0" dirty="0">
                <a:solidFill>
                  <a:srgbClr val="0000FF"/>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getSukunimi</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err="1">
                <a:solidFill>
                  <a:srgbClr val="000000"/>
                </a:solidFill>
                <a:effectLst/>
                <a:latin typeface="Consolas" panose="020B0609020204030204" pitchFamily="49" charset="0"/>
              </a:rPr>
              <a:t>Collections.sort</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henkilot</a:t>
            </a:r>
            <a:r>
              <a:rPr lang="fi-FI" sz="1400" b="0" dirty="0">
                <a:solidFill>
                  <a:srgbClr val="000000"/>
                </a:solidFill>
                <a:effectLst/>
                <a:latin typeface="Consolas" panose="020B0609020204030204" pitchFamily="49" charset="0"/>
              </a:rPr>
              <a:t>, vertailija);</a:t>
            </a:r>
          </a:p>
          <a:p>
            <a:br>
              <a:rPr lang="fi-FI" sz="1400" b="0" dirty="0">
                <a:solidFill>
                  <a:srgbClr val="000000"/>
                </a:solidFill>
                <a:effectLst/>
                <a:latin typeface="Consolas" panose="020B0609020204030204" pitchFamily="49" charset="0"/>
              </a:rPr>
            </a:b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henkilot</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henkilo</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2384321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6C27E-0366-D895-4702-8AC019A617EA}"/>
              </a:ext>
            </a:extLst>
          </p:cNvPr>
          <p:cNvSpPr>
            <a:spLocks noGrp="1"/>
          </p:cNvSpPr>
          <p:nvPr>
            <p:ph type="title"/>
          </p:nvPr>
        </p:nvSpPr>
        <p:spPr/>
        <p:txBody>
          <a:bodyPr/>
          <a:lstStyle/>
          <a:p>
            <a:r>
              <a:rPr lang="fi-FI" dirty="0"/>
              <a:t>Järjestäminen lambda-lausekkeella</a:t>
            </a:r>
          </a:p>
        </p:txBody>
      </p:sp>
      <p:sp>
        <p:nvSpPr>
          <p:cNvPr id="3" name="Content Placeholder 2">
            <a:extLst>
              <a:ext uri="{FF2B5EF4-FFF2-40B4-BE49-F238E27FC236}">
                <a16:creationId xmlns:a16="http://schemas.microsoft.com/office/drawing/2014/main" id="{D3FFF775-0EF4-6205-2AF9-E51D396800C5}"/>
              </a:ext>
            </a:extLst>
          </p:cNvPr>
          <p:cNvSpPr>
            <a:spLocks noGrp="1"/>
          </p:cNvSpPr>
          <p:nvPr>
            <p:ph idx="1"/>
          </p:nvPr>
        </p:nvSpPr>
        <p:spPr/>
        <p:txBody>
          <a:bodyPr>
            <a:normAutofit/>
          </a:bodyPr>
          <a:lstStyle/>
          <a:p>
            <a:r>
              <a:rPr lang="fi-FI" dirty="0"/>
              <a:t>Lista voidaan järjestää myös ilman </a:t>
            </a:r>
            <a:r>
              <a:rPr lang="fi-FI" dirty="0" err="1"/>
              <a:t>Comparable</a:t>
            </a:r>
            <a:r>
              <a:rPr lang="fi-FI" dirty="0"/>
              <a:t>-rajapinnan toteuttamista.</a:t>
            </a:r>
          </a:p>
          <a:p>
            <a:r>
              <a:rPr lang="fi-FI" dirty="0" err="1"/>
              <a:t>Collections.sort</a:t>
            </a:r>
            <a:r>
              <a:rPr lang="fi-FI" dirty="0"/>
              <a:t>-metodille (ja virran metodille </a:t>
            </a:r>
            <a:r>
              <a:rPr lang="fi-FI" dirty="0" err="1"/>
              <a:t>sorted</a:t>
            </a:r>
            <a:r>
              <a:rPr lang="fi-FI" dirty="0"/>
              <a:t>) voidaan antaa parametrina lambda-lauseke, joka määrittelee järjestämissäännön.</a:t>
            </a:r>
          </a:p>
          <a:p>
            <a:r>
              <a:rPr lang="fi-FI" dirty="0" err="1"/>
              <a:t>Sort</a:t>
            </a:r>
            <a:r>
              <a:rPr lang="fi-FI" dirty="0"/>
              <a:t>-metodille voidaan antaa </a:t>
            </a:r>
            <a:r>
              <a:rPr lang="fi-FI" dirty="0" err="1"/>
              <a:t>Comparator</a:t>
            </a:r>
            <a:r>
              <a:rPr lang="fi-FI" dirty="0"/>
              <a:t>-rajapinnan toteuttama olio, joka määrittelee halutun järjestyksen. Lambda-lausekkeen avulla luodaan tämä olio.</a:t>
            </a:r>
          </a:p>
          <a:p>
            <a:pPr lvl="1"/>
            <a:r>
              <a:rPr lang="fi-FI" b="0" dirty="0" err="1">
                <a:solidFill>
                  <a:srgbClr val="000000"/>
                </a:solidFill>
                <a:effectLst/>
                <a:latin typeface="Consolas" panose="020B0609020204030204" pitchFamily="49" charset="0"/>
              </a:rPr>
              <a:t>Collections.sort</a:t>
            </a:r>
            <a:r>
              <a:rPr lang="fi-FI" b="0" dirty="0">
                <a:solidFill>
                  <a:srgbClr val="000000"/>
                </a:solidFill>
                <a:effectLst/>
                <a:latin typeface="Consolas" panose="020B0609020204030204" pitchFamily="49" charset="0"/>
              </a:rPr>
              <a:t>(</a:t>
            </a:r>
            <a:r>
              <a:rPr lang="fi-FI" b="0" dirty="0" err="1">
                <a:solidFill>
                  <a:srgbClr val="000000"/>
                </a:solidFill>
                <a:effectLst/>
                <a:latin typeface="Consolas" panose="020B0609020204030204" pitchFamily="49" charset="0"/>
              </a:rPr>
              <a:t>henkilot</a:t>
            </a:r>
            <a:r>
              <a:rPr lang="fi-FI" b="0" dirty="0">
                <a:solidFill>
                  <a:srgbClr val="000000"/>
                </a:solidFill>
                <a:effectLst/>
                <a:latin typeface="Consolas" panose="020B0609020204030204" pitchFamily="49" charset="0"/>
              </a:rPr>
              <a:t>, (h1, h2) </a:t>
            </a:r>
            <a:r>
              <a:rPr lang="fi-FI" b="0" dirty="0">
                <a:solidFill>
                  <a:srgbClr val="0000FF"/>
                </a:solidFill>
                <a:effectLst/>
                <a:latin typeface="Consolas" panose="020B0609020204030204" pitchFamily="49" charset="0"/>
              </a:rPr>
              <a:t>-&gt;</a:t>
            </a:r>
            <a:r>
              <a:rPr lang="fi-FI" b="0" dirty="0">
                <a:solidFill>
                  <a:srgbClr val="000000"/>
                </a:solidFill>
                <a:effectLst/>
                <a:latin typeface="Consolas" panose="020B0609020204030204" pitchFamily="49" charset="0"/>
              </a:rPr>
              <a:t> 	h1.getSyntymavuosi() - h2.getSyntymavuosi());</a:t>
            </a:r>
            <a:endParaRPr lang="fi-FI" dirty="0"/>
          </a:p>
          <a:p>
            <a:r>
              <a:rPr lang="fi-FI" dirty="0"/>
              <a:t>Katsotaan järjestämistä </a:t>
            </a:r>
            <a:r>
              <a:rPr lang="fi-FI" dirty="0" err="1"/>
              <a:t>streamien</a:t>
            </a:r>
            <a:r>
              <a:rPr lang="fi-FI" dirty="0"/>
              <a:t> avulla myöhemmin.</a:t>
            </a:r>
          </a:p>
        </p:txBody>
      </p:sp>
    </p:spTree>
    <p:extLst>
      <p:ext uri="{BB962C8B-B14F-4D97-AF65-F5344CB8AC3E}">
        <p14:creationId xmlns:p14="http://schemas.microsoft.com/office/powerpoint/2010/main" val="18332204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BF84B-5D46-90A2-0E4B-47007219C74E}"/>
              </a:ext>
            </a:extLst>
          </p:cNvPr>
          <p:cNvSpPr>
            <a:spLocks noGrp="1"/>
          </p:cNvSpPr>
          <p:nvPr>
            <p:ph type="title"/>
          </p:nvPr>
        </p:nvSpPr>
        <p:spPr/>
        <p:txBody>
          <a:bodyPr/>
          <a:lstStyle/>
          <a:p>
            <a:r>
              <a:rPr lang="fi-FI" dirty="0"/>
              <a:t>Järjestäminen lambda-lausekkeella</a:t>
            </a:r>
          </a:p>
        </p:txBody>
      </p:sp>
      <p:sp>
        <p:nvSpPr>
          <p:cNvPr id="3" name="Content Placeholder 2">
            <a:extLst>
              <a:ext uri="{FF2B5EF4-FFF2-40B4-BE49-F238E27FC236}">
                <a16:creationId xmlns:a16="http://schemas.microsoft.com/office/drawing/2014/main" id="{01844A6C-D52A-EC48-AB76-3652FA9ECEF1}"/>
              </a:ext>
            </a:extLst>
          </p:cNvPr>
          <p:cNvSpPr>
            <a:spLocks noGrp="1"/>
          </p:cNvSpPr>
          <p:nvPr>
            <p:ph idx="1"/>
          </p:nvPr>
        </p:nvSpPr>
        <p:spPr>
          <a:xfrm>
            <a:off x="838200" y="1825625"/>
            <a:ext cx="4631210" cy="4351338"/>
          </a:xfrm>
        </p:spPr>
        <p:txBody>
          <a:bodyPr/>
          <a:lstStyle/>
          <a:p>
            <a:r>
              <a:rPr lang="fi-FI" dirty="0"/>
              <a:t>Ohessa järjestäminen lambda-lausekkeen avulla</a:t>
            </a:r>
          </a:p>
          <a:p>
            <a:r>
              <a:rPr lang="fi-FI" dirty="0"/>
              <a:t>Tässä esimerkissä vertailusääntö luodaan ”lennossa”</a:t>
            </a:r>
          </a:p>
          <a:p>
            <a:pPr marL="0" indent="0">
              <a:buNone/>
            </a:pPr>
            <a:endParaRPr lang="fi-FI" dirty="0"/>
          </a:p>
        </p:txBody>
      </p:sp>
      <p:sp>
        <p:nvSpPr>
          <p:cNvPr id="5" name="TextBox 4">
            <a:extLst>
              <a:ext uri="{FF2B5EF4-FFF2-40B4-BE49-F238E27FC236}">
                <a16:creationId xmlns:a16="http://schemas.microsoft.com/office/drawing/2014/main" id="{94257F00-2F63-979A-1567-98C55C678D05}"/>
              </a:ext>
            </a:extLst>
          </p:cNvPr>
          <p:cNvSpPr txBox="1"/>
          <p:nvPr/>
        </p:nvSpPr>
        <p:spPr>
          <a:xfrm>
            <a:off x="5469410" y="1825625"/>
            <a:ext cx="6722590" cy="4893647"/>
          </a:xfrm>
          <a:prstGeom prst="rect">
            <a:avLst/>
          </a:prstGeom>
          <a:noFill/>
        </p:spPr>
        <p:txBody>
          <a:bodyPr wrap="square">
            <a:spAutoFit/>
          </a:bodyPr>
          <a:lstStyle/>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"Hanhi"</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1925</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"Ankka"</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1922</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minni</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"Minni"</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"Hiiri"</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1921</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mikki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"Mikki"</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A31515"/>
                </a:solidFill>
                <a:effectLst/>
                <a:latin typeface="Consolas" panose="020B0609020204030204" pitchFamily="49" charset="0"/>
              </a:rPr>
              <a:t>"Hiiri"</a:t>
            </a:r>
            <a:r>
              <a:rPr lang="fi-FI" sz="1200" b="0" dirty="0">
                <a:solidFill>
                  <a:srgbClr val="000000"/>
                </a:solidFill>
                <a:effectLst/>
                <a:latin typeface="Consolas" panose="020B0609020204030204" pitchFamily="49" charset="0"/>
              </a:rPr>
              <a:t>, </a:t>
            </a:r>
            <a:r>
              <a:rPr lang="fi-FI" sz="1200" b="0" dirty="0">
                <a:solidFill>
                  <a:srgbClr val="098658"/>
                </a:solidFill>
                <a:effectLst/>
                <a:latin typeface="Consolas" panose="020B0609020204030204" pitchFamily="49" charset="0"/>
              </a:rPr>
              <a:t>1920</a:t>
            </a:r>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&gt; </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hannu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aku</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minni</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henkilot.add</a:t>
            </a:r>
            <a:r>
              <a:rPr lang="fi-FI" sz="1200" b="0" dirty="0">
                <a:solidFill>
                  <a:srgbClr val="000000"/>
                </a:solidFill>
                <a:effectLst/>
                <a:latin typeface="Consolas" panose="020B0609020204030204" pitchFamily="49" charset="0"/>
              </a:rPr>
              <a:t>(mikki);</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Collections.sort</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 (h1, h2)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int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 =  h1.getSukunimi().</a:t>
            </a:r>
            <a:r>
              <a:rPr lang="fi-FI" sz="1200" b="0" dirty="0" err="1">
                <a:solidFill>
                  <a:srgbClr val="000000"/>
                </a:solidFill>
                <a:effectLst/>
                <a:latin typeface="Consolas" panose="020B0609020204030204" pitchFamily="49" charset="0"/>
              </a:rPr>
              <a:t>compareTo</a:t>
            </a:r>
            <a:r>
              <a:rPr lang="fi-FI" sz="1200" b="0" dirty="0">
                <a:solidFill>
                  <a:srgbClr val="000000"/>
                </a:solidFill>
                <a:effectLst/>
                <a:latin typeface="Consolas" panose="020B0609020204030204" pitchFamily="49" charset="0"/>
              </a:rPr>
              <a:t>(h2.getSukunimi());</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0</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 = h1.getEtunimi().</a:t>
            </a:r>
            <a:r>
              <a:rPr lang="fi-FI" sz="1200" b="0" dirty="0" err="1">
                <a:solidFill>
                  <a:srgbClr val="000000"/>
                </a:solidFill>
                <a:effectLst/>
                <a:latin typeface="Consolas" panose="020B0609020204030204" pitchFamily="49" charset="0"/>
              </a:rPr>
              <a:t>compareTo</a:t>
            </a:r>
            <a:r>
              <a:rPr lang="fi-FI" sz="1200" b="0" dirty="0">
                <a:solidFill>
                  <a:srgbClr val="000000"/>
                </a:solidFill>
                <a:effectLst/>
                <a:latin typeface="Consolas" panose="020B0609020204030204" pitchFamily="49" charset="0"/>
              </a:rPr>
              <a:t>(h2.getEtunimi());</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return</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result</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henkilot</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henkilo</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881205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FB0F5-95E2-391B-24DB-AD1D7B034C67}"/>
              </a:ext>
            </a:extLst>
          </p:cNvPr>
          <p:cNvSpPr>
            <a:spLocks noGrp="1"/>
          </p:cNvSpPr>
          <p:nvPr>
            <p:ph type="title"/>
          </p:nvPr>
        </p:nvSpPr>
        <p:spPr/>
        <p:txBody>
          <a:bodyPr/>
          <a:lstStyle/>
          <a:p>
            <a:r>
              <a:rPr lang="fi-FI" dirty="0"/>
              <a:t>Järjestäminen lambda-lausekkeella</a:t>
            </a:r>
          </a:p>
        </p:txBody>
      </p:sp>
      <p:sp>
        <p:nvSpPr>
          <p:cNvPr id="3" name="Content Placeholder 2">
            <a:extLst>
              <a:ext uri="{FF2B5EF4-FFF2-40B4-BE49-F238E27FC236}">
                <a16:creationId xmlns:a16="http://schemas.microsoft.com/office/drawing/2014/main" id="{04631850-9DC0-5D6C-1FD7-3EBD8BB225DA}"/>
              </a:ext>
            </a:extLst>
          </p:cNvPr>
          <p:cNvSpPr>
            <a:spLocks noGrp="1"/>
          </p:cNvSpPr>
          <p:nvPr>
            <p:ph idx="1"/>
          </p:nvPr>
        </p:nvSpPr>
        <p:spPr>
          <a:xfrm>
            <a:off x="838200" y="1859692"/>
            <a:ext cx="9510584" cy="1736124"/>
          </a:xfrm>
        </p:spPr>
        <p:txBody>
          <a:bodyPr>
            <a:normAutofit fontScale="92500" lnSpcReduction="10000"/>
          </a:bodyPr>
          <a:lstStyle/>
          <a:p>
            <a:r>
              <a:rPr lang="fi-FI" dirty="0"/>
              <a:t>Edellä oleva esimerkki voidaan tehdä myös alla olevalla tavalla</a:t>
            </a:r>
          </a:p>
          <a:p>
            <a:r>
              <a:rPr lang="fi-FI" dirty="0"/>
              <a:t>Lambda-lausekkeen käyttö järjestämisessä </a:t>
            </a:r>
            <a:r>
              <a:rPr lang="fi-FI"/>
              <a:t>on ehkä selkeintä</a:t>
            </a:r>
            <a:r>
              <a:rPr lang="fi-FI" dirty="0"/>
              <a:t>. </a:t>
            </a:r>
          </a:p>
          <a:p>
            <a:r>
              <a:rPr lang="fi-FI" dirty="0"/>
              <a:t>Kaikki sovelluksessa tarvittavat vertailut voi toteuttaa hyvin alla olevalla tavalla</a:t>
            </a:r>
          </a:p>
        </p:txBody>
      </p:sp>
      <p:sp>
        <p:nvSpPr>
          <p:cNvPr id="5" name="TextBox 4">
            <a:extLst>
              <a:ext uri="{FF2B5EF4-FFF2-40B4-BE49-F238E27FC236}">
                <a16:creationId xmlns:a16="http://schemas.microsoft.com/office/drawing/2014/main" id="{E04DC2F9-41C2-416B-7F35-ECC3CAE2744D}"/>
              </a:ext>
            </a:extLst>
          </p:cNvPr>
          <p:cNvSpPr txBox="1"/>
          <p:nvPr/>
        </p:nvSpPr>
        <p:spPr>
          <a:xfrm>
            <a:off x="1416392" y="3855308"/>
            <a:ext cx="8481369" cy="2062103"/>
          </a:xfrm>
          <a:prstGeom prst="rect">
            <a:avLst/>
          </a:prstGeom>
          <a:noFill/>
        </p:spPr>
        <p:txBody>
          <a:bodyPr wrap="square">
            <a:spAutoFit/>
          </a:bodyPr>
          <a:lstStyle/>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Comparator</a:t>
            </a:r>
            <a:r>
              <a:rPr lang="en-US" sz="1600" b="0" dirty="0">
                <a:solidFill>
                  <a:srgbClr val="000000"/>
                </a:solidFill>
                <a:effectLst/>
                <a:latin typeface="Consolas" panose="020B0609020204030204" pitchFamily="49" charset="0"/>
              </a:rPr>
              <a:t>&lt;</a:t>
            </a:r>
            <a:r>
              <a:rPr lang="en-US" sz="1600" b="0" dirty="0" err="1">
                <a:solidFill>
                  <a:srgbClr val="0000FF"/>
                </a:solidFill>
                <a:effectLst/>
                <a:latin typeface="Consolas" panose="020B0609020204030204" pitchFamily="49" charset="0"/>
              </a:rPr>
              <a:t>Henkilo</a:t>
            </a:r>
            <a:r>
              <a:rPr lang="en-US" sz="1600" b="0" dirty="0">
                <a:solidFill>
                  <a:srgbClr val="000000"/>
                </a:solidFill>
                <a:effectLst/>
                <a:latin typeface="Consolas" panose="020B0609020204030204" pitchFamily="49" charset="0"/>
              </a:rPr>
              <a:t>&gt; </a:t>
            </a:r>
            <a:r>
              <a:rPr lang="en-US" sz="1600" b="0" dirty="0" err="1">
                <a:solidFill>
                  <a:srgbClr val="000000"/>
                </a:solidFill>
                <a:effectLst/>
                <a:latin typeface="Consolas" panose="020B0609020204030204" pitchFamily="49" charset="0"/>
              </a:rPr>
              <a:t>vertailija</a:t>
            </a:r>
            <a:r>
              <a:rPr lang="en-US" sz="1600" b="0" dirty="0">
                <a:solidFill>
                  <a:srgbClr val="000000"/>
                </a:solidFill>
                <a:effectLst/>
                <a:latin typeface="Consolas" panose="020B0609020204030204" pitchFamily="49" charset="0"/>
              </a:rPr>
              <a:t> = (h1, h2)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result =  h1.getSukunimi().</a:t>
            </a:r>
            <a:r>
              <a:rPr lang="en-US" sz="1600" b="0" dirty="0" err="1">
                <a:solidFill>
                  <a:srgbClr val="000000"/>
                </a:solidFill>
                <a:effectLst/>
                <a:latin typeface="Consolas" panose="020B0609020204030204" pitchFamily="49" charset="0"/>
              </a:rPr>
              <a:t>compareTo</a:t>
            </a:r>
            <a:r>
              <a:rPr lang="en-US" sz="1600" b="0" dirty="0">
                <a:solidFill>
                  <a:srgbClr val="000000"/>
                </a:solidFill>
                <a:effectLst/>
                <a:latin typeface="Consolas" panose="020B0609020204030204" pitchFamily="49" charset="0"/>
              </a:rPr>
              <a:t>(h2.getSukunimi());</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(result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result = h1.getEtunimi().</a:t>
            </a:r>
            <a:r>
              <a:rPr lang="en-US" sz="1600" b="0" dirty="0" err="1">
                <a:solidFill>
                  <a:srgbClr val="000000"/>
                </a:solidFill>
                <a:effectLst/>
                <a:latin typeface="Consolas" panose="020B0609020204030204" pitchFamily="49" charset="0"/>
              </a:rPr>
              <a:t>compareTo</a:t>
            </a:r>
            <a:r>
              <a:rPr lang="en-US" sz="1600" b="0" dirty="0">
                <a:solidFill>
                  <a:srgbClr val="000000"/>
                </a:solidFill>
                <a:effectLst/>
                <a:latin typeface="Consolas" panose="020B0609020204030204" pitchFamily="49" charset="0"/>
              </a:rPr>
              <a:t>(h2.getEtunimi());</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result;</a:t>
            </a:r>
          </a:p>
          <a:p>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Collections.sort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henkilot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vertailija</a:t>
            </a: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2073917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D3CDD-BC68-3026-4478-5F32DAE2FF67}"/>
              </a:ext>
            </a:extLst>
          </p:cNvPr>
          <p:cNvSpPr>
            <a:spLocks noGrp="1"/>
          </p:cNvSpPr>
          <p:nvPr>
            <p:ph type="title"/>
          </p:nvPr>
        </p:nvSpPr>
        <p:spPr>
          <a:xfrm>
            <a:off x="838200" y="365125"/>
            <a:ext cx="11086070" cy="1325563"/>
          </a:xfrm>
        </p:spPr>
        <p:txBody>
          <a:bodyPr>
            <a:normAutofit/>
          </a:bodyPr>
          <a:lstStyle/>
          <a:p>
            <a:r>
              <a:rPr lang="fi-FI" dirty="0"/>
              <a:t>Miten olioita sisältävä lista kannattaa järjestää?</a:t>
            </a:r>
          </a:p>
        </p:txBody>
      </p:sp>
      <p:sp>
        <p:nvSpPr>
          <p:cNvPr id="3" name="Content Placeholder 2">
            <a:extLst>
              <a:ext uri="{FF2B5EF4-FFF2-40B4-BE49-F238E27FC236}">
                <a16:creationId xmlns:a16="http://schemas.microsoft.com/office/drawing/2014/main" id="{43FDA945-C879-DEF4-CE20-5441D591B9D5}"/>
              </a:ext>
            </a:extLst>
          </p:cNvPr>
          <p:cNvSpPr>
            <a:spLocks noGrp="1"/>
          </p:cNvSpPr>
          <p:nvPr>
            <p:ph idx="1"/>
          </p:nvPr>
        </p:nvSpPr>
        <p:spPr>
          <a:xfrm>
            <a:off x="838200" y="1825625"/>
            <a:ext cx="10196384" cy="4351338"/>
          </a:xfrm>
        </p:spPr>
        <p:txBody>
          <a:bodyPr/>
          <a:lstStyle/>
          <a:p>
            <a:r>
              <a:rPr lang="fi-FI" dirty="0"/>
              <a:t>Oliolista kannattaa järjestää mieluummin lambda-lauseketta käyttäen kuin toteuttamalla </a:t>
            </a:r>
            <a:r>
              <a:rPr lang="fi-FI" dirty="0" err="1"/>
              <a:t>Comparable</a:t>
            </a:r>
            <a:r>
              <a:rPr lang="fi-FI" dirty="0"/>
              <a:t>-rajapinta luokkaan</a:t>
            </a:r>
          </a:p>
          <a:p>
            <a:r>
              <a:rPr lang="fi-FI" dirty="0"/>
              <a:t>Tiedostossa LueEhdokkaat2.java on esimerkkejä vertailijoista</a:t>
            </a:r>
          </a:p>
        </p:txBody>
      </p:sp>
    </p:spTree>
    <p:extLst>
      <p:ext uri="{BB962C8B-B14F-4D97-AF65-F5344CB8AC3E}">
        <p14:creationId xmlns:p14="http://schemas.microsoft.com/office/powerpoint/2010/main" val="1636835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6CF0F-81C9-5A26-F9E3-A74AA62FC102}"/>
              </a:ext>
            </a:extLst>
          </p:cNvPr>
          <p:cNvSpPr>
            <a:spLocks noGrp="1"/>
          </p:cNvSpPr>
          <p:nvPr>
            <p:ph type="title"/>
          </p:nvPr>
        </p:nvSpPr>
        <p:spPr/>
        <p:txBody>
          <a:bodyPr/>
          <a:lstStyle/>
          <a:p>
            <a:r>
              <a:rPr lang="fi-FI" dirty="0">
                <a:solidFill>
                  <a:srgbClr val="FF0000"/>
                </a:solidFill>
              </a:rPr>
              <a:t>Harjoitus</a:t>
            </a:r>
          </a:p>
        </p:txBody>
      </p:sp>
      <p:sp>
        <p:nvSpPr>
          <p:cNvPr id="3" name="Content Placeholder 2">
            <a:extLst>
              <a:ext uri="{FF2B5EF4-FFF2-40B4-BE49-F238E27FC236}">
                <a16:creationId xmlns:a16="http://schemas.microsoft.com/office/drawing/2014/main" id="{E9675B48-8681-5449-7A3B-274A968B32AC}"/>
              </a:ext>
            </a:extLst>
          </p:cNvPr>
          <p:cNvSpPr>
            <a:spLocks noGrp="1"/>
          </p:cNvSpPr>
          <p:nvPr>
            <p:ph idx="1"/>
          </p:nvPr>
        </p:nvSpPr>
        <p:spPr/>
        <p:txBody>
          <a:bodyPr/>
          <a:lstStyle/>
          <a:p>
            <a:r>
              <a:rPr lang="fi-FI" dirty="0"/>
              <a:t>Järjestä ehdokkaat</a:t>
            </a:r>
          </a:p>
          <a:p>
            <a:pPr lvl="1"/>
            <a:r>
              <a:rPr lang="fi-FI" dirty="0"/>
              <a:t>Sukunimen ja etunimen mukaan</a:t>
            </a:r>
          </a:p>
          <a:p>
            <a:pPr lvl="1"/>
            <a:r>
              <a:rPr lang="fi-FI" dirty="0"/>
              <a:t>Puolueen, sukunimen ja etunimen mukaan</a:t>
            </a:r>
          </a:p>
          <a:p>
            <a:pPr lvl="1"/>
            <a:r>
              <a:rPr lang="fi-FI" dirty="0"/>
              <a:t>Äänimäärän mukaan</a:t>
            </a:r>
          </a:p>
          <a:p>
            <a:pPr lvl="1"/>
            <a:r>
              <a:rPr lang="fi-FI" dirty="0"/>
              <a:t>Puolueen ja äänimäärän mukaan</a:t>
            </a:r>
          </a:p>
          <a:p>
            <a:pPr lvl="1"/>
            <a:r>
              <a:rPr lang="fi-FI" dirty="0"/>
              <a:t>Vertailuluvun mukaan</a:t>
            </a:r>
          </a:p>
          <a:p>
            <a:r>
              <a:rPr lang="fi-FI" dirty="0"/>
              <a:t>Järjestä kortit</a:t>
            </a:r>
          </a:p>
          <a:p>
            <a:pPr lvl="1"/>
            <a:r>
              <a:rPr lang="fi-FI" dirty="0"/>
              <a:t>Maan mukaan</a:t>
            </a:r>
          </a:p>
          <a:p>
            <a:pPr lvl="1"/>
            <a:r>
              <a:rPr lang="fi-FI" dirty="0"/>
              <a:t>Arvon mukaan</a:t>
            </a:r>
          </a:p>
          <a:p>
            <a:pPr lvl="1"/>
            <a:r>
              <a:rPr lang="fi-FI" dirty="0"/>
              <a:t>Maan ja arvon mukaan</a:t>
            </a:r>
          </a:p>
        </p:txBody>
      </p:sp>
    </p:spTree>
    <p:extLst>
      <p:ext uri="{BB962C8B-B14F-4D97-AF65-F5344CB8AC3E}">
        <p14:creationId xmlns:p14="http://schemas.microsoft.com/office/powerpoint/2010/main" val="17163653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F109-5184-9642-40F8-D5188F4F54AC}"/>
              </a:ext>
            </a:extLst>
          </p:cNvPr>
          <p:cNvSpPr>
            <a:spLocks noGrp="1"/>
          </p:cNvSpPr>
          <p:nvPr>
            <p:ph type="title"/>
          </p:nvPr>
        </p:nvSpPr>
        <p:spPr/>
        <p:txBody>
          <a:bodyPr/>
          <a:lstStyle/>
          <a:p>
            <a:r>
              <a:rPr lang="fi-FI" dirty="0">
                <a:solidFill>
                  <a:srgbClr val="FF0000"/>
                </a:solidFill>
              </a:rPr>
              <a:t>Harjoitus</a:t>
            </a:r>
            <a:endParaRPr lang="fi-FI" dirty="0"/>
          </a:p>
        </p:txBody>
      </p:sp>
      <p:sp>
        <p:nvSpPr>
          <p:cNvPr id="3" name="Content Placeholder 2">
            <a:extLst>
              <a:ext uri="{FF2B5EF4-FFF2-40B4-BE49-F238E27FC236}">
                <a16:creationId xmlns:a16="http://schemas.microsoft.com/office/drawing/2014/main" id="{5744B9C2-4B9F-7497-151C-16BCCC42189F}"/>
              </a:ext>
            </a:extLst>
          </p:cNvPr>
          <p:cNvSpPr>
            <a:spLocks noGrp="1"/>
          </p:cNvSpPr>
          <p:nvPr>
            <p:ph idx="1"/>
          </p:nvPr>
        </p:nvSpPr>
        <p:spPr/>
        <p:txBody>
          <a:bodyPr>
            <a:normAutofit lnSpcReduction="10000"/>
          </a:bodyPr>
          <a:lstStyle/>
          <a:p>
            <a:r>
              <a:rPr lang="fi-FI" dirty="0"/>
              <a:t>Tee ohjelma, joka lukee tiedoston kunnat.txt</a:t>
            </a:r>
          </a:p>
          <a:p>
            <a:r>
              <a:rPr lang="fi-FI" dirty="0"/>
              <a:t>Tee luokka </a:t>
            </a:r>
            <a:r>
              <a:rPr lang="fi-FI"/>
              <a:t>Kunta (koodi, nimi, maakunta, väkiluku, pinta-ala)</a:t>
            </a:r>
            <a:endParaRPr lang="fi-FI" dirty="0"/>
          </a:p>
          <a:p>
            <a:r>
              <a:rPr lang="fi-FI" dirty="0"/>
              <a:t>Tee olio jokaisesta kunnasta</a:t>
            </a:r>
          </a:p>
          <a:p>
            <a:r>
              <a:rPr lang="fi-FI" dirty="0"/>
              <a:t>Lisää olio listaan</a:t>
            </a:r>
          </a:p>
          <a:p>
            <a:r>
              <a:rPr lang="fi-FI" dirty="0"/>
              <a:t>Lajittele lista:</a:t>
            </a:r>
          </a:p>
          <a:p>
            <a:pPr lvl="1"/>
            <a:r>
              <a:rPr lang="fi-FI" dirty="0"/>
              <a:t>Kunnan koodin mukaan</a:t>
            </a:r>
          </a:p>
          <a:p>
            <a:pPr lvl="1"/>
            <a:r>
              <a:rPr lang="fi-FI" dirty="0"/>
              <a:t>Kunnan nimen mukaan</a:t>
            </a:r>
          </a:p>
          <a:p>
            <a:pPr lvl="1"/>
            <a:r>
              <a:rPr lang="fi-FI" dirty="0"/>
              <a:t>Maakunnan ja kunnan nimen mukaan</a:t>
            </a:r>
          </a:p>
          <a:p>
            <a:pPr lvl="1"/>
            <a:r>
              <a:rPr lang="fi-FI" dirty="0"/>
              <a:t>Väkiluvun mukaan (</a:t>
            </a:r>
            <a:r>
              <a:rPr lang="fi-FI" dirty="0" err="1"/>
              <a:t>int</a:t>
            </a:r>
            <a:r>
              <a:rPr lang="fi-FI" dirty="0"/>
              <a:t>)</a:t>
            </a:r>
          </a:p>
          <a:p>
            <a:pPr lvl="1"/>
            <a:r>
              <a:rPr lang="fi-FI" dirty="0"/>
              <a:t>Pinta-alan mukaan (</a:t>
            </a:r>
            <a:r>
              <a:rPr lang="fi-FI" dirty="0" err="1"/>
              <a:t>double</a:t>
            </a:r>
            <a:r>
              <a:rPr lang="fi-FI" dirty="0"/>
              <a:t>)</a:t>
            </a:r>
          </a:p>
        </p:txBody>
      </p:sp>
    </p:spTree>
    <p:extLst>
      <p:ext uri="{BB962C8B-B14F-4D97-AF65-F5344CB8AC3E}">
        <p14:creationId xmlns:p14="http://schemas.microsoft.com/office/powerpoint/2010/main" val="19488616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9A43B-BD59-77A9-1CAD-211F10A9B8FF}"/>
              </a:ext>
            </a:extLst>
          </p:cNvPr>
          <p:cNvSpPr>
            <a:spLocks noGrp="1"/>
          </p:cNvSpPr>
          <p:nvPr>
            <p:ph type="ctrTitle"/>
          </p:nvPr>
        </p:nvSpPr>
        <p:spPr/>
        <p:txBody>
          <a:bodyPr/>
          <a:lstStyle/>
          <a:p>
            <a:r>
              <a:rPr lang="fi-FI" dirty="0" err="1"/>
              <a:t>HashMap</a:t>
            </a:r>
            <a:r>
              <a:rPr lang="fi-FI" dirty="0"/>
              <a:t> – Hajautustaulu</a:t>
            </a:r>
          </a:p>
        </p:txBody>
      </p:sp>
      <p:sp>
        <p:nvSpPr>
          <p:cNvPr id="3" name="Subtitle 2">
            <a:extLst>
              <a:ext uri="{FF2B5EF4-FFF2-40B4-BE49-F238E27FC236}">
                <a16:creationId xmlns:a16="http://schemas.microsoft.com/office/drawing/2014/main" id="{61EF3EAD-138B-ED63-6429-7672ABF7385D}"/>
              </a:ext>
            </a:extLst>
          </p:cNvPr>
          <p:cNvSpPr>
            <a:spLocks noGrp="1"/>
          </p:cNvSpPr>
          <p:nvPr>
            <p:ph type="subTitle" idx="1"/>
          </p:nvPr>
        </p:nvSpPr>
        <p:spPr/>
        <p:txBody>
          <a:bodyPr/>
          <a:lstStyle/>
          <a:p>
            <a:r>
              <a:rPr lang="fi-FI" dirty="0"/>
              <a:t>”Sanakirja”</a:t>
            </a:r>
          </a:p>
          <a:p>
            <a:r>
              <a:rPr lang="fi-FI" dirty="0">
                <a:hlinkClick r:id="rId2"/>
              </a:rPr>
              <a:t>https://ohjelmointi-20.mooc.fi/osa-8/2-hajautustaulu</a:t>
            </a:r>
            <a:r>
              <a:rPr lang="fi-FI" dirty="0"/>
              <a:t> </a:t>
            </a:r>
          </a:p>
        </p:txBody>
      </p:sp>
    </p:spTree>
    <p:extLst>
      <p:ext uri="{BB962C8B-B14F-4D97-AF65-F5344CB8AC3E}">
        <p14:creationId xmlns:p14="http://schemas.microsoft.com/office/powerpoint/2010/main" val="17737431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01CF-5F2F-F6F8-A38E-5D50B8EB12D0}"/>
              </a:ext>
            </a:extLst>
          </p:cNvPr>
          <p:cNvSpPr>
            <a:spLocks noGrp="1"/>
          </p:cNvSpPr>
          <p:nvPr>
            <p:ph type="title"/>
          </p:nvPr>
        </p:nvSpPr>
        <p:spPr/>
        <p:txBody>
          <a:bodyPr/>
          <a:lstStyle/>
          <a:p>
            <a:r>
              <a:rPr lang="fi-FI" dirty="0" err="1"/>
              <a:t>HashMap</a:t>
            </a:r>
            <a:r>
              <a:rPr lang="fi-FI" dirty="0"/>
              <a:t> – Hajautustaulu</a:t>
            </a:r>
          </a:p>
        </p:txBody>
      </p:sp>
      <p:sp>
        <p:nvSpPr>
          <p:cNvPr id="3" name="Content Placeholder 2">
            <a:extLst>
              <a:ext uri="{FF2B5EF4-FFF2-40B4-BE49-F238E27FC236}">
                <a16:creationId xmlns:a16="http://schemas.microsoft.com/office/drawing/2014/main" id="{5036BE17-301A-43E0-10D2-C4DDBD194F2E}"/>
              </a:ext>
            </a:extLst>
          </p:cNvPr>
          <p:cNvSpPr>
            <a:spLocks noGrp="1"/>
          </p:cNvSpPr>
          <p:nvPr>
            <p:ph idx="1"/>
          </p:nvPr>
        </p:nvSpPr>
        <p:spPr>
          <a:xfrm>
            <a:off x="838200" y="1825625"/>
            <a:ext cx="10515600" cy="2196499"/>
          </a:xfrm>
        </p:spPr>
        <p:txBody>
          <a:bodyPr>
            <a:normAutofit fontScale="85000" lnSpcReduction="20000"/>
          </a:bodyPr>
          <a:lstStyle/>
          <a:p>
            <a:r>
              <a:rPr lang="fi-FI" dirty="0"/>
              <a:t>Hajautustaulu ja lista ovat ohjelmoinnissa yleisimmät tietorakenneluokat (Javassa </a:t>
            </a:r>
            <a:r>
              <a:rPr lang="fi-FI" dirty="0" err="1"/>
              <a:t>HashMap</a:t>
            </a:r>
            <a:r>
              <a:rPr lang="fi-FI" dirty="0"/>
              <a:t> ja </a:t>
            </a:r>
            <a:r>
              <a:rPr lang="fi-FI" dirty="0" err="1"/>
              <a:t>ArrayList</a:t>
            </a:r>
            <a:r>
              <a:rPr lang="fi-FI" dirty="0"/>
              <a:t>).</a:t>
            </a:r>
          </a:p>
          <a:p>
            <a:r>
              <a:rPr lang="fi-FI" dirty="0"/>
              <a:t>Hajautustaulua käytetään kun tietoa käsitellään avain-arvo –pareina.</a:t>
            </a:r>
          </a:p>
          <a:p>
            <a:r>
              <a:rPr lang="fi-FI" dirty="0"/>
              <a:t>Avaimen perusteella voidaan lisätä, hakea ja poistaa arvoja.</a:t>
            </a:r>
          </a:p>
          <a:p>
            <a:r>
              <a:rPr lang="fi-FI" dirty="0"/>
              <a:t>Alla olevassa esimerkissä postinumero on avain ja kunnan nimi on arvo.</a:t>
            </a:r>
          </a:p>
          <a:p>
            <a:r>
              <a:rPr lang="fi-FI" dirty="0"/>
              <a:t>Jos haettava avain löytyy, palautetaan arvo. Jos avainta ei löydy, palautetaan </a:t>
            </a:r>
            <a:r>
              <a:rPr lang="fi-FI" dirty="0" err="1"/>
              <a:t>null</a:t>
            </a:r>
            <a:r>
              <a:rPr lang="fi-FI" dirty="0"/>
              <a:t>.</a:t>
            </a:r>
          </a:p>
        </p:txBody>
      </p:sp>
      <p:sp>
        <p:nvSpPr>
          <p:cNvPr id="5" name="TextBox 4">
            <a:extLst>
              <a:ext uri="{FF2B5EF4-FFF2-40B4-BE49-F238E27FC236}">
                <a16:creationId xmlns:a16="http://schemas.microsoft.com/office/drawing/2014/main" id="{511B5F8B-AA5E-6AB9-537B-02681688064D}"/>
              </a:ext>
            </a:extLst>
          </p:cNvPr>
          <p:cNvSpPr txBox="1"/>
          <p:nvPr/>
        </p:nvSpPr>
        <p:spPr>
          <a:xfrm>
            <a:off x="1855057" y="4157061"/>
            <a:ext cx="7770855" cy="1815882"/>
          </a:xfrm>
          <a:prstGeom prst="rect">
            <a:avLst/>
          </a:prstGeom>
          <a:noFill/>
        </p:spPr>
        <p:txBody>
          <a:bodyPr wrap="square">
            <a:spAutoFit/>
          </a:bodyPr>
          <a:lstStyle/>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&gt; postinumerot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&lt;&gt;();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"00710"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"Helsinki"</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"90014"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"Oulu"</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"33720"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a:t>
            </a:r>
            <a:r>
              <a:rPr lang="fi-FI" sz="1600" b="0" dirty="0" err="1">
                <a:solidFill>
                  <a:srgbClr val="000000"/>
                </a:solidFill>
                <a:effectLst/>
                <a:latin typeface="Consolas" panose="020B0609020204030204" pitchFamily="49" charset="0"/>
              </a:rPr>
              <a:t>postinumerot.get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"00710"</a:t>
            </a:r>
            <a:r>
              <a:rPr lang="fi-FI"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72227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BD86-665C-D49B-92C8-EF8DD2100218}"/>
              </a:ext>
            </a:extLst>
          </p:cNvPr>
          <p:cNvSpPr>
            <a:spLocks noGrp="1"/>
          </p:cNvSpPr>
          <p:nvPr>
            <p:ph type="title"/>
          </p:nvPr>
        </p:nvSpPr>
        <p:spPr/>
        <p:txBody>
          <a:bodyPr/>
          <a:lstStyle/>
          <a:p>
            <a:r>
              <a:rPr lang="fi-FI" dirty="0" err="1"/>
              <a:t>HashMap</a:t>
            </a:r>
            <a:r>
              <a:rPr lang="fi-FI" dirty="0"/>
              <a:t> – Hajautustaulu</a:t>
            </a:r>
          </a:p>
        </p:txBody>
      </p:sp>
      <p:sp>
        <p:nvSpPr>
          <p:cNvPr id="3" name="Content Placeholder 2">
            <a:extLst>
              <a:ext uri="{FF2B5EF4-FFF2-40B4-BE49-F238E27FC236}">
                <a16:creationId xmlns:a16="http://schemas.microsoft.com/office/drawing/2014/main" id="{39B4E360-D12A-6DBA-8539-16B17A6F7A36}"/>
              </a:ext>
            </a:extLst>
          </p:cNvPr>
          <p:cNvSpPr>
            <a:spLocks noGrp="1"/>
          </p:cNvSpPr>
          <p:nvPr>
            <p:ph idx="1"/>
          </p:nvPr>
        </p:nvSpPr>
        <p:spPr>
          <a:xfrm>
            <a:off x="838200" y="1825625"/>
            <a:ext cx="10515600" cy="1535413"/>
          </a:xfrm>
        </p:spPr>
        <p:txBody>
          <a:bodyPr>
            <a:normAutofit/>
          </a:bodyPr>
          <a:lstStyle/>
          <a:p>
            <a:r>
              <a:rPr lang="fi-FI" sz="2400" dirty="0"/>
              <a:t>Hajautustaulun esittelyssä annetaan kaksi tyyppiparametria: avaimen tyyppi ja arvon tyyppi.</a:t>
            </a:r>
          </a:p>
          <a:p>
            <a:r>
              <a:rPr lang="fi-FI" sz="2400" dirty="0"/>
              <a:t>Avain on usein </a:t>
            </a:r>
            <a:r>
              <a:rPr lang="fi-FI" sz="2400" dirty="0" err="1"/>
              <a:t>String</a:t>
            </a:r>
            <a:r>
              <a:rPr lang="fi-FI" sz="2400" dirty="0"/>
              <a:t> tai </a:t>
            </a:r>
            <a:r>
              <a:rPr lang="fi-FI" sz="2400" dirty="0" err="1"/>
              <a:t>Integer</a:t>
            </a:r>
            <a:r>
              <a:rPr lang="fi-FI" sz="2400" dirty="0"/>
              <a:t>. Arvo voi olla mitä tahansa tyyppiä, myös olio.</a:t>
            </a:r>
          </a:p>
        </p:txBody>
      </p:sp>
      <p:sp>
        <p:nvSpPr>
          <p:cNvPr id="6" name="TextBox 5">
            <a:extLst>
              <a:ext uri="{FF2B5EF4-FFF2-40B4-BE49-F238E27FC236}">
                <a16:creationId xmlns:a16="http://schemas.microsoft.com/office/drawing/2014/main" id="{E316E4EB-6F00-11C2-36C1-16348B98C335}"/>
              </a:ext>
            </a:extLst>
          </p:cNvPr>
          <p:cNvSpPr txBox="1"/>
          <p:nvPr/>
        </p:nvSpPr>
        <p:spPr>
          <a:xfrm>
            <a:off x="1771907" y="3257586"/>
            <a:ext cx="8648186" cy="3323987"/>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väkiluku kunnittain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HashMap</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Integer</a:t>
            </a:r>
            <a:r>
              <a:rPr lang="fi-FI" sz="1400" b="0" dirty="0">
                <a:solidFill>
                  <a:srgbClr val="000000"/>
                </a:solidFill>
                <a:effectLst/>
                <a:latin typeface="Consolas" panose="020B0609020204030204" pitchFamily="49" charset="0"/>
              </a:rPr>
              <a:t>&gt; kunnat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HashMap</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kunnat.put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"Seinäjoki"</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66000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kunnat.put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"Ilmajoki"</a:t>
            </a:r>
            <a:r>
              <a:rPr lang="fi-FI" sz="1400" b="0" dirty="0">
                <a:solidFill>
                  <a:srgbClr val="000000"/>
                </a:solidFill>
                <a:effectLst/>
                <a:latin typeface="Consolas" panose="020B0609020204030204" pitchFamily="49" charset="0"/>
              </a:rPr>
              <a:t>, </a:t>
            </a:r>
            <a:r>
              <a:rPr lang="fi-FI" sz="1400" b="0" dirty="0">
                <a:solidFill>
                  <a:srgbClr val="098658"/>
                </a:solidFill>
                <a:effectLst/>
                <a:latin typeface="Consolas" panose="020B0609020204030204" pitchFamily="49" charset="0"/>
              </a:rPr>
              <a:t>12000</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puolueet tunnuksittain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HashMap</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Puolue</a:t>
            </a:r>
            <a:r>
              <a:rPr lang="fi-FI" sz="1400" b="0" dirty="0">
                <a:solidFill>
                  <a:srgbClr val="000000"/>
                </a:solidFill>
                <a:effectLst/>
                <a:latin typeface="Consolas" panose="020B0609020204030204" pitchFamily="49" charset="0"/>
              </a:rPr>
              <a:t>&gt; puolueet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HashMap</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puolueet.put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"KESK"</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Puolue(</a:t>
            </a:r>
            <a:r>
              <a:rPr lang="fi-FI" sz="1400" b="0" dirty="0">
                <a:solidFill>
                  <a:srgbClr val="A31515"/>
                </a:solidFill>
                <a:effectLst/>
                <a:latin typeface="Consolas" panose="020B0609020204030204" pitchFamily="49" charset="0"/>
              </a:rPr>
              <a:t>"KESK"</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"Keskusta"</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puolueet.put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"VIHR"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Puolue(</a:t>
            </a:r>
            <a:r>
              <a:rPr lang="fi-FI" sz="1400" b="0" dirty="0">
                <a:solidFill>
                  <a:srgbClr val="A31515"/>
                </a:solidFill>
                <a:effectLst/>
                <a:latin typeface="Consolas" panose="020B0609020204030204" pitchFamily="49" charset="0"/>
              </a:rPr>
              <a:t>"VIHR"</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"Vihreät"</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listat kunnista maakunnittain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HashMap</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a:solidFill>
                  <a:srgbClr val="0000FF"/>
                </a:solidFill>
                <a:effectLst/>
                <a:latin typeface="Consolas" panose="020B0609020204030204" pitchFamily="49" charset="0"/>
              </a:rPr>
              <a:t>Kunta</a:t>
            </a:r>
            <a:r>
              <a:rPr lang="fi-FI" sz="1400" b="0" dirty="0">
                <a:solidFill>
                  <a:srgbClr val="000000"/>
                </a:solidFill>
                <a:effectLst/>
                <a:latin typeface="Consolas" panose="020B0609020204030204" pitchFamily="49" charset="0"/>
              </a:rPr>
              <a:t>&gt;&gt; maakunnat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maakunnat.put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"Satakunta"</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04039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A9D67-0422-31CF-D4CA-BE8314F0A70A}"/>
              </a:ext>
            </a:extLst>
          </p:cNvPr>
          <p:cNvSpPr>
            <a:spLocks noGrp="1"/>
          </p:cNvSpPr>
          <p:nvPr>
            <p:ph type="title"/>
          </p:nvPr>
        </p:nvSpPr>
        <p:spPr/>
        <p:txBody>
          <a:bodyPr/>
          <a:lstStyle/>
          <a:p>
            <a:r>
              <a:rPr lang="fi-FI" dirty="0"/>
              <a:t>Hajautustaulun avainten läpikäynti</a:t>
            </a:r>
          </a:p>
        </p:txBody>
      </p:sp>
      <p:sp>
        <p:nvSpPr>
          <p:cNvPr id="3" name="Content Placeholder 2">
            <a:extLst>
              <a:ext uri="{FF2B5EF4-FFF2-40B4-BE49-F238E27FC236}">
                <a16:creationId xmlns:a16="http://schemas.microsoft.com/office/drawing/2014/main" id="{E83943B4-B136-A27D-0F49-26106B5AE81E}"/>
              </a:ext>
            </a:extLst>
          </p:cNvPr>
          <p:cNvSpPr>
            <a:spLocks noGrp="1"/>
          </p:cNvSpPr>
          <p:nvPr>
            <p:ph idx="1"/>
          </p:nvPr>
        </p:nvSpPr>
        <p:spPr>
          <a:xfrm>
            <a:off x="838200" y="1825625"/>
            <a:ext cx="10515600" cy="1560126"/>
          </a:xfrm>
        </p:spPr>
        <p:txBody>
          <a:bodyPr>
            <a:normAutofit/>
          </a:bodyPr>
          <a:lstStyle/>
          <a:p>
            <a:r>
              <a:rPr lang="fi-FI" dirty="0"/>
              <a:t>Hajautustaulun avaimet voidaan käydä läpi for-</a:t>
            </a:r>
            <a:r>
              <a:rPr lang="fi-FI" dirty="0" err="1"/>
              <a:t>each</a:t>
            </a:r>
            <a:r>
              <a:rPr lang="fi-FI" dirty="0"/>
              <a:t> -rakenteen avulla.</a:t>
            </a:r>
          </a:p>
          <a:p>
            <a:r>
              <a:rPr lang="fi-FI" dirty="0"/>
              <a:t>Metodi </a:t>
            </a:r>
            <a:r>
              <a:rPr lang="fi-FI" dirty="0" err="1"/>
              <a:t>keySet</a:t>
            </a:r>
            <a:r>
              <a:rPr lang="fi-FI" dirty="0"/>
              <a:t>() palauttaa listan avaimista</a:t>
            </a:r>
          </a:p>
        </p:txBody>
      </p:sp>
      <p:sp>
        <p:nvSpPr>
          <p:cNvPr id="5" name="TextBox 4">
            <a:extLst>
              <a:ext uri="{FF2B5EF4-FFF2-40B4-BE49-F238E27FC236}">
                <a16:creationId xmlns:a16="http://schemas.microsoft.com/office/drawing/2014/main" id="{53CCCA48-BCB3-4F27-6DCB-8C6066A90AEB}"/>
              </a:ext>
            </a:extLst>
          </p:cNvPr>
          <p:cNvSpPr txBox="1"/>
          <p:nvPr/>
        </p:nvSpPr>
        <p:spPr>
          <a:xfrm>
            <a:off x="1101295" y="3626356"/>
            <a:ext cx="8190985" cy="2585323"/>
          </a:xfrm>
          <a:prstGeom prst="rect">
            <a:avLst/>
          </a:prstGeom>
          <a:noFill/>
        </p:spPr>
        <p:txBody>
          <a:bodyPr wrap="square">
            <a:spAutoFit/>
          </a:bodyPr>
          <a:lstStyle/>
          <a:p>
            <a:r>
              <a:rPr lang="fi-FI" b="0">
                <a:solidFill>
                  <a:srgbClr val="000000"/>
                </a:solidFill>
                <a:effectLst/>
                <a:latin typeface="Consolas" panose="020B0609020204030204" pitchFamily="49" charset="0"/>
              </a:rPr>
              <a:t>        </a:t>
            </a:r>
            <a:r>
              <a:rPr lang="fi-FI" b="0">
                <a:solidFill>
                  <a:srgbClr val="0000FF"/>
                </a:solidFill>
                <a:effectLst/>
                <a:latin typeface="Consolas" panose="020B0609020204030204" pitchFamily="49" charset="0"/>
              </a:rPr>
              <a:t>HashMap</a:t>
            </a:r>
            <a:r>
              <a:rPr lang="fi-FI" b="0">
                <a:solidFill>
                  <a:srgbClr val="000000"/>
                </a:solidFill>
                <a:effectLst/>
                <a:latin typeface="Consolas" panose="020B0609020204030204" pitchFamily="49" charset="0"/>
              </a:rPr>
              <a:t>&lt;</a:t>
            </a:r>
            <a:r>
              <a:rPr lang="fi-FI" b="0">
                <a:solidFill>
                  <a:srgbClr val="0000FF"/>
                </a:solidFill>
                <a:effectLst/>
                <a:latin typeface="Consolas" panose="020B0609020204030204" pitchFamily="49" charset="0"/>
              </a:rPr>
              <a:t>String</a:t>
            </a:r>
            <a:r>
              <a:rPr lang="fi-FI" b="0">
                <a:solidFill>
                  <a:srgbClr val="000000"/>
                </a:solidFill>
                <a:effectLst/>
                <a:latin typeface="Consolas" panose="020B0609020204030204" pitchFamily="49" charset="0"/>
              </a:rPr>
              <a:t>, </a:t>
            </a:r>
            <a:r>
              <a:rPr lang="fi-FI" b="0">
                <a:solidFill>
                  <a:srgbClr val="0000FF"/>
                </a:solidFill>
                <a:effectLst/>
                <a:latin typeface="Consolas" panose="020B0609020204030204" pitchFamily="49" charset="0"/>
              </a:rPr>
              <a:t>String</a:t>
            </a:r>
            <a:r>
              <a:rPr lang="fi-FI" b="0">
                <a:solidFill>
                  <a:srgbClr val="000000"/>
                </a:solidFill>
                <a:effectLst/>
                <a:latin typeface="Consolas" panose="020B0609020204030204" pitchFamily="49" charset="0"/>
              </a:rPr>
              <a:t>&gt; postinumerot = </a:t>
            </a:r>
            <a:r>
              <a:rPr lang="fi-FI" b="0">
                <a:solidFill>
                  <a:srgbClr val="0000FF"/>
                </a:solidFill>
                <a:effectLst/>
                <a:latin typeface="Consolas" panose="020B0609020204030204" pitchFamily="49" charset="0"/>
              </a:rPr>
              <a:t>new</a:t>
            </a:r>
            <a:r>
              <a:rPr lang="fi-FI" b="0">
                <a:solidFill>
                  <a:srgbClr val="000000"/>
                </a:solidFill>
                <a:effectLst/>
                <a:latin typeface="Consolas" panose="020B0609020204030204" pitchFamily="49" charset="0"/>
              </a:rPr>
              <a:t> </a:t>
            </a:r>
            <a:r>
              <a:rPr lang="fi-FI" b="0">
                <a:solidFill>
                  <a:srgbClr val="0000FF"/>
                </a:solidFill>
                <a:effectLst/>
                <a:latin typeface="Consolas" panose="020B0609020204030204" pitchFamily="49" charset="0"/>
              </a:rPr>
              <a:t>HashMap</a:t>
            </a:r>
            <a:r>
              <a:rPr lang="fi-FI" b="0">
                <a:solidFill>
                  <a:srgbClr val="000000"/>
                </a:solidFill>
                <a:effectLst/>
                <a:latin typeface="Consolas" panose="020B0609020204030204" pitchFamily="49" charset="0"/>
              </a:rPr>
              <a:t>&lt;&gt;();</a:t>
            </a:r>
          </a:p>
          <a:p>
            <a:r>
              <a:rPr lang="fi-FI" b="0">
                <a:solidFill>
                  <a:srgbClr val="000000"/>
                </a:solidFill>
                <a:effectLst/>
                <a:latin typeface="Consolas" panose="020B0609020204030204" pitchFamily="49" charset="0"/>
              </a:rPr>
              <a:t>        postinumerot.put(</a:t>
            </a:r>
            <a:r>
              <a:rPr lang="fi-FI" b="0">
                <a:solidFill>
                  <a:srgbClr val="A31515"/>
                </a:solidFill>
                <a:effectLst/>
                <a:latin typeface="Consolas" panose="020B0609020204030204" pitchFamily="49" charset="0"/>
              </a:rPr>
              <a:t>"00710"</a:t>
            </a:r>
            <a:r>
              <a:rPr lang="fi-FI" b="0">
                <a:solidFill>
                  <a:srgbClr val="000000"/>
                </a:solidFill>
                <a:effectLst/>
                <a:latin typeface="Consolas" panose="020B0609020204030204" pitchFamily="49" charset="0"/>
              </a:rPr>
              <a:t>, </a:t>
            </a:r>
            <a:r>
              <a:rPr lang="fi-FI" b="0">
                <a:solidFill>
                  <a:srgbClr val="A31515"/>
                </a:solidFill>
                <a:effectLst/>
                <a:latin typeface="Consolas" panose="020B0609020204030204" pitchFamily="49" charset="0"/>
              </a:rPr>
              <a:t>"Helsinki"</a:t>
            </a:r>
            <a:r>
              <a:rPr lang="fi-FI" b="0">
                <a:solidFill>
                  <a:srgbClr val="000000"/>
                </a:solidFill>
                <a:effectLst/>
                <a:latin typeface="Consolas" panose="020B0609020204030204" pitchFamily="49" charset="0"/>
              </a:rPr>
              <a:t>);</a:t>
            </a:r>
          </a:p>
          <a:p>
            <a:r>
              <a:rPr lang="fi-FI" b="0">
                <a:solidFill>
                  <a:srgbClr val="000000"/>
                </a:solidFill>
                <a:effectLst/>
                <a:latin typeface="Consolas" panose="020B0609020204030204" pitchFamily="49" charset="0"/>
              </a:rPr>
              <a:t>        postinumerot.put(</a:t>
            </a:r>
            <a:r>
              <a:rPr lang="fi-FI" b="0">
                <a:solidFill>
                  <a:srgbClr val="A31515"/>
                </a:solidFill>
                <a:effectLst/>
                <a:latin typeface="Consolas" panose="020B0609020204030204" pitchFamily="49" charset="0"/>
              </a:rPr>
              <a:t>"90014"</a:t>
            </a:r>
            <a:r>
              <a:rPr lang="fi-FI" b="0">
                <a:solidFill>
                  <a:srgbClr val="000000"/>
                </a:solidFill>
                <a:effectLst/>
                <a:latin typeface="Consolas" panose="020B0609020204030204" pitchFamily="49" charset="0"/>
              </a:rPr>
              <a:t>, </a:t>
            </a:r>
            <a:r>
              <a:rPr lang="fi-FI" b="0">
                <a:solidFill>
                  <a:srgbClr val="A31515"/>
                </a:solidFill>
                <a:effectLst/>
                <a:latin typeface="Consolas" panose="020B0609020204030204" pitchFamily="49" charset="0"/>
              </a:rPr>
              <a:t>"Oulu"</a:t>
            </a:r>
            <a:r>
              <a:rPr lang="fi-FI" b="0">
                <a:solidFill>
                  <a:srgbClr val="000000"/>
                </a:solidFill>
                <a:effectLst/>
                <a:latin typeface="Consolas" panose="020B0609020204030204" pitchFamily="49" charset="0"/>
              </a:rPr>
              <a:t>);</a:t>
            </a:r>
          </a:p>
          <a:p>
            <a:r>
              <a:rPr lang="fi-FI" b="0">
                <a:solidFill>
                  <a:srgbClr val="000000"/>
                </a:solidFill>
                <a:effectLst/>
                <a:latin typeface="Consolas" panose="020B0609020204030204" pitchFamily="49" charset="0"/>
              </a:rPr>
              <a:t>        postinumerot.put(</a:t>
            </a:r>
            <a:r>
              <a:rPr lang="fi-FI" b="0">
                <a:solidFill>
                  <a:srgbClr val="A31515"/>
                </a:solidFill>
                <a:effectLst/>
                <a:latin typeface="Consolas" panose="020B0609020204030204" pitchFamily="49" charset="0"/>
              </a:rPr>
              <a:t>"33720"</a:t>
            </a:r>
            <a:r>
              <a:rPr lang="fi-FI" b="0">
                <a:solidFill>
                  <a:srgbClr val="000000"/>
                </a:solidFill>
                <a:effectLst/>
                <a:latin typeface="Consolas" panose="020B0609020204030204" pitchFamily="49" charset="0"/>
              </a:rPr>
              <a:t>, </a:t>
            </a:r>
            <a:r>
              <a:rPr lang="fi-FI" b="0">
                <a:solidFill>
                  <a:srgbClr val="A31515"/>
                </a:solidFill>
                <a:effectLst/>
                <a:latin typeface="Consolas" panose="020B0609020204030204" pitchFamily="49" charset="0"/>
              </a:rPr>
              <a:t>"Tampere"</a:t>
            </a:r>
            <a:r>
              <a:rPr lang="fi-FI" b="0">
                <a:solidFill>
                  <a:srgbClr val="000000"/>
                </a:solidFill>
                <a:effectLst/>
                <a:latin typeface="Consolas" panose="020B0609020204030204" pitchFamily="49" charset="0"/>
              </a:rPr>
              <a:t>);</a:t>
            </a:r>
          </a:p>
          <a:p>
            <a:r>
              <a:rPr lang="fi-FI" b="0">
                <a:solidFill>
                  <a:srgbClr val="000000"/>
                </a:solidFill>
                <a:effectLst/>
                <a:latin typeface="Consolas" panose="020B0609020204030204" pitchFamily="49" charset="0"/>
              </a:rPr>
              <a:t>        postinumerot.put(</a:t>
            </a:r>
            <a:r>
              <a:rPr lang="fi-FI" b="0">
                <a:solidFill>
                  <a:srgbClr val="A31515"/>
                </a:solidFill>
                <a:effectLst/>
                <a:latin typeface="Consolas" panose="020B0609020204030204" pitchFamily="49" charset="0"/>
              </a:rPr>
              <a:t>"33014"</a:t>
            </a:r>
            <a:r>
              <a:rPr lang="fi-FI" b="0">
                <a:solidFill>
                  <a:srgbClr val="000000"/>
                </a:solidFill>
                <a:effectLst/>
                <a:latin typeface="Consolas" panose="020B0609020204030204" pitchFamily="49" charset="0"/>
              </a:rPr>
              <a:t>, </a:t>
            </a:r>
            <a:r>
              <a:rPr lang="fi-FI" b="0">
                <a:solidFill>
                  <a:srgbClr val="A31515"/>
                </a:solidFill>
                <a:effectLst/>
                <a:latin typeface="Consolas" panose="020B0609020204030204" pitchFamily="49" charset="0"/>
              </a:rPr>
              <a:t>"Tampere"</a:t>
            </a:r>
            <a:r>
              <a:rPr lang="fi-FI" b="0">
                <a:solidFill>
                  <a:srgbClr val="000000"/>
                </a:solidFill>
                <a:effectLst/>
                <a:latin typeface="Consolas" panose="020B0609020204030204" pitchFamily="49" charset="0"/>
              </a:rPr>
              <a:t>);</a:t>
            </a:r>
          </a:p>
          <a:p>
            <a:br>
              <a:rPr lang="fi-FI" b="0">
                <a:solidFill>
                  <a:srgbClr val="000000"/>
                </a:solidFill>
                <a:effectLst/>
                <a:latin typeface="Consolas" panose="020B0609020204030204" pitchFamily="49" charset="0"/>
              </a:rPr>
            </a:br>
            <a:r>
              <a:rPr lang="fi-FI" b="0">
                <a:solidFill>
                  <a:srgbClr val="000000"/>
                </a:solidFill>
                <a:effectLst/>
                <a:latin typeface="Consolas" panose="020B0609020204030204" pitchFamily="49" charset="0"/>
              </a:rPr>
              <a:t>        </a:t>
            </a:r>
            <a:r>
              <a:rPr lang="fi-FI" b="0">
                <a:solidFill>
                  <a:srgbClr val="0000FF"/>
                </a:solidFill>
                <a:effectLst/>
                <a:latin typeface="Consolas" panose="020B0609020204030204" pitchFamily="49" charset="0"/>
              </a:rPr>
              <a:t>for</a:t>
            </a:r>
            <a:r>
              <a:rPr lang="fi-FI" b="0">
                <a:solidFill>
                  <a:srgbClr val="000000"/>
                </a:solidFill>
                <a:effectLst/>
                <a:latin typeface="Consolas" panose="020B0609020204030204" pitchFamily="49" charset="0"/>
              </a:rPr>
              <a:t>(</a:t>
            </a:r>
            <a:r>
              <a:rPr lang="fi-FI" b="0">
                <a:solidFill>
                  <a:srgbClr val="0000FF"/>
                </a:solidFill>
                <a:effectLst/>
                <a:latin typeface="Consolas" panose="020B0609020204030204" pitchFamily="49" charset="0"/>
              </a:rPr>
              <a:t>String</a:t>
            </a:r>
            <a:r>
              <a:rPr lang="fi-FI" b="0">
                <a:solidFill>
                  <a:srgbClr val="000000"/>
                </a:solidFill>
                <a:effectLst/>
                <a:latin typeface="Consolas" panose="020B0609020204030204" pitchFamily="49" charset="0"/>
              </a:rPr>
              <a:t> postinumero </a:t>
            </a:r>
            <a:r>
              <a:rPr lang="fi-FI" b="0">
                <a:solidFill>
                  <a:srgbClr val="0000FF"/>
                </a:solidFill>
                <a:effectLst/>
                <a:latin typeface="Consolas" panose="020B0609020204030204" pitchFamily="49" charset="0"/>
              </a:rPr>
              <a:t>:</a:t>
            </a:r>
            <a:r>
              <a:rPr lang="fi-FI" b="0">
                <a:solidFill>
                  <a:srgbClr val="000000"/>
                </a:solidFill>
                <a:effectLst/>
                <a:latin typeface="Consolas" panose="020B0609020204030204" pitchFamily="49" charset="0"/>
              </a:rPr>
              <a:t> postinumerot.keySet()) {</a:t>
            </a:r>
          </a:p>
          <a:p>
            <a:r>
              <a:rPr lang="fi-FI" b="0">
                <a:solidFill>
                  <a:srgbClr val="000000"/>
                </a:solidFill>
                <a:effectLst/>
                <a:latin typeface="Consolas" panose="020B0609020204030204" pitchFamily="49" charset="0"/>
              </a:rPr>
              <a:t>            System.out.println(postinumero);</a:t>
            </a:r>
          </a:p>
          <a:p>
            <a:r>
              <a:rPr lang="fi-FI"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6647981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A5A7-8FBF-5660-CF42-4AA3C90C6E1A}"/>
              </a:ext>
            </a:extLst>
          </p:cNvPr>
          <p:cNvSpPr>
            <a:spLocks noGrp="1"/>
          </p:cNvSpPr>
          <p:nvPr>
            <p:ph type="title"/>
          </p:nvPr>
        </p:nvSpPr>
        <p:spPr/>
        <p:txBody>
          <a:bodyPr/>
          <a:lstStyle/>
          <a:p>
            <a:r>
              <a:rPr lang="fi-FI" dirty="0"/>
              <a:t>Hajautustaulun arvojen läpikäynti</a:t>
            </a:r>
          </a:p>
        </p:txBody>
      </p:sp>
      <p:sp>
        <p:nvSpPr>
          <p:cNvPr id="3" name="Content Placeholder 2">
            <a:extLst>
              <a:ext uri="{FF2B5EF4-FFF2-40B4-BE49-F238E27FC236}">
                <a16:creationId xmlns:a16="http://schemas.microsoft.com/office/drawing/2014/main" id="{99C36C42-72DC-73FA-E467-16B999C0975B}"/>
              </a:ext>
            </a:extLst>
          </p:cNvPr>
          <p:cNvSpPr>
            <a:spLocks noGrp="1"/>
          </p:cNvSpPr>
          <p:nvPr>
            <p:ph idx="1"/>
          </p:nvPr>
        </p:nvSpPr>
        <p:spPr>
          <a:xfrm>
            <a:off x="838200" y="1825625"/>
            <a:ext cx="10515600" cy="1603375"/>
          </a:xfrm>
        </p:spPr>
        <p:txBody>
          <a:bodyPr/>
          <a:lstStyle/>
          <a:p>
            <a:r>
              <a:rPr lang="fi-FI" dirty="0"/>
              <a:t>Hajautustaulu arvojoukon saa metodilla </a:t>
            </a:r>
            <a:r>
              <a:rPr lang="fi-FI" dirty="0" err="1"/>
              <a:t>values</a:t>
            </a:r>
            <a:r>
              <a:rPr lang="fi-FI" dirty="0"/>
              <a:t>().</a:t>
            </a:r>
          </a:p>
          <a:p>
            <a:r>
              <a:rPr lang="fi-FI" dirty="0"/>
              <a:t>Arvojoukon voi käydä läpi for-</a:t>
            </a:r>
            <a:r>
              <a:rPr lang="fi-FI" dirty="0" err="1"/>
              <a:t>each</a:t>
            </a:r>
            <a:r>
              <a:rPr lang="fi-FI" dirty="0"/>
              <a:t> -lauseella.</a:t>
            </a:r>
          </a:p>
        </p:txBody>
      </p:sp>
      <p:sp>
        <p:nvSpPr>
          <p:cNvPr id="6" name="TextBox 5">
            <a:extLst>
              <a:ext uri="{FF2B5EF4-FFF2-40B4-BE49-F238E27FC236}">
                <a16:creationId xmlns:a16="http://schemas.microsoft.com/office/drawing/2014/main" id="{65F62123-EE9B-4C32-5C59-72DA94B43D9F}"/>
              </a:ext>
            </a:extLst>
          </p:cNvPr>
          <p:cNvSpPr txBox="1"/>
          <p:nvPr/>
        </p:nvSpPr>
        <p:spPr>
          <a:xfrm>
            <a:off x="1589387" y="3692108"/>
            <a:ext cx="8506083" cy="2800767"/>
          </a:xfrm>
          <a:prstGeom prst="rect">
            <a:avLst/>
          </a:prstGeom>
          <a:noFill/>
        </p:spPr>
        <p:txBody>
          <a:bodyPr wrap="square">
            <a:spAutoFit/>
          </a:bodyPr>
          <a:lstStyle/>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&gt; postinumerot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&lt;&gt;();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"00710"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"Helsinki"</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"90014"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"Oulu"</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"33720"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kunta </a:t>
            </a:r>
            <a:r>
              <a:rPr lang="fi-FI" sz="1600" b="0" dirty="0">
                <a:solidFill>
                  <a:srgbClr val="0000FF"/>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postinumerot.values</a:t>
            </a:r>
            <a:r>
              <a:rPr lang="fi-FI" sz="1600" b="0" dirty="0">
                <a:solidFill>
                  <a:srgbClr val="000000"/>
                </a:solidFill>
                <a:effectLst/>
                <a:latin typeface="Consolas" panose="020B0609020204030204" pitchFamily="49" charset="0"/>
              </a:rPr>
              <a:t>()) {</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(kunta);</a:t>
            </a:r>
          </a:p>
          <a:p>
            <a:r>
              <a:rPr lang="fi-FI" sz="1600" b="0" dirty="0">
                <a:solidFill>
                  <a:srgbClr val="000000"/>
                </a:solidFill>
                <a:effectLst/>
                <a:latin typeface="Consolas" panose="020B0609020204030204" pitchFamily="49" charset="0"/>
              </a:rPr>
              <a:t>        }        </a:t>
            </a:r>
          </a:p>
          <a:p>
            <a:br>
              <a:rPr lang="fi-FI" sz="1600" b="0" dirty="0">
                <a:solidFill>
                  <a:srgbClr val="000000"/>
                </a:solidFill>
                <a:effectLst/>
                <a:latin typeface="Consolas" panose="020B0609020204030204" pitchFamily="49" charset="0"/>
              </a:rPr>
            </a:br>
            <a:endParaRPr lang="fi-FI"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9252285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7BB6-F12D-B724-64A0-2CE475647F68}"/>
              </a:ext>
            </a:extLst>
          </p:cNvPr>
          <p:cNvSpPr>
            <a:spLocks noGrp="1"/>
          </p:cNvSpPr>
          <p:nvPr>
            <p:ph type="title"/>
          </p:nvPr>
        </p:nvSpPr>
        <p:spPr/>
        <p:txBody>
          <a:bodyPr/>
          <a:lstStyle/>
          <a:p>
            <a:r>
              <a:rPr lang="fi-FI" dirty="0"/>
              <a:t>Hajautustaulun arvojen läpikäynti</a:t>
            </a:r>
          </a:p>
        </p:txBody>
      </p:sp>
      <p:sp>
        <p:nvSpPr>
          <p:cNvPr id="3" name="Content Placeholder 2">
            <a:extLst>
              <a:ext uri="{FF2B5EF4-FFF2-40B4-BE49-F238E27FC236}">
                <a16:creationId xmlns:a16="http://schemas.microsoft.com/office/drawing/2014/main" id="{CA9CD539-BE89-C5B4-533F-7E3836BF4647}"/>
              </a:ext>
            </a:extLst>
          </p:cNvPr>
          <p:cNvSpPr>
            <a:spLocks noGrp="1"/>
          </p:cNvSpPr>
          <p:nvPr>
            <p:ph idx="1"/>
          </p:nvPr>
        </p:nvSpPr>
        <p:spPr/>
        <p:txBody>
          <a:bodyPr>
            <a:normAutofit/>
          </a:bodyPr>
          <a:lstStyle/>
          <a:p>
            <a:r>
              <a:rPr lang="fi-FI" sz="2400" dirty="0"/>
              <a:t>Arvoja ei kannata käydä läpi avainjoukon kautta. Silloin menetetään hajautustaulun tehokkuus, koska </a:t>
            </a:r>
            <a:r>
              <a:rPr lang="fi-FI" sz="2400" dirty="0" err="1"/>
              <a:t>get</a:t>
            </a:r>
            <a:r>
              <a:rPr lang="fi-FI" sz="2400" dirty="0"/>
              <a:t>-metodi tekee haun joka kierroksella</a:t>
            </a:r>
          </a:p>
          <a:p>
            <a:r>
              <a:rPr lang="fi-FI" sz="2400" dirty="0"/>
              <a:t>Oikea tapa on siis edellisellä sivulla</a:t>
            </a:r>
          </a:p>
          <a:p>
            <a:endParaRPr lang="fi-FI" sz="2400" dirty="0"/>
          </a:p>
        </p:txBody>
      </p:sp>
      <p:sp>
        <p:nvSpPr>
          <p:cNvPr id="5" name="TextBox 4">
            <a:extLst>
              <a:ext uri="{FF2B5EF4-FFF2-40B4-BE49-F238E27FC236}">
                <a16:creationId xmlns:a16="http://schemas.microsoft.com/office/drawing/2014/main" id="{7EDC4BE8-D9C0-834B-03DD-6FEECA3F246A}"/>
              </a:ext>
            </a:extLst>
          </p:cNvPr>
          <p:cNvSpPr txBox="1"/>
          <p:nvPr/>
        </p:nvSpPr>
        <p:spPr>
          <a:xfrm>
            <a:off x="1706778" y="3541112"/>
            <a:ext cx="7641110" cy="2554545"/>
          </a:xfrm>
          <a:prstGeom prst="rect">
            <a:avLst/>
          </a:prstGeom>
          <a:noFill/>
        </p:spPr>
        <p:txBody>
          <a:bodyPr wrap="square">
            <a:spAutoFit/>
          </a:bodyPr>
          <a:lstStyle/>
          <a:p>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&gt; postinumerot = </a:t>
            </a:r>
            <a:r>
              <a:rPr lang="fi-FI" sz="1600" b="0" dirty="0" err="1">
                <a:solidFill>
                  <a:srgbClr val="0000FF"/>
                </a:solidFill>
                <a:effectLst/>
                <a:latin typeface="Consolas" panose="020B0609020204030204" pitchFamily="49" charset="0"/>
              </a:rPr>
              <a:t>new</a:t>
            </a:r>
            <a:r>
              <a:rPr lang="fi-FI" sz="1600" b="0" dirty="0">
                <a:solidFill>
                  <a:srgbClr val="000000"/>
                </a:solidFill>
                <a:effectLst/>
                <a:latin typeface="Consolas" panose="020B0609020204030204" pitchFamily="49" charset="0"/>
              </a:rPr>
              <a:t> </a:t>
            </a:r>
            <a:r>
              <a:rPr lang="fi-FI" sz="1600" b="0" dirty="0" err="1">
                <a:solidFill>
                  <a:srgbClr val="0000FF"/>
                </a:solidFill>
                <a:effectLst/>
                <a:latin typeface="Consolas" panose="020B0609020204030204" pitchFamily="49" charset="0"/>
              </a:rPr>
              <a:t>HashMap</a:t>
            </a:r>
            <a:r>
              <a:rPr lang="fi-FI" sz="1600" b="0" dirty="0">
                <a:solidFill>
                  <a:srgbClr val="000000"/>
                </a:solidFill>
                <a:effectLst/>
                <a:latin typeface="Consolas" panose="020B0609020204030204" pitchFamily="49" charset="0"/>
              </a:rPr>
              <a:t>&lt;&gt;();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"00710"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"Helsinki"</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"90014"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"Oulu"</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"33720"</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postinumerot.put</a:t>
            </a:r>
            <a:r>
              <a:rPr lang="fi-FI" sz="1600" b="0" dirty="0">
                <a:solidFill>
                  <a:srgbClr val="000000"/>
                </a:solidFill>
                <a:effectLst/>
                <a:latin typeface="Consolas" panose="020B0609020204030204" pitchFamily="49" charset="0"/>
              </a:rPr>
              <a:t>(</a:t>
            </a:r>
            <a:r>
              <a:rPr lang="fi-FI" sz="1600" b="0" dirty="0">
                <a:solidFill>
                  <a:srgbClr val="A31515"/>
                </a:solidFill>
                <a:effectLst/>
                <a:latin typeface="Consolas" panose="020B0609020204030204" pitchFamily="49" charset="0"/>
              </a:rPr>
              <a:t>"33014"</a:t>
            </a:r>
            <a:r>
              <a:rPr lang="fi-FI" sz="1600" b="0" dirty="0">
                <a:solidFill>
                  <a:srgbClr val="000000"/>
                </a:solidFill>
                <a:effectLst/>
                <a:latin typeface="Consolas" panose="020B0609020204030204" pitchFamily="49" charset="0"/>
              </a:rPr>
              <a:t>, </a:t>
            </a:r>
            <a:r>
              <a:rPr lang="fi-FI" sz="1600" b="0" dirty="0">
                <a:solidFill>
                  <a:srgbClr val="A31515"/>
                </a:solidFill>
                <a:effectLst/>
                <a:latin typeface="Consolas" panose="020B0609020204030204" pitchFamily="49" charset="0"/>
              </a:rPr>
              <a:t>"Tampere"</a:t>
            </a:r>
            <a:r>
              <a:rPr lang="fi-FI" sz="1600" b="0" dirty="0">
                <a:solidFill>
                  <a:srgbClr val="000000"/>
                </a:solidFill>
                <a:effectLst/>
                <a:latin typeface="Consolas" panose="020B0609020204030204" pitchFamily="49" charset="0"/>
              </a:rPr>
              <a:t>);</a:t>
            </a:r>
          </a:p>
          <a:p>
            <a:br>
              <a:rPr lang="fi-FI" sz="1600" b="0" dirty="0">
                <a:solidFill>
                  <a:srgbClr val="000000"/>
                </a:solidFill>
                <a:effectLst/>
                <a:latin typeface="Consolas" panose="020B0609020204030204" pitchFamily="49" charset="0"/>
              </a:rPr>
            </a:br>
            <a:r>
              <a:rPr lang="fi-FI" sz="1600" b="0" dirty="0">
                <a:solidFill>
                  <a:srgbClr val="000000"/>
                </a:solidFill>
                <a:effectLst/>
                <a:latin typeface="Consolas" panose="020B0609020204030204" pitchFamily="49" charset="0"/>
              </a:rPr>
              <a:t>        </a:t>
            </a:r>
            <a:r>
              <a:rPr lang="fi-FI" sz="1600" b="0" dirty="0">
                <a:solidFill>
                  <a:srgbClr val="008000"/>
                </a:solidFill>
                <a:effectLst/>
                <a:latin typeface="Consolas" panose="020B0609020204030204" pitchFamily="49" charset="0"/>
              </a:rPr>
              <a:t>// väärin</a:t>
            </a:r>
            <a:endParaRPr lang="fi-FI" sz="1600" b="0" dirty="0">
              <a:solidFill>
                <a:srgbClr val="000000"/>
              </a:solidFill>
              <a:effectLst/>
              <a:latin typeface="Consolas" panose="020B0609020204030204" pitchFamily="49" charset="0"/>
            </a:endParaRPr>
          </a:p>
          <a:p>
            <a:r>
              <a:rPr lang="fi-FI" sz="1600" b="0" dirty="0">
                <a:solidFill>
                  <a:srgbClr val="000000"/>
                </a:solidFill>
                <a:effectLst/>
                <a:latin typeface="Consolas" panose="020B0609020204030204" pitchFamily="49" charset="0"/>
              </a:rPr>
              <a:t>        </a:t>
            </a:r>
            <a:r>
              <a:rPr lang="fi-FI" sz="1600" b="0" dirty="0">
                <a:solidFill>
                  <a:srgbClr val="0000FF"/>
                </a:solidFill>
                <a:effectLst/>
                <a:latin typeface="Consolas" panose="020B0609020204030204" pitchFamily="49" charset="0"/>
              </a:rPr>
              <a:t>for</a:t>
            </a:r>
            <a:r>
              <a:rPr lang="fi-FI" sz="1600" b="0" dirty="0">
                <a:solidFill>
                  <a:srgbClr val="000000"/>
                </a:solidFill>
                <a:effectLst/>
                <a:latin typeface="Consolas" panose="020B0609020204030204" pitchFamily="49" charset="0"/>
              </a:rPr>
              <a:t>(</a:t>
            </a:r>
            <a:r>
              <a:rPr lang="fi-FI" sz="1600" b="0" dirty="0" err="1">
                <a:solidFill>
                  <a:srgbClr val="0000FF"/>
                </a:solidFill>
                <a:effectLst/>
                <a:latin typeface="Consolas" panose="020B0609020204030204" pitchFamily="49" charset="0"/>
              </a:rPr>
              <a:t>String</a:t>
            </a:r>
            <a:r>
              <a:rPr lang="fi-FI" sz="1600" b="0" dirty="0">
                <a:solidFill>
                  <a:srgbClr val="000000"/>
                </a:solidFill>
                <a:effectLst/>
                <a:latin typeface="Consolas" panose="020B0609020204030204" pitchFamily="49" charset="0"/>
              </a:rPr>
              <a:t> postinumero </a:t>
            </a:r>
            <a:r>
              <a:rPr lang="fi-FI" sz="1600" b="0" dirty="0">
                <a:solidFill>
                  <a:srgbClr val="0000FF"/>
                </a:solidFill>
                <a:effectLst/>
                <a:latin typeface="Consolas" panose="020B0609020204030204" pitchFamily="49" charset="0"/>
              </a:rPr>
              <a:t>:</a:t>
            </a:r>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postinumerot.keySet</a:t>
            </a:r>
            <a:r>
              <a:rPr lang="fi-FI" sz="1600" b="0" dirty="0">
                <a:solidFill>
                  <a:srgbClr val="000000"/>
                </a:solidFill>
                <a:effectLst/>
                <a:latin typeface="Consolas" panose="020B0609020204030204" pitchFamily="49" charset="0"/>
              </a:rPr>
              <a:t>()) {</a:t>
            </a:r>
          </a:p>
          <a:p>
            <a:r>
              <a:rPr lang="fi-FI" sz="1600" b="0" dirty="0">
                <a:solidFill>
                  <a:srgbClr val="000000"/>
                </a:solidFill>
                <a:effectLst/>
                <a:latin typeface="Consolas" panose="020B0609020204030204" pitchFamily="49" charset="0"/>
              </a:rPr>
              <a:t>            </a:t>
            </a:r>
            <a:r>
              <a:rPr lang="fi-FI" sz="1600" b="0" dirty="0" err="1">
                <a:solidFill>
                  <a:srgbClr val="000000"/>
                </a:solidFill>
                <a:effectLst/>
                <a:latin typeface="Consolas" panose="020B0609020204030204" pitchFamily="49" charset="0"/>
              </a:rPr>
              <a:t>System.out.println</a:t>
            </a:r>
            <a:r>
              <a:rPr lang="fi-FI" sz="1600" b="0" dirty="0">
                <a:solidFill>
                  <a:srgbClr val="000000"/>
                </a:solidFill>
                <a:effectLst/>
                <a:latin typeface="Consolas" panose="020B0609020204030204" pitchFamily="49" charset="0"/>
              </a:rPr>
              <a:t>(</a:t>
            </a:r>
            <a:r>
              <a:rPr lang="fi-FI" sz="1600" b="0" dirty="0" err="1">
                <a:solidFill>
                  <a:srgbClr val="000000"/>
                </a:solidFill>
                <a:effectLst/>
                <a:latin typeface="Consolas" panose="020B0609020204030204" pitchFamily="49" charset="0"/>
              </a:rPr>
              <a:t>postinumerot.get</a:t>
            </a:r>
            <a:r>
              <a:rPr lang="fi-FI" sz="1600" b="0" dirty="0">
                <a:solidFill>
                  <a:srgbClr val="000000"/>
                </a:solidFill>
                <a:effectLst/>
                <a:latin typeface="Consolas" panose="020B0609020204030204" pitchFamily="49" charset="0"/>
              </a:rPr>
              <a:t>(postinumero));</a:t>
            </a:r>
          </a:p>
          <a:p>
            <a:r>
              <a:rPr lang="fi-FI" sz="1600" b="0" dirty="0">
                <a:solidFill>
                  <a:srgbClr val="000000"/>
                </a:solidFill>
                <a:effectLst/>
                <a:latin typeface="Consolas" panose="020B0609020204030204" pitchFamily="49" charset="0"/>
              </a:rPr>
              <a:t>        }      </a:t>
            </a:r>
          </a:p>
        </p:txBody>
      </p:sp>
    </p:spTree>
    <p:extLst>
      <p:ext uri="{BB962C8B-B14F-4D97-AF65-F5344CB8AC3E}">
        <p14:creationId xmlns:p14="http://schemas.microsoft.com/office/powerpoint/2010/main" val="17419894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CC8F-3AD7-CDAE-19FA-A9C916B71AA1}"/>
              </a:ext>
            </a:extLst>
          </p:cNvPr>
          <p:cNvSpPr>
            <a:spLocks noGrp="1"/>
          </p:cNvSpPr>
          <p:nvPr>
            <p:ph type="title"/>
          </p:nvPr>
        </p:nvSpPr>
        <p:spPr/>
        <p:txBody>
          <a:bodyPr/>
          <a:lstStyle/>
          <a:p>
            <a:r>
              <a:rPr lang="fi-FI" dirty="0"/>
              <a:t>Hajautustaulu – avainten ja arvojen läpikäynti</a:t>
            </a:r>
          </a:p>
        </p:txBody>
      </p:sp>
      <p:sp>
        <p:nvSpPr>
          <p:cNvPr id="5" name="TextBox 4">
            <a:extLst>
              <a:ext uri="{FF2B5EF4-FFF2-40B4-BE49-F238E27FC236}">
                <a16:creationId xmlns:a16="http://schemas.microsoft.com/office/drawing/2014/main" id="{9457C932-3C5D-0F2B-0603-29C540BD03ED}"/>
              </a:ext>
            </a:extLst>
          </p:cNvPr>
          <p:cNvSpPr txBox="1"/>
          <p:nvPr/>
        </p:nvSpPr>
        <p:spPr>
          <a:xfrm>
            <a:off x="-234364" y="3026206"/>
            <a:ext cx="11450097" cy="2812886"/>
          </a:xfrm>
          <a:prstGeom prst="rect">
            <a:avLst/>
          </a:prstGeom>
          <a:noFill/>
        </p:spPr>
        <p:txBody>
          <a:bodyPr wrap="square">
            <a:spAutoFit/>
          </a:bodyPr>
          <a:lstStyle/>
          <a:p>
            <a:pPr>
              <a:lnSpc>
                <a:spcPct val="150000"/>
              </a:lnSpc>
            </a:pPr>
            <a:r>
              <a:rPr lang="fi-FI" sz="2000" b="0" dirty="0">
                <a:solidFill>
                  <a:srgbClr val="000000"/>
                </a:solidFill>
                <a:effectLst/>
                <a:latin typeface="Consolas" panose="020B0609020204030204" pitchFamily="49" charset="0"/>
              </a:rPr>
              <a:t>        </a:t>
            </a:r>
            <a:r>
              <a:rPr lang="fi-FI" sz="2000" b="0" dirty="0">
                <a:solidFill>
                  <a:srgbClr val="008000"/>
                </a:solidFill>
                <a:effectLst/>
                <a:latin typeface="Consolas" panose="020B0609020204030204" pitchFamily="49" charset="0"/>
              </a:rPr>
              <a:t>// tulostetaan kunkin maakunnan kuntamäärä</a:t>
            </a:r>
            <a:endParaRPr lang="fi-FI" sz="2000" b="0" dirty="0">
              <a:solidFill>
                <a:srgbClr val="000000"/>
              </a:solidFill>
              <a:effectLst/>
              <a:latin typeface="Consolas" panose="020B0609020204030204" pitchFamily="49" charset="0"/>
            </a:endParaRPr>
          </a:p>
          <a:p>
            <a:pPr>
              <a:lnSpc>
                <a:spcPct val="150000"/>
              </a:lnSpc>
            </a:pPr>
            <a:r>
              <a:rPr lang="fi-FI" sz="2000" b="0" dirty="0">
                <a:solidFill>
                  <a:srgbClr val="000000"/>
                </a:solidFill>
                <a:effectLst/>
                <a:latin typeface="Consolas" panose="020B0609020204030204" pitchFamily="49" charset="0"/>
              </a:rPr>
              <a:t>        </a:t>
            </a:r>
            <a:r>
              <a:rPr lang="fi-FI" sz="2000" b="0" dirty="0">
                <a:solidFill>
                  <a:srgbClr val="0000FF"/>
                </a:solidFill>
                <a:effectLst/>
                <a:latin typeface="Consolas" panose="020B0609020204030204" pitchFamily="49" charset="0"/>
              </a:rPr>
              <a:t>for</a:t>
            </a: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HashMap</a:t>
            </a:r>
            <a:r>
              <a:rPr lang="fi-FI" sz="2000" b="0" dirty="0" err="1">
                <a:solidFill>
                  <a:srgbClr val="000000"/>
                </a:solidFill>
                <a:effectLst/>
                <a:latin typeface="Consolas" panose="020B0609020204030204" pitchFamily="49" charset="0"/>
              </a:rPr>
              <a:t>.</a:t>
            </a:r>
            <a:r>
              <a:rPr lang="fi-FI" sz="2000" b="0" dirty="0" err="1">
                <a:solidFill>
                  <a:srgbClr val="0000FF"/>
                </a:solidFill>
                <a:effectLst/>
                <a:latin typeface="Consolas" panose="020B0609020204030204" pitchFamily="49" charset="0"/>
              </a:rPr>
              <a:t>Entry</a:t>
            </a:r>
            <a:r>
              <a:rPr lang="fi-FI" sz="2000" b="0" dirty="0">
                <a:solidFill>
                  <a:srgbClr val="000000"/>
                </a:solidFill>
                <a:effectLst/>
                <a:latin typeface="Consolas" panose="020B0609020204030204" pitchFamily="49" charset="0"/>
              </a:rPr>
              <a:t>&lt;</a:t>
            </a:r>
            <a:r>
              <a:rPr lang="fi-FI" sz="2000" b="0" dirty="0" err="1">
                <a:solidFill>
                  <a:srgbClr val="0000FF"/>
                </a:solidFill>
                <a:effectLst/>
                <a:latin typeface="Consolas" panose="020B0609020204030204" pitchFamily="49" charset="0"/>
              </a:rPr>
              <a:t>String</a:t>
            </a: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Integer</a:t>
            </a:r>
            <a:r>
              <a:rPr lang="fi-FI" sz="2000" b="0" dirty="0">
                <a:solidFill>
                  <a:srgbClr val="000000"/>
                </a:solidFill>
                <a:effectLst/>
                <a:latin typeface="Consolas" panose="020B0609020204030204" pitchFamily="49" charset="0"/>
              </a:rPr>
              <a:t>&gt; mk </a:t>
            </a:r>
            <a:r>
              <a:rPr lang="fi-FI" sz="2000" b="0" dirty="0">
                <a:solidFill>
                  <a:srgbClr val="0000FF"/>
                </a:solidFill>
                <a:effectLst/>
                <a:latin typeface="Consolas" panose="020B0609020204030204" pitchFamily="49" charset="0"/>
              </a:rPr>
              <a:t>:</a:t>
            </a: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kunnatMaakunnissa.entrySet</a:t>
            </a:r>
            <a:r>
              <a:rPr lang="fi-FI" sz="2000" b="0" dirty="0">
                <a:solidFill>
                  <a:srgbClr val="000000"/>
                </a:solidFill>
                <a:effectLst/>
                <a:latin typeface="Consolas" panose="020B0609020204030204" pitchFamily="49" charset="0"/>
              </a:rPr>
              <a:t>()) {</a:t>
            </a:r>
          </a:p>
          <a:p>
            <a:pPr>
              <a:lnSpc>
                <a:spcPct val="150000"/>
              </a:lnSpc>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String</a:t>
            </a:r>
            <a:r>
              <a:rPr lang="fi-FI" sz="2000" b="0" dirty="0">
                <a:solidFill>
                  <a:srgbClr val="000000"/>
                </a:solidFill>
                <a:effectLst/>
                <a:latin typeface="Consolas" panose="020B0609020204030204" pitchFamily="49" charset="0"/>
              </a:rPr>
              <a:t> maakunta = </a:t>
            </a:r>
            <a:r>
              <a:rPr lang="fi-FI" sz="2000" b="0" dirty="0" err="1">
                <a:solidFill>
                  <a:srgbClr val="000000"/>
                </a:solidFill>
                <a:effectLst/>
                <a:latin typeface="Consolas" panose="020B0609020204030204" pitchFamily="49" charset="0"/>
              </a:rPr>
              <a:t>mk.getKey</a:t>
            </a:r>
            <a:r>
              <a:rPr lang="fi-FI" sz="2000" b="0" dirty="0">
                <a:solidFill>
                  <a:srgbClr val="000000"/>
                </a:solidFill>
                <a:effectLst/>
                <a:latin typeface="Consolas" panose="020B0609020204030204" pitchFamily="49" charset="0"/>
              </a:rPr>
              <a:t>();</a:t>
            </a:r>
          </a:p>
          <a:p>
            <a:pPr>
              <a:lnSpc>
                <a:spcPct val="150000"/>
              </a:lnSpc>
            </a:pPr>
            <a:r>
              <a:rPr lang="fi-FI" sz="2000" b="0" dirty="0">
                <a:solidFill>
                  <a:srgbClr val="000000"/>
                </a:solidFill>
                <a:effectLst/>
                <a:latin typeface="Consolas" panose="020B0609020204030204" pitchFamily="49" charset="0"/>
              </a:rPr>
              <a:t>            </a:t>
            </a:r>
            <a:r>
              <a:rPr lang="fi-FI" sz="2000" b="0" dirty="0" err="1">
                <a:solidFill>
                  <a:srgbClr val="0000FF"/>
                </a:solidFill>
                <a:effectLst/>
                <a:latin typeface="Consolas" panose="020B0609020204030204" pitchFamily="49" charset="0"/>
              </a:rPr>
              <a:t>int</a:t>
            </a:r>
            <a:r>
              <a:rPr lang="fi-FI" sz="2000" b="0" dirty="0">
                <a:solidFill>
                  <a:srgbClr val="000000"/>
                </a:solidFill>
                <a:effectLst/>
                <a:latin typeface="Consolas" panose="020B0609020204030204" pitchFamily="49" charset="0"/>
              </a:rPr>
              <a:t> lkm = </a:t>
            </a:r>
            <a:r>
              <a:rPr lang="fi-FI" sz="2000" b="0" dirty="0" err="1">
                <a:solidFill>
                  <a:srgbClr val="000000"/>
                </a:solidFill>
                <a:effectLst/>
                <a:latin typeface="Consolas" panose="020B0609020204030204" pitchFamily="49" charset="0"/>
              </a:rPr>
              <a:t>mk.getValue</a:t>
            </a:r>
            <a:r>
              <a:rPr lang="fi-FI" sz="2000" b="0" dirty="0">
                <a:solidFill>
                  <a:srgbClr val="000000"/>
                </a:solidFill>
                <a:effectLst/>
                <a:latin typeface="Consolas" panose="020B0609020204030204" pitchFamily="49" charset="0"/>
              </a:rPr>
              <a:t>();</a:t>
            </a:r>
          </a:p>
          <a:p>
            <a:pPr>
              <a:lnSpc>
                <a:spcPct val="150000"/>
              </a:lnSpc>
            </a:pPr>
            <a:r>
              <a:rPr lang="fi-FI" sz="2000" b="0" dirty="0">
                <a:solidFill>
                  <a:srgbClr val="000000"/>
                </a:solidFill>
                <a:effectLst/>
                <a:latin typeface="Consolas" panose="020B0609020204030204" pitchFamily="49" charset="0"/>
              </a:rPr>
              <a:t>            </a:t>
            </a:r>
            <a:r>
              <a:rPr lang="fi-FI" sz="2000" b="0" dirty="0" err="1">
                <a:solidFill>
                  <a:srgbClr val="000000"/>
                </a:solidFill>
                <a:effectLst/>
                <a:latin typeface="Consolas" panose="020B0609020204030204" pitchFamily="49" charset="0"/>
              </a:rPr>
              <a:t>System.out.println</a:t>
            </a:r>
            <a:r>
              <a:rPr lang="fi-FI" sz="2000" b="0" dirty="0">
                <a:solidFill>
                  <a:srgbClr val="000000"/>
                </a:solidFill>
                <a:effectLst/>
                <a:latin typeface="Consolas" panose="020B0609020204030204" pitchFamily="49" charset="0"/>
              </a:rPr>
              <a:t>(maakunta + </a:t>
            </a:r>
            <a:r>
              <a:rPr lang="fi-FI" sz="2000" b="0" dirty="0">
                <a:solidFill>
                  <a:srgbClr val="A31515"/>
                </a:solidFill>
                <a:effectLst/>
                <a:latin typeface="Consolas" panose="020B0609020204030204" pitchFamily="49" charset="0"/>
              </a:rPr>
              <a:t>" "</a:t>
            </a:r>
            <a:r>
              <a:rPr lang="fi-FI" sz="2000" b="0" dirty="0">
                <a:solidFill>
                  <a:srgbClr val="000000"/>
                </a:solidFill>
                <a:effectLst/>
                <a:latin typeface="Consolas" panose="020B0609020204030204" pitchFamily="49" charset="0"/>
              </a:rPr>
              <a:t> + lkm);</a:t>
            </a:r>
          </a:p>
          <a:p>
            <a:pPr>
              <a:lnSpc>
                <a:spcPct val="150000"/>
              </a:lnSpc>
            </a:pPr>
            <a:r>
              <a:rPr lang="fi-FI" sz="20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04497981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AB5D-4DD5-282F-A4B9-C4672417BD59}"/>
              </a:ext>
            </a:extLst>
          </p:cNvPr>
          <p:cNvSpPr>
            <a:spLocks noGrp="1"/>
          </p:cNvSpPr>
          <p:nvPr>
            <p:ph type="title"/>
          </p:nvPr>
        </p:nvSpPr>
        <p:spPr/>
        <p:txBody>
          <a:bodyPr/>
          <a:lstStyle/>
          <a:p>
            <a:r>
              <a:rPr lang="fi-FI" dirty="0"/>
              <a:t>Hajautustaulu – </a:t>
            </a:r>
            <a:r>
              <a:rPr lang="fi-FI" dirty="0" err="1"/>
              <a:t>containsKey</a:t>
            </a:r>
            <a:endParaRPr lang="fi-FI" dirty="0"/>
          </a:p>
        </p:txBody>
      </p:sp>
      <p:sp>
        <p:nvSpPr>
          <p:cNvPr id="3" name="Content Placeholder 2">
            <a:extLst>
              <a:ext uri="{FF2B5EF4-FFF2-40B4-BE49-F238E27FC236}">
                <a16:creationId xmlns:a16="http://schemas.microsoft.com/office/drawing/2014/main" id="{B1D9F0D0-6302-462F-D078-96475F587322}"/>
              </a:ext>
            </a:extLst>
          </p:cNvPr>
          <p:cNvSpPr>
            <a:spLocks noGrp="1"/>
          </p:cNvSpPr>
          <p:nvPr>
            <p:ph idx="1"/>
          </p:nvPr>
        </p:nvSpPr>
        <p:spPr/>
        <p:txBody>
          <a:bodyPr/>
          <a:lstStyle/>
          <a:p>
            <a:r>
              <a:rPr lang="fi-FI" dirty="0"/>
              <a:t>Metodilla </a:t>
            </a:r>
            <a:r>
              <a:rPr lang="fi-FI" dirty="0" err="1"/>
              <a:t>containsKey</a:t>
            </a:r>
            <a:r>
              <a:rPr lang="fi-FI" dirty="0"/>
              <a:t> voi tarkistaa, löytyykö hajautustaulusta tiettyä avainta. Metodi palauttaa arvon </a:t>
            </a:r>
            <a:r>
              <a:rPr lang="fi-FI" dirty="0" err="1"/>
              <a:t>true</a:t>
            </a:r>
            <a:r>
              <a:rPr lang="fi-FI" dirty="0"/>
              <a:t> tai </a:t>
            </a:r>
            <a:r>
              <a:rPr lang="fi-FI" dirty="0" err="1"/>
              <a:t>false</a:t>
            </a:r>
            <a:r>
              <a:rPr lang="fi-FI" dirty="0"/>
              <a:t> sen mukaan, löytyykö avainta.</a:t>
            </a:r>
          </a:p>
          <a:p>
            <a:r>
              <a:rPr lang="fi-FI" dirty="0"/>
              <a:t>Huomaa, että </a:t>
            </a:r>
            <a:r>
              <a:rPr lang="fi-FI" dirty="0" err="1"/>
              <a:t>get</a:t>
            </a:r>
            <a:r>
              <a:rPr lang="fi-FI" dirty="0"/>
              <a:t>-metodi palauttaa arvon </a:t>
            </a:r>
            <a:r>
              <a:rPr lang="fi-FI" dirty="0" err="1"/>
              <a:t>null</a:t>
            </a:r>
            <a:r>
              <a:rPr lang="fi-FI" dirty="0"/>
              <a:t>, jos avainta ei löydy</a:t>
            </a:r>
          </a:p>
        </p:txBody>
      </p:sp>
    </p:spTree>
    <p:extLst>
      <p:ext uri="{BB962C8B-B14F-4D97-AF65-F5344CB8AC3E}">
        <p14:creationId xmlns:p14="http://schemas.microsoft.com/office/powerpoint/2010/main" val="24151195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18F7-0E85-DD80-3872-8D76F22DFECE}"/>
              </a:ext>
            </a:extLst>
          </p:cNvPr>
          <p:cNvSpPr>
            <a:spLocks noGrp="1"/>
          </p:cNvSpPr>
          <p:nvPr>
            <p:ph type="title"/>
          </p:nvPr>
        </p:nvSpPr>
        <p:spPr/>
        <p:txBody>
          <a:bodyPr/>
          <a:lstStyle/>
          <a:p>
            <a:r>
              <a:rPr lang="fi-FI" dirty="0">
                <a:solidFill>
                  <a:srgbClr val="FF0000"/>
                </a:solidFill>
              </a:rPr>
              <a:t>Harjoitus</a:t>
            </a:r>
          </a:p>
        </p:txBody>
      </p:sp>
      <p:sp>
        <p:nvSpPr>
          <p:cNvPr id="3" name="Content Placeholder 2">
            <a:extLst>
              <a:ext uri="{FF2B5EF4-FFF2-40B4-BE49-F238E27FC236}">
                <a16:creationId xmlns:a16="http://schemas.microsoft.com/office/drawing/2014/main" id="{98FFEA20-4130-9744-0D76-0A1271206861}"/>
              </a:ext>
            </a:extLst>
          </p:cNvPr>
          <p:cNvSpPr>
            <a:spLocks noGrp="1"/>
          </p:cNvSpPr>
          <p:nvPr>
            <p:ph idx="1"/>
          </p:nvPr>
        </p:nvSpPr>
        <p:spPr/>
        <p:txBody>
          <a:bodyPr>
            <a:normAutofit fontScale="92500" lnSpcReduction="10000"/>
          </a:bodyPr>
          <a:lstStyle/>
          <a:p>
            <a:r>
              <a:rPr lang="fi-FI" dirty="0"/>
              <a:t>Jatka kunta-tehtävää. Ohjelma laskee kuntien lukumäärän kussakin maakunnassa</a:t>
            </a:r>
          </a:p>
          <a:p>
            <a:r>
              <a:rPr lang="fi-FI" dirty="0"/>
              <a:t>Ohjelma tekee </a:t>
            </a:r>
            <a:r>
              <a:rPr lang="fi-FI" dirty="0" err="1"/>
              <a:t>HashMapin</a:t>
            </a:r>
            <a:r>
              <a:rPr lang="fi-FI" dirty="0"/>
              <a:t> maakunnista</a:t>
            </a:r>
          </a:p>
          <a:p>
            <a:pPr lvl="1"/>
            <a:r>
              <a:rPr lang="fi-FI" dirty="0"/>
              <a:t>Avain: maakunta</a:t>
            </a:r>
          </a:p>
          <a:p>
            <a:pPr lvl="1"/>
            <a:r>
              <a:rPr lang="fi-FI" dirty="0"/>
              <a:t>Arvo: kuntien lukumäärä maakunnassa</a:t>
            </a:r>
          </a:p>
          <a:p>
            <a:r>
              <a:rPr lang="fi-FI" dirty="0" err="1"/>
              <a:t>HashMap</a:t>
            </a:r>
            <a:r>
              <a:rPr lang="fi-FI" dirty="0"/>
              <a:t>&lt;</a:t>
            </a:r>
            <a:r>
              <a:rPr lang="fi-FI" dirty="0" err="1"/>
              <a:t>String</a:t>
            </a:r>
            <a:r>
              <a:rPr lang="fi-FI" dirty="0"/>
              <a:t>, </a:t>
            </a:r>
            <a:r>
              <a:rPr lang="fi-FI" dirty="0" err="1"/>
              <a:t>Integer</a:t>
            </a:r>
            <a:r>
              <a:rPr lang="fi-FI" dirty="0"/>
              <a:t>&gt; maakunnat</a:t>
            </a:r>
          </a:p>
          <a:p>
            <a:r>
              <a:rPr lang="fi-FI" dirty="0"/>
              <a:t>Lue tiedostoa rivi eli kunta kerrallaan</a:t>
            </a:r>
          </a:p>
          <a:p>
            <a:r>
              <a:rPr lang="fi-FI" dirty="0"/>
              <a:t>Etsi maakunnat-hajautustaulusta löytyykö sieltä kuntaa vastaavaa maakuntaa</a:t>
            </a:r>
          </a:p>
          <a:p>
            <a:pPr lvl="1"/>
            <a:r>
              <a:rPr lang="fi-FI" dirty="0"/>
              <a:t>Jos maakuntaa ei löydy, lisää se hajautustauluun</a:t>
            </a:r>
          </a:p>
          <a:p>
            <a:r>
              <a:rPr lang="fi-FI" dirty="0"/>
              <a:t>Kasvata laskuria kuntaa vastaavan maakunnan kohdalta hajautustaulussa</a:t>
            </a:r>
          </a:p>
          <a:p>
            <a:endParaRPr lang="fi-FI" dirty="0"/>
          </a:p>
          <a:p>
            <a:endParaRPr lang="fi-FI" dirty="0"/>
          </a:p>
          <a:p>
            <a:endParaRPr lang="fi-FI" dirty="0"/>
          </a:p>
        </p:txBody>
      </p:sp>
    </p:spTree>
    <p:extLst>
      <p:ext uri="{BB962C8B-B14F-4D97-AF65-F5344CB8AC3E}">
        <p14:creationId xmlns:p14="http://schemas.microsoft.com/office/powerpoint/2010/main" val="4489976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solidFill>
                  <a:srgbClr val="FF0000"/>
                </a:solidFill>
              </a:rPr>
              <a:t>Harjoitus</a:t>
            </a:r>
          </a:p>
        </p:txBody>
      </p:sp>
      <p:sp>
        <p:nvSpPr>
          <p:cNvPr id="3" name="Content Placeholder 2"/>
          <p:cNvSpPr>
            <a:spLocks noGrp="1"/>
          </p:cNvSpPr>
          <p:nvPr>
            <p:ph idx="1"/>
          </p:nvPr>
        </p:nvSpPr>
        <p:spPr>
          <a:xfrm>
            <a:off x="838200" y="1825625"/>
            <a:ext cx="6044514" cy="4351338"/>
          </a:xfrm>
        </p:spPr>
        <p:txBody>
          <a:bodyPr>
            <a:normAutofit/>
          </a:bodyPr>
          <a:lstStyle/>
          <a:p>
            <a:r>
              <a:rPr lang="fi-FI" sz="2000" dirty="0"/>
              <a:t>Tee ohjelma, joka lajittelee kaupungit osavaltioittain listoihin. Ohjelmassa luodaan hajautustaulu osavaltioista, jonka avaimina on osavaltioiden tunnukset. Avainta vastaavina arvoina on listat, jotka sisältävät tähän osavaltioon kuuluvat kaupungit</a:t>
            </a:r>
          </a:p>
          <a:p>
            <a:endParaRPr lang="fi-FI" sz="2000" dirty="0"/>
          </a:p>
        </p:txBody>
      </p:sp>
      <p:pic>
        <p:nvPicPr>
          <p:cNvPr id="4" name="Picture 3"/>
          <p:cNvPicPr/>
          <p:nvPr/>
        </p:nvPicPr>
        <p:blipFill>
          <a:blip r:embed="rId2"/>
          <a:stretch>
            <a:fillRect/>
          </a:stretch>
        </p:blipFill>
        <p:spPr>
          <a:xfrm>
            <a:off x="1193122" y="3709297"/>
            <a:ext cx="5579745" cy="2693035"/>
          </a:xfrm>
          <a:prstGeom prst="rect">
            <a:avLst/>
          </a:prstGeom>
        </p:spPr>
      </p:pic>
      <p:sp>
        <p:nvSpPr>
          <p:cNvPr id="5" name="Rectangle 4">
            <a:extLst>
              <a:ext uri="{FF2B5EF4-FFF2-40B4-BE49-F238E27FC236}">
                <a16:creationId xmlns:a16="http://schemas.microsoft.com/office/drawing/2014/main" id="{B79B7291-5408-41B9-6B87-12BD9F98BDA5}"/>
              </a:ext>
            </a:extLst>
          </p:cNvPr>
          <p:cNvSpPr/>
          <p:nvPr/>
        </p:nvSpPr>
        <p:spPr>
          <a:xfrm>
            <a:off x="8066111" y="2271455"/>
            <a:ext cx="3191608" cy="3831818"/>
          </a:xfrm>
          <a:prstGeom prst="rect">
            <a:avLst/>
          </a:prstGeom>
        </p:spPr>
        <p:txBody>
          <a:bodyPr wrap="square">
            <a:spAutoFit/>
          </a:bodyPr>
          <a:lstStyle/>
          <a:p>
            <a:pPr algn="just">
              <a:lnSpc>
                <a:spcPct val="150000"/>
              </a:lnSpc>
              <a:spcAft>
                <a:spcPts val="0"/>
              </a:spcAft>
            </a:pPr>
            <a:r>
              <a:rPr lang="en-US" dirty="0" err="1">
                <a:latin typeface="Arial" panose="020B0604020202020204" pitchFamily="34" charset="0"/>
                <a:ea typeface="Calibri" panose="020F0502020204030204" pitchFamily="34" charset="0"/>
              </a:rPr>
              <a:t>Denver;CO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Salem;OR</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Boulder;CO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Jackson;WY</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Portland;OR</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a:latin typeface="Arial" panose="020B0604020202020204" pitchFamily="34" charset="0"/>
                <a:ea typeface="Calibri" panose="020F0502020204030204" pitchFamily="34" charset="0"/>
              </a:rPr>
              <a:t>Colorado </a:t>
            </a:r>
            <a:r>
              <a:rPr lang="en-US" dirty="0" err="1">
                <a:latin typeface="Arial" panose="020B0604020202020204" pitchFamily="34" charset="0"/>
                <a:ea typeface="Calibri" panose="020F0502020204030204" pitchFamily="34" charset="0"/>
              </a:rPr>
              <a:t>Springs;CO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Cheyenne;WY</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a:latin typeface="Arial" panose="020B0604020202020204" pitchFamily="34" charset="0"/>
                <a:ea typeface="Calibri" panose="020F0502020204030204" pitchFamily="34" charset="0"/>
              </a:rPr>
              <a:t>Gold </a:t>
            </a:r>
            <a:r>
              <a:rPr lang="en-US" dirty="0" err="1">
                <a:latin typeface="Arial" panose="020B0604020202020204" pitchFamily="34" charset="0"/>
                <a:ea typeface="Calibri" panose="020F0502020204030204" pitchFamily="34" charset="0"/>
              </a:rPr>
              <a:t>Hill;CO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Cody;WY</a:t>
            </a:r>
            <a:endParaRPr lang="fi-FI" dirty="0">
              <a:latin typeface="Arial" panose="020B0604020202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A04D9082-220A-31FC-4169-9D0CF134238A}"/>
              </a:ext>
            </a:extLst>
          </p:cNvPr>
          <p:cNvSpPr txBox="1"/>
          <p:nvPr/>
        </p:nvSpPr>
        <p:spPr>
          <a:xfrm>
            <a:off x="8066111" y="1796405"/>
            <a:ext cx="1002775" cy="369332"/>
          </a:xfrm>
          <a:prstGeom prst="rect">
            <a:avLst/>
          </a:prstGeom>
          <a:noFill/>
        </p:spPr>
        <p:txBody>
          <a:bodyPr wrap="none" rtlCol="0">
            <a:spAutoFit/>
          </a:bodyPr>
          <a:lstStyle/>
          <a:p>
            <a:r>
              <a:rPr lang="fi-FI" dirty="0"/>
              <a:t>cities.txt</a:t>
            </a:r>
          </a:p>
        </p:txBody>
      </p:sp>
    </p:spTree>
    <p:extLst>
      <p:ext uri="{BB962C8B-B14F-4D97-AF65-F5344CB8AC3E}">
        <p14:creationId xmlns:p14="http://schemas.microsoft.com/office/powerpoint/2010/main" val="16190143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477D0-E44E-B197-B36C-D991B2DBDC44}"/>
              </a:ext>
            </a:extLst>
          </p:cNvPr>
          <p:cNvSpPr>
            <a:spLocks noGrp="1"/>
          </p:cNvSpPr>
          <p:nvPr>
            <p:ph type="title"/>
          </p:nvPr>
        </p:nvSpPr>
        <p:spPr/>
        <p:txBody>
          <a:bodyPr/>
          <a:lstStyle/>
          <a:p>
            <a:r>
              <a:rPr lang="fi-FI" dirty="0"/>
              <a:t>Harjoitus</a:t>
            </a:r>
          </a:p>
        </p:txBody>
      </p:sp>
      <p:sp>
        <p:nvSpPr>
          <p:cNvPr id="3" name="Content Placeholder 2">
            <a:extLst>
              <a:ext uri="{FF2B5EF4-FFF2-40B4-BE49-F238E27FC236}">
                <a16:creationId xmlns:a16="http://schemas.microsoft.com/office/drawing/2014/main" id="{C5F9C836-723E-D54A-ACA9-035D5CDE9484}"/>
              </a:ext>
            </a:extLst>
          </p:cNvPr>
          <p:cNvSpPr>
            <a:spLocks noGrp="1"/>
          </p:cNvSpPr>
          <p:nvPr>
            <p:ph idx="1"/>
          </p:nvPr>
        </p:nvSpPr>
        <p:spPr/>
        <p:txBody>
          <a:bodyPr/>
          <a:lstStyle/>
          <a:p>
            <a:r>
              <a:rPr lang="fi-FI" dirty="0"/>
              <a:t>Tee ohjelma, joka lukee tiedoston kunnat.txt</a:t>
            </a:r>
          </a:p>
          <a:p>
            <a:r>
              <a:rPr lang="fi-FI" dirty="0"/>
              <a:t>Ohjelma laskee kunkin maakunnan pinta-alan (summa maakunnan kuntien pinta-alasta)</a:t>
            </a:r>
          </a:p>
          <a:p>
            <a:r>
              <a:rPr lang="fi-FI" dirty="0"/>
              <a:t>Ota pohjaksi KuntienLkm.java</a:t>
            </a:r>
          </a:p>
          <a:p>
            <a:r>
              <a:rPr lang="fi-FI" dirty="0" err="1"/>
              <a:t>HashMap</a:t>
            </a:r>
            <a:r>
              <a:rPr lang="fi-FI" dirty="0"/>
              <a:t>&lt;</a:t>
            </a:r>
            <a:r>
              <a:rPr lang="fi-FI" dirty="0" err="1"/>
              <a:t>String</a:t>
            </a:r>
            <a:r>
              <a:rPr lang="fi-FI" dirty="0"/>
              <a:t>, </a:t>
            </a:r>
            <a:r>
              <a:rPr lang="fi-FI" dirty="0" err="1"/>
              <a:t>Double</a:t>
            </a:r>
            <a:r>
              <a:rPr lang="fi-FI" dirty="0"/>
              <a:t>&gt; </a:t>
            </a:r>
            <a:r>
              <a:rPr lang="fi-FI" dirty="0" err="1"/>
              <a:t>maakuntienPA</a:t>
            </a:r>
            <a:endParaRPr lang="fi-FI" dirty="0"/>
          </a:p>
        </p:txBody>
      </p:sp>
    </p:spTree>
    <p:extLst>
      <p:ext uri="{BB962C8B-B14F-4D97-AF65-F5344CB8AC3E}">
        <p14:creationId xmlns:p14="http://schemas.microsoft.com/office/powerpoint/2010/main" val="29785616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717BA-289E-FBF5-4784-BF75CBBA897F}"/>
              </a:ext>
            </a:extLst>
          </p:cNvPr>
          <p:cNvSpPr>
            <a:spLocks noGrp="1"/>
          </p:cNvSpPr>
          <p:nvPr>
            <p:ph type="title"/>
          </p:nvPr>
        </p:nvSpPr>
        <p:spPr/>
        <p:txBody>
          <a:bodyPr/>
          <a:lstStyle/>
          <a:p>
            <a:r>
              <a:rPr lang="fi-FI" dirty="0">
                <a:solidFill>
                  <a:srgbClr val="FF0000"/>
                </a:solidFill>
              </a:rPr>
              <a:t>Harjoitus</a:t>
            </a:r>
            <a:endParaRPr lang="fi-FI" dirty="0"/>
          </a:p>
        </p:txBody>
      </p:sp>
      <p:sp>
        <p:nvSpPr>
          <p:cNvPr id="3" name="Content Placeholder 2">
            <a:extLst>
              <a:ext uri="{FF2B5EF4-FFF2-40B4-BE49-F238E27FC236}">
                <a16:creationId xmlns:a16="http://schemas.microsoft.com/office/drawing/2014/main" id="{0004FA05-C67F-FF70-119D-5D18CDD14F7E}"/>
              </a:ext>
            </a:extLst>
          </p:cNvPr>
          <p:cNvSpPr>
            <a:spLocks noGrp="1"/>
          </p:cNvSpPr>
          <p:nvPr>
            <p:ph idx="1"/>
          </p:nvPr>
        </p:nvSpPr>
        <p:spPr>
          <a:xfrm>
            <a:off x="838200" y="1825625"/>
            <a:ext cx="10648950" cy="4351338"/>
          </a:xfrm>
        </p:spPr>
        <p:txBody>
          <a:bodyPr>
            <a:normAutofit fontScale="85000" lnSpcReduction="20000"/>
          </a:bodyPr>
          <a:lstStyle/>
          <a:p>
            <a:r>
              <a:rPr lang="fi-FI" dirty="0"/>
              <a:t>Jatka kunta-tehtävää</a:t>
            </a:r>
          </a:p>
          <a:p>
            <a:r>
              <a:rPr lang="fi-FI" dirty="0"/>
              <a:t>Ota pohjaksi </a:t>
            </a:r>
            <a:r>
              <a:rPr lang="fi-FI" dirty="0" err="1"/>
              <a:t>KuntienLkm</a:t>
            </a:r>
            <a:r>
              <a:rPr lang="fi-FI" dirty="0"/>
              <a:t> (ja </a:t>
            </a:r>
            <a:r>
              <a:rPr lang="fi-FI"/>
              <a:t>Kunnat.java)</a:t>
            </a:r>
            <a:endParaRPr lang="fi-FI" dirty="0"/>
          </a:p>
          <a:p>
            <a:r>
              <a:rPr lang="fi-FI" dirty="0"/>
              <a:t>Tee luokka Maakunta, joka sisältää listan sen kunnista</a:t>
            </a:r>
          </a:p>
          <a:p>
            <a:r>
              <a:rPr lang="fi-FI" dirty="0"/>
              <a:t>Tee hajautustaulu</a:t>
            </a:r>
          </a:p>
          <a:p>
            <a:pPr lvl="1"/>
            <a:r>
              <a:rPr lang="fi-FI" dirty="0" err="1"/>
              <a:t>HashMap</a:t>
            </a:r>
            <a:r>
              <a:rPr lang="fi-FI" dirty="0"/>
              <a:t>&lt;</a:t>
            </a:r>
            <a:r>
              <a:rPr lang="fi-FI" dirty="0" err="1"/>
              <a:t>String</a:t>
            </a:r>
            <a:r>
              <a:rPr lang="fi-FI" dirty="0"/>
              <a:t>, Maakunta&gt; maakunnat</a:t>
            </a:r>
          </a:p>
          <a:p>
            <a:r>
              <a:rPr lang="fi-FI" dirty="0"/>
              <a:t>Lue tiedostoa riveittäin (kunnittain).</a:t>
            </a:r>
          </a:p>
          <a:p>
            <a:pPr lvl="1"/>
            <a:r>
              <a:rPr lang="fi-FI" dirty="0"/>
              <a:t>Tee kuntaluokan olio</a:t>
            </a:r>
          </a:p>
          <a:p>
            <a:pPr lvl="1"/>
            <a:r>
              <a:rPr lang="fi-FI" dirty="0"/>
              <a:t>Etsi maakunnat-hajautustaulusta löytyykö sieltä kuntaa vastaavaa maakuntaa</a:t>
            </a:r>
          </a:p>
          <a:p>
            <a:pPr lvl="2"/>
            <a:r>
              <a:rPr lang="fi-FI" dirty="0"/>
              <a:t>Jos maakuntaa ei löydy, lisää se hajautustauluun</a:t>
            </a:r>
          </a:p>
          <a:p>
            <a:pPr lvl="1"/>
            <a:r>
              <a:rPr lang="fi-FI" dirty="0"/>
              <a:t>Lisää kunta maakunta-oliossa olevaan listaan (oikean maakunnan alle)</a:t>
            </a:r>
          </a:p>
          <a:p>
            <a:r>
              <a:rPr lang="fi-FI" dirty="0"/>
              <a:t>Järjestä kunnat kussakin maakunnassa väkiluvun mukaiseen järjestykseen</a:t>
            </a:r>
          </a:p>
          <a:p>
            <a:r>
              <a:rPr lang="fi-FI" dirty="0"/>
              <a:t>Lisätehtävä: järjestä maakunnat väkiluvun mukaan (huomaa, että hajautustaulua ei voi järjestää)</a:t>
            </a:r>
          </a:p>
          <a:p>
            <a:endParaRPr lang="fi-FI" dirty="0"/>
          </a:p>
        </p:txBody>
      </p:sp>
    </p:spTree>
    <p:extLst>
      <p:ext uri="{BB962C8B-B14F-4D97-AF65-F5344CB8AC3E}">
        <p14:creationId xmlns:p14="http://schemas.microsoft.com/office/powerpoint/2010/main" val="18145114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F88A-8A0C-B1A1-C24C-80D9E67D575B}"/>
              </a:ext>
            </a:extLst>
          </p:cNvPr>
          <p:cNvSpPr>
            <a:spLocks noGrp="1"/>
          </p:cNvSpPr>
          <p:nvPr>
            <p:ph type="title"/>
          </p:nvPr>
        </p:nvSpPr>
        <p:spPr/>
        <p:txBody>
          <a:bodyPr/>
          <a:lstStyle/>
          <a:p>
            <a:r>
              <a:rPr lang="fi-FI" dirty="0"/>
              <a:t>CSV-tiedostojen lukemisesta</a:t>
            </a:r>
          </a:p>
        </p:txBody>
      </p:sp>
      <p:sp>
        <p:nvSpPr>
          <p:cNvPr id="3" name="Content Placeholder 2">
            <a:extLst>
              <a:ext uri="{FF2B5EF4-FFF2-40B4-BE49-F238E27FC236}">
                <a16:creationId xmlns:a16="http://schemas.microsoft.com/office/drawing/2014/main" id="{AD4931DB-40BD-0976-AF20-EC61F973B163}"/>
              </a:ext>
            </a:extLst>
          </p:cNvPr>
          <p:cNvSpPr>
            <a:spLocks noGrp="1"/>
          </p:cNvSpPr>
          <p:nvPr>
            <p:ph idx="1"/>
          </p:nvPr>
        </p:nvSpPr>
        <p:spPr/>
        <p:txBody>
          <a:bodyPr>
            <a:normAutofit fontScale="77500" lnSpcReduction="20000"/>
          </a:bodyPr>
          <a:lstStyle/>
          <a:p>
            <a:r>
              <a:rPr lang="fi-FI" dirty="0"/>
              <a:t>Tiedostojen lukemisessa kannattaa varautua kaikenlaisiin ongelmiin, oli kyse sitten </a:t>
            </a:r>
            <a:r>
              <a:rPr lang="fi-FI" dirty="0" err="1"/>
              <a:t>CSV-tai</a:t>
            </a:r>
            <a:r>
              <a:rPr lang="fi-FI" dirty="0"/>
              <a:t> JSON-muotoisista tiedostoista.</a:t>
            </a:r>
          </a:p>
          <a:p>
            <a:r>
              <a:rPr lang="fi-FI" dirty="0"/>
              <a:t>Esimerkissämme ongelmia aiheuttivat mm.</a:t>
            </a:r>
          </a:p>
          <a:p>
            <a:pPr lvl="1"/>
            <a:r>
              <a:rPr lang="fi-FI" dirty="0"/>
              <a:t>Numeroissa käytettiin tuhat-erotinta, eikä tämä erotin ollut edes välilyönti</a:t>
            </a:r>
          </a:p>
          <a:p>
            <a:pPr lvl="1"/>
            <a:r>
              <a:rPr lang="fi-FI" dirty="0"/>
              <a:t>Desimaalipisteen sijasta käytettiin pilkkua</a:t>
            </a:r>
          </a:p>
          <a:p>
            <a:pPr lvl="1"/>
            <a:r>
              <a:rPr lang="fi-FI" dirty="0"/>
              <a:t>Kuntien nimissä saattoi olla välilyönti</a:t>
            </a:r>
          </a:p>
          <a:p>
            <a:pPr lvl="1"/>
            <a:r>
              <a:rPr lang="fi-FI" dirty="0" err="1"/>
              <a:t>Jne</a:t>
            </a:r>
            <a:endParaRPr lang="fi-FI" dirty="0"/>
          </a:p>
          <a:p>
            <a:r>
              <a:rPr lang="fi-FI" dirty="0"/>
              <a:t>Suunniteltavan ohjelman on osattava varautua virheellisiin syötteisiin. Tämä hoidetaan yleensä poikkeusten käsittelyllä.</a:t>
            </a:r>
          </a:p>
          <a:p>
            <a:r>
              <a:rPr lang="fi-FI" dirty="0"/>
              <a:t>Kannattaa edetä pienin askelin. Aluksi kannattaa vain lukea tiedosto ja katsoa onnistuuko se. Tämän jälkeen on hyvä tarkistaa, meneekö rivien jäsentäminen oikein (</a:t>
            </a:r>
            <a:r>
              <a:rPr lang="fi-FI" dirty="0" err="1"/>
              <a:t>split</a:t>
            </a:r>
            <a:r>
              <a:rPr lang="fi-FI" dirty="0"/>
              <a:t>).</a:t>
            </a:r>
          </a:p>
          <a:p>
            <a:r>
              <a:rPr lang="fi-FI" dirty="0"/>
              <a:t>Ohjelmisto pitää tietenkin testata hyvin</a:t>
            </a:r>
          </a:p>
          <a:p>
            <a:r>
              <a:rPr lang="fi-FI" dirty="0"/>
              <a:t>Tässä esimerkissä syötetiedostoa korjattiin, mikä ei tietenkään ratkaise varsinaista ongelmaa</a:t>
            </a:r>
          </a:p>
        </p:txBody>
      </p:sp>
    </p:spTree>
    <p:extLst>
      <p:ext uri="{BB962C8B-B14F-4D97-AF65-F5344CB8AC3E}">
        <p14:creationId xmlns:p14="http://schemas.microsoft.com/office/powerpoint/2010/main" val="30077014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B2C8-51C3-6124-BFF1-5A8857334B84}"/>
              </a:ext>
            </a:extLst>
          </p:cNvPr>
          <p:cNvSpPr>
            <a:spLocks noGrp="1"/>
          </p:cNvSpPr>
          <p:nvPr>
            <p:ph type="title"/>
          </p:nvPr>
        </p:nvSpPr>
        <p:spPr/>
        <p:txBody>
          <a:bodyPr/>
          <a:lstStyle/>
          <a:p>
            <a:r>
              <a:rPr lang="fi-FI" dirty="0"/>
              <a:t>Poikkeusten käsittely CSV-tiedoston lukemisessa</a:t>
            </a:r>
          </a:p>
        </p:txBody>
      </p:sp>
      <p:sp>
        <p:nvSpPr>
          <p:cNvPr id="3" name="Content Placeholder 2">
            <a:extLst>
              <a:ext uri="{FF2B5EF4-FFF2-40B4-BE49-F238E27FC236}">
                <a16:creationId xmlns:a16="http://schemas.microsoft.com/office/drawing/2014/main" id="{39A7B291-5214-41C5-A3C3-47D47F936DD8}"/>
              </a:ext>
            </a:extLst>
          </p:cNvPr>
          <p:cNvSpPr>
            <a:spLocks noGrp="1"/>
          </p:cNvSpPr>
          <p:nvPr>
            <p:ph idx="1"/>
          </p:nvPr>
        </p:nvSpPr>
        <p:spPr>
          <a:xfrm>
            <a:off x="838200" y="1825625"/>
            <a:ext cx="4592595" cy="4351338"/>
          </a:xfrm>
        </p:spPr>
        <p:txBody>
          <a:bodyPr/>
          <a:lstStyle/>
          <a:p>
            <a:r>
              <a:rPr lang="fi-FI" dirty="0"/>
              <a:t>Tässä esimerkissä virheellinen rivi ohitetaan</a:t>
            </a:r>
          </a:p>
          <a:p>
            <a:r>
              <a:rPr lang="fi-FI" dirty="0"/>
              <a:t>Tiedostoon kunnat.txt on jätetty loppuun kolme virheellistä riviä</a:t>
            </a:r>
          </a:p>
        </p:txBody>
      </p:sp>
      <p:sp>
        <p:nvSpPr>
          <p:cNvPr id="5" name="TextBox 4">
            <a:extLst>
              <a:ext uri="{FF2B5EF4-FFF2-40B4-BE49-F238E27FC236}">
                <a16:creationId xmlns:a16="http://schemas.microsoft.com/office/drawing/2014/main" id="{A98359B4-2760-1D40-3A4F-BB674ABACB63}"/>
              </a:ext>
            </a:extLst>
          </p:cNvPr>
          <p:cNvSpPr txBox="1"/>
          <p:nvPr/>
        </p:nvSpPr>
        <p:spPr>
          <a:xfrm>
            <a:off x="4925713" y="1926254"/>
            <a:ext cx="6714352" cy="4493538"/>
          </a:xfrm>
          <a:prstGeom prst="rect">
            <a:avLst/>
          </a:prstGeom>
          <a:noFill/>
        </p:spPr>
        <p:txBody>
          <a:bodyPr wrap="square">
            <a:spAutoFit/>
          </a:bodyPr>
          <a:lstStyle/>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while</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tiedosto.hasNextLine</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rivi = </a:t>
            </a:r>
            <a:r>
              <a:rPr lang="fi-FI" sz="1100" b="0" dirty="0" err="1">
                <a:solidFill>
                  <a:srgbClr val="000000"/>
                </a:solidFill>
                <a:effectLst/>
                <a:latin typeface="Consolas" panose="020B0609020204030204" pitchFamily="49" charset="0"/>
              </a:rPr>
              <a:t>tiedosto.nextLine</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palaset = </a:t>
            </a:r>
            <a:r>
              <a:rPr lang="fi-FI" sz="1100" b="0" dirty="0" err="1">
                <a:solidFill>
                  <a:srgbClr val="000000"/>
                </a:solidFill>
                <a:effectLst/>
                <a:latin typeface="Consolas" panose="020B0609020204030204" pitchFamily="49" charset="0"/>
              </a:rPr>
              <a:t>rivi.split</a:t>
            </a:r>
            <a:r>
              <a:rPr lang="fi-FI" sz="1100" b="0" dirty="0">
                <a:solidFill>
                  <a:srgbClr val="000000"/>
                </a:solidFill>
                <a:effectLst/>
                <a:latin typeface="Consolas" panose="020B0609020204030204" pitchFamily="49" charset="0"/>
              </a:rPr>
              <a:t>(</a:t>
            </a:r>
            <a:r>
              <a:rPr lang="fi-FI" sz="1100" b="0" dirty="0">
                <a:solidFill>
                  <a:srgbClr val="A31515"/>
                </a:solidFill>
                <a:effectLst/>
                <a:latin typeface="Consolas" panose="020B0609020204030204" pitchFamily="49" charset="0"/>
              </a:rPr>
              <a:t>"\t"</a:t>
            </a:r>
            <a:r>
              <a:rPr lang="fi-FI" sz="1100" b="0" dirty="0">
                <a:solidFill>
                  <a:srgbClr val="000000"/>
                </a:solidFill>
                <a:effectLst/>
                <a:latin typeface="Consolas" panose="020B0609020204030204" pitchFamily="49" charset="0"/>
              </a:rPr>
              <a:t>);</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try</a:t>
            </a:r>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if</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palaset.length</a:t>
            </a:r>
            <a:r>
              <a:rPr lang="fi-FI" sz="1100" b="0" dirty="0">
                <a:solidFill>
                  <a:srgbClr val="000000"/>
                </a:solidFill>
                <a:effectLst/>
                <a:latin typeface="Consolas" panose="020B0609020204030204" pitchFamily="49" charset="0"/>
              </a:rPr>
              <a:t> != </a:t>
            </a:r>
            <a:r>
              <a:rPr lang="fi-FI" sz="1100" b="0" dirty="0">
                <a:solidFill>
                  <a:srgbClr val="098658"/>
                </a:solidFill>
                <a:effectLst/>
                <a:latin typeface="Consolas" panose="020B0609020204030204" pitchFamily="49" charset="0"/>
              </a:rPr>
              <a:t>5</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throw</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new</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Exception</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 koodi = </a:t>
            </a:r>
            <a:r>
              <a:rPr lang="fi-FI" sz="1100" b="0" dirty="0" err="1">
                <a:solidFill>
                  <a:srgbClr val="000000"/>
                </a:solidFill>
                <a:effectLst/>
                <a:latin typeface="Consolas" panose="020B0609020204030204" pitchFamily="49" charset="0"/>
              </a:rPr>
              <a:t>Integer.parseInt</a:t>
            </a:r>
            <a:r>
              <a:rPr lang="fi-FI" sz="1100" b="0" dirty="0">
                <a:solidFill>
                  <a:srgbClr val="000000"/>
                </a:solidFill>
                <a:effectLst/>
                <a:latin typeface="Consolas" panose="020B0609020204030204" pitchFamily="49" charset="0"/>
              </a:rPr>
              <a:t>(palaset[</a:t>
            </a:r>
            <a:r>
              <a:rPr lang="fi-FI" sz="1100" b="0" dirty="0">
                <a:solidFill>
                  <a:srgbClr val="098658"/>
                </a:solidFill>
                <a:effectLst/>
                <a:latin typeface="Consolas" panose="020B0609020204030204" pitchFamily="49" charset="0"/>
              </a:rPr>
              <a:t>0</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nimi = palaset[</a:t>
            </a:r>
            <a:r>
              <a:rPr lang="fi-FI" sz="1100" b="0" dirty="0">
                <a:solidFill>
                  <a:srgbClr val="098658"/>
                </a:solidFill>
                <a:effectLst/>
                <a:latin typeface="Consolas" panose="020B0609020204030204" pitchFamily="49" charset="0"/>
              </a:rPr>
              <a:t>1</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String</a:t>
            </a:r>
            <a:r>
              <a:rPr lang="fi-FI" sz="1100" b="0" dirty="0">
                <a:solidFill>
                  <a:srgbClr val="000000"/>
                </a:solidFill>
                <a:effectLst/>
                <a:latin typeface="Consolas" panose="020B0609020204030204" pitchFamily="49" charset="0"/>
              </a:rPr>
              <a:t> maakunta = palaset[</a:t>
            </a:r>
            <a:r>
              <a:rPr lang="fi-FI" sz="1100" b="0" dirty="0">
                <a:solidFill>
                  <a:srgbClr val="098658"/>
                </a:solidFill>
                <a:effectLst/>
                <a:latin typeface="Consolas" panose="020B0609020204030204" pitchFamily="49" charset="0"/>
              </a:rPr>
              <a:t>2</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 vakiluku = (</a:t>
            </a:r>
            <a:r>
              <a:rPr lang="fi-FI" sz="1100" b="0" dirty="0" err="1">
                <a:solidFill>
                  <a:srgbClr val="0000FF"/>
                </a:solidFill>
                <a:effectLst/>
                <a:latin typeface="Consolas" panose="020B0609020204030204" pitchFamily="49" charset="0"/>
              </a:rPr>
              <a:t>int</a:t>
            </a:r>
            <a:r>
              <a:rPr lang="fi-FI" sz="1100" b="0" dirty="0">
                <a:solidFill>
                  <a:srgbClr val="000000"/>
                </a:solidFill>
                <a:effectLst/>
                <a:latin typeface="Consolas" panose="020B0609020204030204" pitchFamily="49" charset="0"/>
              </a:rPr>
              <a:t>)</a:t>
            </a:r>
            <a:r>
              <a:rPr lang="fi-FI" sz="1100" b="0" dirty="0" err="1">
                <a:solidFill>
                  <a:srgbClr val="000000"/>
                </a:solidFill>
                <a:effectLst/>
                <a:latin typeface="Consolas" panose="020B0609020204030204" pitchFamily="49" charset="0"/>
              </a:rPr>
              <a:t>Double.parseDouble</a:t>
            </a:r>
            <a:r>
              <a:rPr lang="fi-FI" sz="1100" b="0" dirty="0">
                <a:solidFill>
                  <a:srgbClr val="000000"/>
                </a:solidFill>
                <a:effectLst/>
                <a:latin typeface="Consolas" panose="020B0609020204030204" pitchFamily="49" charset="0"/>
              </a:rPr>
              <a:t>(palaset[</a:t>
            </a:r>
            <a:r>
              <a:rPr lang="fi-FI" sz="1100" b="0" dirty="0">
                <a:solidFill>
                  <a:srgbClr val="098658"/>
                </a:solidFill>
                <a:effectLst/>
                <a:latin typeface="Consolas" panose="020B0609020204030204" pitchFamily="49" charset="0"/>
              </a:rPr>
              <a:t>3</a:t>
            </a:r>
            <a:r>
              <a:rPr lang="fi-FI" sz="1100" b="0" dirty="0">
                <a:solidFill>
                  <a:srgbClr val="000000"/>
                </a:solidFill>
                <a:effectLst/>
                <a:latin typeface="Consolas" panose="020B0609020204030204" pitchFamily="49" charset="0"/>
              </a:rPr>
              <a:t>]);</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double</a:t>
            </a:r>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pintaAla</a:t>
            </a:r>
            <a:r>
              <a:rPr lang="fi-FI" sz="1100" b="0" dirty="0">
                <a:solidFill>
                  <a:srgbClr val="000000"/>
                </a:solidFill>
                <a:effectLst/>
                <a:latin typeface="Consolas" panose="020B0609020204030204" pitchFamily="49" charset="0"/>
              </a:rPr>
              <a:t> = </a:t>
            </a:r>
            <a:r>
              <a:rPr lang="fi-FI" sz="1100" b="0" dirty="0" err="1">
                <a:solidFill>
                  <a:srgbClr val="000000"/>
                </a:solidFill>
                <a:effectLst/>
                <a:latin typeface="Consolas" panose="020B0609020204030204" pitchFamily="49" charset="0"/>
              </a:rPr>
              <a:t>Double.parseDouble</a:t>
            </a:r>
            <a:r>
              <a:rPr lang="fi-FI" sz="1100" b="0" dirty="0">
                <a:solidFill>
                  <a:srgbClr val="000000"/>
                </a:solidFill>
                <a:effectLst/>
                <a:latin typeface="Consolas" panose="020B0609020204030204" pitchFamily="49" charset="0"/>
              </a:rPr>
              <a:t>(palaset[</a:t>
            </a:r>
            <a:r>
              <a:rPr lang="fi-FI" sz="1100" b="0" dirty="0">
                <a:solidFill>
                  <a:srgbClr val="098658"/>
                </a:solidFill>
                <a:effectLst/>
                <a:latin typeface="Consolas" panose="020B0609020204030204" pitchFamily="49" charset="0"/>
              </a:rPr>
              <a:t>4</a:t>
            </a:r>
            <a:r>
              <a:rPr lang="fi-FI" sz="1100" b="0" dirty="0">
                <a:solidFill>
                  <a:srgbClr val="000000"/>
                </a:solidFill>
                <a:effectLst/>
                <a:latin typeface="Consolas" panose="020B0609020204030204" pitchFamily="49" charset="0"/>
              </a:rPr>
              <a:t>]);</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a:solidFill>
                  <a:srgbClr val="008000"/>
                </a:solidFill>
                <a:effectLst/>
                <a:latin typeface="Consolas" panose="020B0609020204030204" pitchFamily="49" charset="0"/>
              </a:rPr>
              <a:t>// tee Kunta-olio</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r>
              <a:rPr lang="fi-FI" sz="1100" b="0" dirty="0">
                <a:solidFill>
                  <a:srgbClr val="0000FF"/>
                </a:solidFill>
                <a:effectLst/>
                <a:latin typeface="Consolas" panose="020B0609020204030204" pitchFamily="49" charset="0"/>
              </a:rPr>
              <a:t>Kunta</a:t>
            </a:r>
            <a:r>
              <a:rPr lang="fi-FI" sz="1100" b="0" dirty="0">
                <a:solidFill>
                  <a:srgbClr val="000000"/>
                </a:solidFill>
                <a:effectLst/>
                <a:latin typeface="Consolas" panose="020B0609020204030204" pitchFamily="49" charset="0"/>
              </a:rPr>
              <a:t> k = </a:t>
            </a:r>
            <a:r>
              <a:rPr lang="fi-FI" sz="1100" b="0" dirty="0" err="1">
                <a:solidFill>
                  <a:srgbClr val="0000FF"/>
                </a:solidFill>
                <a:effectLst/>
                <a:latin typeface="Consolas" panose="020B0609020204030204" pitchFamily="49" charset="0"/>
              </a:rPr>
              <a:t>new</a:t>
            </a:r>
            <a:r>
              <a:rPr lang="fi-FI" sz="1100" b="0" dirty="0">
                <a:solidFill>
                  <a:srgbClr val="000000"/>
                </a:solidFill>
                <a:effectLst/>
                <a:latin typeface="Consolas" panose="020B0609020204030204" pitchFamily="49" charset="0"/>
              </a:rPr>
              <a:t> Kunta(koodi, nimi, maakunta, vakiluku, </a:t>
            </a:r>
            <a:r>
              <a:rPr lang="fi-FI" sz="1100" b="0" dirty="0" err="1">
                <a:solidFill>
                  <a:srgbClr val="000000"/>
                </a:solidFill>
                <a:effectLst/>
                <a:latin typeface="Consolas" panose="020B0609020204030204" pitchFamily="49" charset="0"/>
              </a:rPr>
              <a:t>pintaAla</a:t>
            </a:r>
            <a:r>
              <a:rPr lang="fi-FI" sz="1100" b="0" dirty="0">
                <a:solidFill>
                  <a:srgbClr val="000000"/>
                </a:solidFill>
                <a:effectLst/>
                <a:latin typeface="Consolas" panose="020B0609020204030204" pitchFamily="49" charset="0"/>
              </a:rPr>
              <a:t>);</a:t>
            </a:r>
          </a:p>
          <a:p>
            <a:br>
              <a:rPr lang="fi-FI" sz="1100" b="0" dirty="0">
                <a:solidFill>
                  <a:srgbClr val="000000"/>
                </a:solidFill>
                <a:effectLst/>
                <a:latin typeface="Consolas" panose="020B0609020204030204" pitchFamily="49" charset="0"/>
              </a:rPr>
            </a:br>
            <a:r>
              <a:rPr lang="fi-FI" sz="1100" b="0" dirty="0">
                <a:solidFill>
                  <a:srgbClr val="000000"/>
                </a:solidFill>
                <a:effectLst/>
                <a:latin typeface="Consolas" panose="020B0609020204030204" pitchFamily="49" charset="0"/>
              </a:rPr>
              <a:t>                    </a:t>
            </a:r>
            <a:r>
              <a:rPr lang="fi-FI" sz="1100" b="0" dirty="0">
                <a:solidFill>
                  <a:srgbClr val="008000"/>
                </a:solidFill>
                <a:effectLst/>
                <a:latin typeface="Consolas" panose="020B0609020204030204" pitchFamily="49" charset="0"/>
              </a:rPr>
              <a:t>// lisää olio listaan</a:t>
            </a:r>
            <a:endParaRPr lang="fi-FI" sz="1100" b="0" dirty="0">
              <a:solidFill>
                <a:srgbClr val="000000"/>
              </a:solidFill>
              <a:effectLst/>
              <a:latin typeface="Consolas" panose="020B0609020204030204" pitchFamily="49" charset="0"/>
            </a:endParaRPr>
          </a:p>
          <a:p>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kunnat.add</a:t>
            </a:r>
            <a:r>
              <a:rPr lang="fi-FI" sz="1100" b="0" dirty="0">
                <a:solidFill>
                  <a:srgbClr val="000000"/>
                </a:solidFill>
                <a:effectLst/>
                <a:latin typeface="Consolas" panose="020B0609020204030204" pitchFamily="49" charset="0"/>
              </a:rPr>
              <a:t>(k);</a:t>
            </a:r>
          </a:p>
          <a:p>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catch</a:t>
            </a:r>
            <a:r>
              <a:rPr lang="fi-FI" sz="1100" b="0" dirty="0">
                <a:solidFill>
                  <a:srgbClr val="000000"/>
                </a:solidFill>
                <a:effectLst/>
                <a:latin typeface="Consolas" panose="020B0609020204030204" pitchFamily="49" charset="0"/>
              </a:rPr>
              <a:t> (</a:t>
            </a:r>
            <a:r>
              <a:rPr lang="fi-FI" sz="1100" b="0" dirty="0" err="1">
                <a:solidFill>
                  <a:srgbClr val="0000FF"/>
                </a:solidFill>
                <a:effectLst/>
                <a:latin typeface="Consolas" panose="020B0609020204030204" pitchFamily="49" charset="0"/>
              </a:rPr>
              <a:t>Exception</a:t>
            </a:r>
            <a:r>
              <a:rPr lang="fi-FI" sz="1100" b="0" dirty="0">
                <a:solidFill>
                  <a:srgbClr val="000000"/>
                </a:solidFill>
                <a:effectLst/>
                <a:latin typeface="Consolas" panose="020B0609020204030204" pitchFamily="49" charset="0"/>
              </a:rPr>
              <a:t> e)</a:t>
            </a:r>
          </a:p>
          <a:p>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r>
              <a:rPr lang="fi-FI" sz="1100" b="0" dirty="0" err="1">
                <a:solidFill>
                  <a:srgbClr val="000000"/>
                </a:solidFill>
                <a:effectLst/>
                <a:latin typeface="Consolas" panose="020B0609020204030204" pitchFamily="49" charset="0"/>
              </a:rPr>
              <a:t>System.out.println</a:t>
            </a:r>
            <a:r>
              <a:rPr lang="fi-FI" sz="1100" b="0" dirty="0">
                <a:solidFill>
                  <a:srgbClr val="000000"/>
                </a:solidFill>
                <a:effectLst/>
                <a:latin typeface="Consolas" panose="020B0609020204030204" pitchFamily="49" charset="0"/>
              </a:rPr>
              <a:t>(</a:t>
            </a:r>
            <a:r>
              <a:rPr lang="fi-FI" sz="1100" b="0" dirty="0">
                <a:solidFill>
                  <a:srgbClr val="A31515"/>
                </a:solidFill>
                <a:effectLst/>
                <a:latin typeface="Consolas" panose="020B0609020204030204" pitchFamily="49" charset="0"/>
              </a:rPr>
              <a:t>"virhe rivillä "</a:t>
            </a:r>
            <a:r>
              <a:rPr lang="fi-FI" sz="1100" b="0" dirty="0">
                <a:solidFill>
                  <a:srgbClr val="000000"/>
                </a:solidFill>
                <a:effectLst/>
                <a:latin typeface="Consolas" panose="020B0609020204030204" pitchFamily="49" charset="0"/>
              </a:rPr>
              <a:t> + rivi);</a:t>
            </a:r>
          </a:p>
          <a:p>
            <a:r>
              <a:rPr lang="fi-FI" sz="1100" b="0" dirty="0">
                <a:solidFill>
                  <a:srgbClr val="000000"/>
                </a:solidFill>
                <a:effectLst/>
                <a:latin typeface="Consolas" panose="020B0609020204030204" pitchFamily="49" charset="0"/>
              </a:rPr>
              <a:t>                }</a:t>
            </a:r>
          </a:p>
          <a:p>
            <a:r>
              <a:rPr lang="fi-FI" sz="11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2739485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4262-772B-410A-6C3F-651509231754}"/>
              </a:ext>
            </a:extLst>
          </p:cNvPr>
          <p:cNvSpPr>
            <a:spLocks noGrp="1"/>
          </p:cNvSpPr>
          <p:nvPr>
            <p:ph type="ctrTitle"/>
          </p:nvPr>
        </p:nvSpPr>
        <p:spPr/>
        <p:txBody>
          <a:bodyPr/>
          <a:lstStyle/>
          <a:p>
            <a:r>
              <a:rPr lang="fi-FI" dirty="0"/>
              <a:t>Hajautuksen teoreettinen tausta</a:t>
            </a:r>
          </a:p>
        </p:txBody>
      </p:sp>
      <p:sp>
        <p:nvSpPr>
          <p:cNvPr id="3" name="Subtitle 2">
            <a:extLst>
              <a:ext uri="{FF2B5EF4-FFF2-40B4-BE49-F238E27FC236}">
                <a16:creationId xmlns:a16="http://schemas.microsoft.com/office/drawing/2014/main" id="{C5E002A2-6D8E-1D84-2CB9-E89C867042C9}"/>
              </a:ext>
            </a:extLst>
          </p:cNvPr>
          <p:cNvSpPr>
            <a:spLocks noGrp="1"/>
          </p:cNvSpPr>
          <p:nvPr>
            <p:ph type="subTitle" idx="1"/>
          </p:nvPr>
        </p:nvSpPr>
        <p:spPr/>
        <p:txBody>
          <a:bodyPr/>
          <a:lstStyle/>
          <a:p>
            <a:r>
              <a:rPr lang="fi-FI" dirty="0">
                <a:hlinkClick r:id="rId2"/>
              </a:rPr>
              <a:t>https://www.cs.helsinki.fi/u/ahslaaks/tirakirja/</a:t>
            </a:r>
            <a:r>
              <a:rPr lang="fi-FI" dirty="0"/>
              <a:t> </a:t>
            </a:r>
          </a:p>
          <a:p>
            <a:endParaRPr lang="fi-FI" dirty="0"/>
          </a:p>
        </p:txBody>
      </p:sp>
    </p:spTree>
    <p:extLst>
      <p:ext uri="{BB962C8B-B14F-4D97-AF65-F5344CB8AC3E}">
        <p14:creationId xmlns:p14="http://schemas.microsoft.com/office/powerpoint/2010/main" val="160001783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3573-ACBB-68AD-94D2-BB9567E64CCD}"/>
              </a:ext>
            </a:extLst>
          </p:cNvPr>
          <p:cNvSpPr>
            <a:spLocks noGrp="1"/>
          </p:cNvSpPr>
          <p:nvPr>
            <p:ph type="title"/>
          </p:nvPr>
        </p:nvSpPr>
        <p:spPr/>
        <p:txBody>
          <a:bodyPr/>
          <a:lstStyle/>
          <a:p>
            <a:r>
              <a:rPr lang="fi-FI" dirty="0"/>
              <a:t>Hajautus</a:t>
            </a:r>
          </a:p>
        </p:txBody>
      </p:sp>
      <p:sp>
        <p:nvSpPr>
          <p:cNvPr id="3" name="Content Placeholder 2">
            <a:extLst>
              <a:ext uri="{FF2B5EF4-FFF2-40B4-BE49-F238E27FC236}">
                <a16:creationId xmlns:a16="http://schemas.microsoft.com/office/drawing/2014/main" id="{52678833-7D39-5BEE-F589-8AFFE7EB414B}"/>
              </a:ext>
            </a:extLst>
          </p:cNvPr>
          <p:cNvSpPr>
            <a:spLocks noGrp="1"/>
          </p:cNvSpPr>
          <p:nvPr>
            <p:ph idx="1"/>
          </p:nvPr>
        </p:nvSpPr>
        <p:spPr/>
        <p:txBody>
          <a:bodyPr>
            <a:normAutofit fontScale="92500" lnSpcReduction="10000"/>
          </a:bodyPr>
          <a:lstStyle/>
          <a:p>
            <a:r>
              <a:rPr lang="fi-FI" dirty="0" err="1"/>
              <a:t>HashMap</a:t>
            </a:r>
            <a:r>
              <a:rPr lang="fi-FI" dirty="0"/>
              <a:t> käyttää hajautusperiaatetta. Hajautus (</a:t>
            </a:r>
            <a:r>
              <a:rPr lang="fi-FI" dirty="0" err="1"/>
              <a:t>hashing</a:t>
            </a:r>
            <a:r>
              <a:rPr lang="fi-FI" dirty="0"/>
              <a:t>) mahdollistaa erittäin nopean haun</a:t>
            </a:r>
          </a:p>
          <a:p>
            <a:r>
              <a:rPr lang="fi-FI" dirty="0">
                <a:hlinkClick r:id="rId2"/>
              </a:rPr>
              <a:t>https://www.cs.helsinki.fi/u/ahslaaks/tirakirja/</a:t>
            </a:r>
            <a:r>
              <a:rPr lang="fi-FI" dirty="0"/>
              <a:t> </a:t>
            </a:r>
          </a:p>
          <a:p>
            <a:r>
              <a:rPr lang="fi-FI" dirty="0"/>
              <a:t>Hajautustaulu (</a:t>
            </a:r>
            <a:r>
              <a:rPr lang="fi-FI" dirty="0" err="1"/>
              <a:t>hash</a:t>
            </a:r>
            <a:r>
              <a:rPr lang="fi-FI" dirty="0"/>
              <a:t> </a:t>
            </a:r>
            <a:r>
              <a:rPr lang="fi-FI" dirty="0" err="1"/>
              <a:t>table</a:t>
            </a:r>
            <a:r>
              <a:rPr lang="fi-FI" dirty="0"/>
              <a:t>) on tietorakenne, joka tarjoaa tehokkaat operaatiot alkion lisäämiseen, hakemiseen ja poistamiseen.</a:t>
            </a:r>
          </a:p>
          <a:p>
            <a:r>
              <a:rPr lang="fi-FI" dirty="0"/>
              <a:t>Hajautustaulun avulla voi toteuttaa joukon (Javassa </a:t>
            </a:r>
            <a:r>
              <a:rPr lang="fi-FI" dirty="0" err="1"/>
              <a:t>HashSet</a:t>
            </a:r>
            <a:r>
              <a:rPr lang="fi-FI" dirty="0"/>
              <a:t>), jossa on kokoelma alkioita, sekä hakemiston (sanakirjan, Javassa </a:t>
            </a:r>
            <a:r>
              <a:rPr lang="fi-FI" dirty="0" err="1"/>
              <a:t>HashMap</a:t>
            </a:r>
            <a:r>
              <a:rPr lang="fi-FI" dirty="0"/>
              <a:t>), joka sisältää avain-arvo -pareja.</a:t>
            </a:r>
          </a:p>
          <a:p>
            <a:r>
              <a:rPr lang="fi-FI" dirty="0"/>
              <a:t>Ainakin Pythonissa voi ajatella hajautusta siten, että yleistetään taulukon ideaa: taulukossa indeksit ovat aina kokonaislukuja, mutta hajautustaulussa voidaan käyttää indeksien sijaan vaikka merkkijonoja.</a:t>
            </a:r>
          </a:p>
        </p:txBody>
      </p:sp>
    </p:spTree>
    <p:extLst>
      <p:ext uri="{BB962C8B-B14F-4D97-AF65-F5344CB8AC3E}">
        <p14:creationId xmlns:p14="http://schemas.microsoft.com/office/powerpoint/2010/main" val="28859193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C7BE-19A6-04B0-9990-B06F5526EFAE}"/>
              </a:ext>
            </a:extLst>
          </p:cNvPr>
          <p:cNvSpPr>
            <a:spLocks noGrp="1"/>
          </p:cNvSpPr>
          <p:nvPr>
            <p:ph type="title"/>
          </p:nvPr>
        </p:nvSpPr>
        <p:spPr/>
        <p:txBody>
          <a:bodyPr/>
          <a:lstStyle/>
          <a:p>
            <a:r>
              <a:rPr lang="fi-FI" dirty="0"/>
              <a:t>Hajautus</a:t>
            </a:r>
          </a:p>
        </p:txBody>
      </p:sp>
      <p:sp>
        <p:nvSpPr>
          <p:cNvPr id="3" name="Content Placeholder 2">
            <a:extLst>
              <a:ext uri="{FF2B5EF4-FFF2-40B4-BE49-F238E27FC236}">
                <a16:creationId xmlns:a16="http://schemas.microsoft.com/office/drawing/2014/main" id="{5D7AD7E8-DF6A-0E7D-28D2-048771B67F7B}"/>
              </a:ext>
            </a:extLst>
          </p:cNvPr>
          <p:cNvSpPr>
            <a:spLocks noGrp="1"/>
          </p:cNvSpPr>
          <p:nvPr>
            <p:ph idx="1"/>
          </p:nvPr>
        </p:nvSpPr>
        <p:spPr/>
        <p:txBody>
          <a:bodyPr/>
          <a:lstStyle/>
          <a:p>
            <a:r>
              <a:rPr lang="fi-FI" dirty="0"/>
              <a:t>Jos avaimet ovat kokonaislukuja välillä 1-N, voidaan niitä käyttää suoraan hakutaulukon (koko N) indeksointiin. Hakuaika on tällöin O(1).</a:t>
            </a:r>
          </a:p>
          <a:p>
            <a:r>
              <a:rPr lang="fi-FI" dirty="0"/>
              <a:t>Useimmiten avainavaruus on kuitenkin liian laaja (esimerkiksi merkkijonot)</a:t>
            </a:r>
          </a:p>
          <a:p>
            <a:r>
              <a:rPr lang="fi-FI" dirty="0"/>
              <a:t>Hajautus muuntaa pitkät avaimet kokonaisluvuksi välille 1-N, jolloin tieto voidaan tallentaa listaan ja hakea sieltä ajassa O(1).</a:t>
            </a:r>
          </a:p>
        </p:txBody>
      </p:sp>
      <p:sp>
        <p:nvSpPr>
          <p:cNvPr id="5" name="TextBox 4">
            <a:extLst>
              <a:ext uri="{FF2B5EF4-FFF2-40B4-BE49-F238E27FC236}">
                <a16:creationId xmlns:a16="http://schemas.microsoft.com/office/drawing/2014/main" id="{F45DF223-6AC5-82DD-9E6B-A244144DCD86}"/>
              </a:ext>
            </a:extLst>
          </p:cNvPr>
          <p:cNvSpPr txBox="1"/>
          <p:nvPr/>
        </p:nvSpPr>
        <p:spPr>
          <a:xfrm>
            <a:off x="1163079" y="5258485"/>
            <a:ext cx="6094970" cy="369332"/>
          </a:xfrm>
          <a:prstGeom prst="rect">
            <a:avLst/>
          </a:prstGeom>
          <a:noFill/>
        </p:spPr>
        <p:txBody>
          <a:bodyPr wrap="square">
            <a:spAutoFit/>
          </a:bodyPr>
          <a:lstStyle/>
          <a:p>
            <a:r>
              <a:rPr lang="fi-FI" dirty="0">
                <a:hlinkClick r:id="rId2"/>
              </a:rPr>
              <a:t>https://www.cs.hut.fi/u/archie/T-106.253/s2002/PRUJU.pdf</a:t>
            </a:r>
            <a:r>
              <a:rPr lang="fi-FI" dirty="0"/>
              <a:t> </a:t>
            </a:r>
          </a:p>
        </p:txBody>
      </p:sp>
    </p:spTree>
    <p:extLst>
      <p:ext uri="{BB962C8B-B14F-4D97-AF65-F5344CB8AC3E}">
        <p14:creationId xmlns:p14="http://schemas.microsoft.com/office/powerpoint/2010/main" val="231510420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8E1A-1B50-F6E0-4EB3-C4B9F493F874}"/>
              </a:ext>
            </a:extLst>
          </p:cNvPr>
          <p:cNvSpPr>
            <a:spLocks noGrp="1"/>
          </p:cNvSpPr>
          <p:nvPr>
            <p:ph type="title"/>
          </p:nvPr>
        </p:nvSpPr>
        <p:spPr/>
        <p:txBody>
          <a:bodyPr/>
          <a:lstStyle/>
          <a:p>
            <a:r>
              <a:rPr lang="fi-FI" dirty="0"/>
              <a:t>Hajautus</a:t>
            </a:r>
          </a:p>
        </p:txBody>
      </p:sp>
      <p:sp>
        <p:nvSpPr>
          <p:cNvPr id="3" name="Content Placeholder 2">
            <a:extLst>
              <a:ext uri="{FF2B5EF4-FFF2-40B4-BE49-F238E27FC236}">
                <a16:creationId xmlns:a16="http://schemas.microsoft.com/office/drawing/2014/main" id="{DA3E033D-3883-AADB-EAC8-90C8C8159ED5}"/>
              </a:ext>
            </a:extLst>
          </p:cNvPr>
          <p:cNvSpPr>
            <a:spLocks noGrp="1"/>
          </p:cNvSpPr>
          <p:nvPr>
            <p:ph idx="1"/>
          </p:nvPr>
        </p:nvSpPr>
        <p:spPr/>
        <p:txBody>
          <a:bodyPr/>
          <a:lstStyle/>
          <a:p>
            <a:r>
              <a:rPr lang="fi-FI" dirty="0"/>
              <a:t>Hajautus on kompromissi aika-tilavaatimusten suhteen:</a:t>
            </a:r>
          </a:p>
          <a:p>
            <a:pPr lvl="1"/>
            <a:r>
              <a:rPr lang="fi-FI" dirty="0"/>
              <a:t>rajaton tila:</a:t>
            </a:r>
          </a:p>
          <a:p>
            <a:pPr lvl="2"/>
            <a:r>
              <a:rPr lang="fi-FI" dirty="0"/>
              <a:t>avain indeksinä</a:t>
            </a:r>
          </a:p>
          <a:p>
            <a:pPr lvl="2"/>
            <a:r>
              <a:rPr lang="fi-FI" dirty="0"/>
              <a:t>nopea haku, huono pakkaustiheys</a:t>
            </a:r>
          </a:p>
          <a:p>
            <a:pPr lvl="1"/>
            <a:r>
              <a:rPr lang="fi-FI" dirty="0"/>
              <a:t>rajaton aika:</a:t>
            </a:r>
          </a:p>
          <a:p>
            <a:pPr lvl="2"/>
            <a:r>
              <a:rPr lang="fi-FI" dirty="0"/>
              <a:t>tietueet peräkkäin, ei tietorakennetta (tai lista)</a:t>
            </a:r>
          </a:p>
          <a:p>
            <a:pPr lvl="2"/>
            <a:r>
              <a:rPr lang="fi-FI" dirty="0"/>
              <a:t>hidas haku, hyvä pakkaustiheys</a:t>
            </a:r>
          </a:p>
        </p:txBody>
      </p:sp>
      <p:sp>
        <p:nvSpPr>
          <p:cNvPr id="5" name="TextBox 4">
            <a:extLst>
              <a:ext uri="{FF2B5EF4-FFF2-40B4-BE49-F238E27FC236}">
                <a16:creationId xmlns:a16="http://schemas.microsoft.com/office/drawing/2014/main" id="{05D20743-2692-F6B6-A86E-A7B3E79F9320}"/>
              </a:ext>
            </a:extLst>
          </p:cNvPr>
          <p:cNvSpPr txBox="1"/>
          <p:nvPr/>
        </p:nvSpPr>
        <p:spPr>
          <a:xfrm>
            <a:off x="1268112" y="5647724"/>
            <a:ext cx="6094970" cy="369332"/>
          </a:xfrm>
          <a:prstGeom prst="rect">
            <a:avLst/>
          </a:prstGeom>
          <a:noFill/>
        </p:spPr>
        <p:txBody>
          <a:bodyPr wrap="square">
            <a:spAutoFit/>
          </a:bodyPr>
          <a:lstStyle/>
          <a:p>
            <a:r>
              <a:rPr lang="fi-FI" dirty="0">
                <a:hlinkClick r:id="rId2"/>
              </a:rPr>
              <a:t>https://www.cs.hut.fi/u/archie/T-106.253/s2002/PRUJU.pdf</a:t>
            </a:r>
            <a:r>
              <a:rPr lang="fi-FI" dirty="0"/>
              <a:t> </a:t>
            </a:r>
          </a:p>
        </p:txBody>
      </p:sp>
    </p:spTree>
    <p:extLst>
      <p:ext uri="{BB962C8B-B14F-4D97-AF65-F5344CB8AC3E}">
        <p14:creationId xmlns:p14="http://schemas.microsoft.com/office/powerpoint/2010/main" val="35185156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ACE11-715C-2D30-CA19-B2CC17504968}"/>
              </a:ext>
            </a:extLst>
          </p:cNvPr>
          <p:cNvSpPr>
            <a:spLocks noGrp="1"/>
          </p:cNvSpPr>
          <p:nvPr>
            <p:ph type="title"/>
          </p:nvPr>
        </p:nvSpPr>
        <p:spPr/>
        <p:txBody>
          <a:bodyPr/>
          <a:lstStyle/>
          <a:p>
            <a:r>
              <a:rPr lang="fi-FI" dirty="0"/>
              <a:t>Hajautusfunktio ja yhteentörmäysten käsittely</a:t>
            </a:r>
          </a:p>
        </p:txBody>
      </p:sp>
      <p:sp>
        <p:nvSpPr>
          <p:cNvPr id="3" name="Content Placeholder 2">
            <a:extLst>
              <a:ext uri="{FF2B5EF4-FFF2-40B4-BE49-F238E27FC236}">
                <a16:creationId xmlns:a16="http://schemas.microsoft.com/office/drawing/2014/main" id="{C7D7D12F-E4CE-032D-5DA8-910FD4135926}"/>
              </a:ext>
            </a:extLst>
          </p:cNvPr>
          <p:cNvSpPr>
            <a:spLocks noGrp="1"/>
          </p:cNvSpPr>
          <p:nvPr>
            <p:ph idx="1"/>
          </p:nvPr>
        </p:nvSpPr>
        <p:spPr/>
        <p:txBody>
          <a:bodyPr>
            <a:normAutofit lnSpcReduction="10000"/>
          </a:bodyPr>
          <a:lstStyle/>
          <a:p>
            <a:r>
              <a:rPr lang="fi-FI" dirty="0"/>
              <a:t>Hajautuksen toteuttamiseen tarvitaan:</a:t>
            </a:r>
          </a:p>
          <a:p>
            <a:pPr lvl="1"/>
            <a:r>
              <a:rPr lang="fi-FI" dirty="0"/>
              <a:t>Hajautusmekanismi (hajautusfunktio) ja</a:t>
            </a:r>
          </a:p>
          <a:p>
            <a:pPr lvl="1"/>
            <a:r>
              <a:rPr lang="fi-FI" dirty="0"/>
              <a:t>Yhteentörmäysten käsittelymekanismi</a:t>
            </a:r>
          </a:p>
          <a:p>
            <a:r>
              <a:rPr lang="fi-FI" dirty="0"/>
              <a:t>Hajautusfunktio (</a:t>
            </a:r>
            <a:r>
              <a:rPr lang="fi-FI" dirty="0" err="1"/>
              <a:t>hash</a:t>
            </a:r>
            <a:r>
              <a:rPr lang="fi-FI" dirty="0"/>
              <a:t> </a:t>
            </a:r>
            <a:r>
              <a:rPr lang="fi-FI" dirty="0" err="1"/>
              <a:t>function</a:t>
            </a:r>
            <a:r>
              <a:rPr lang="fi-FI" dirty="0"/>
              <a:t>) muuntaa avainavaruuden arvot hajautustaulun osoiteavaruuteen 1 .. N.</a:t>
            </a:r>
          </a:p>
          <a:p>
            <a:r>
              <a:rPr lang="fi-FI" dirty="0"/>
              <a:t>Ideaalinen hajautusfunktio eri osoitearvon kullekin avainarvolle. Käytännössä näin ei ole. Hajautusfunktio voi tuottaa saman hajautusarvon eri alkioille. Tällöin tarvitaan yhteentörmäysten käsittelymekanismi.</a:t>
            </a:r>
          </a:p>
          <a:p>
            <a:r>
              <a:rPr lang="fi-FI" dirty="0"/>
              <a:t>Yhteentörmäysten käsittelyyn on useita eri menetelmiä, joista yksi esimerkki on erillinen ketjutus (</a:t>
            </a:r>
            <a:r>
              <a:rPr lang="fi-FI" dirty="0" err="1"/>
              <a:t>separate</a:t>
            </a:r>
            <a:r>
              <a:rPr lang="fi-FI" dirty="0"/>
              <a:t> </a:t>
            </a:r>
            <a:r>
              <a:rPr lang="fi-FI" dirty="0" err="1"/>
              <a:t>chaining</a:t>
            </a:r>
            <a:r>
              <a:rPr lang="fi-FI" dirty="0"/>
              <a:t>).</a:t>
            </a:r>
          </a:p>
          <a:p>
            <a:endParaRPr lang="fi-FI" dirty="0"/>
          </a:p>
        </p:txBody>
      </p:sp>
    </p:spTree>
    <p:extLst>
      <p:ext uri="{BB962C8B-B14F-4D97-AF65-F5344CB8AC3E}">
        <p14:creationId xmlns:p14="http://schemas.microsoft.com/office/powerpoint/2010/main" val="41853750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4DE22-96F3-9048-D880-1D76139A0C13}"/>
              </a:ext>
            </a:extLst>
          </p:cNvPr>
          <p:cNvSpPr>
            <a:spLocks noGrp="1"/>
          </p:cNvSpPr>
          <p:nvPr>
            <p:ph type="title"/>
          </p:nvPr>
        </p:nvSpPr>
        <p:spPr/>
        <p:txBody>
          <a:bodyPr/>
          <a:lstStyle/>
          <a:p>
            <a:r>
              <a:rPr lang="fi-FI" dirty="0"/>
              <a:t>Hajautusfunktio ja yhteentörmäysten käsittely</a:t>
            </a:r>
          </a:p>
        </p:txBody>
      </p:sp>
      <p:sp>
        <p:nvSpPr>
          <p:cNvPr id="3" name="Content Placeholder 2">
            <a:extLst>
              <a:ext uri="{FF2B5EF4-FFF2-40B4-BE49-F238E27FC236}">
                <a16:creationId xmlns:a16="http://schemas.microsoft.com/office/drawing/2014/main" id="{A8A94E52-3779-ACBB-BDED-694F1B7C8EE3}"/>
              </a:ext>
            </a:extLst>
          </p:cNvPr>
          <p:cNvSpPr>
            <a:spLocks noGrp="1"/>
          </p:cNvSpPr>
          <p:nvPr>
            <p:ph idx="1"/>
          </p:nvPr>
        </p:nvSpPr>
        <p:spPr/>
        <p:txBody>
          <a:bodyPr/>
          <a:lstStyle/>
          <a:p>
            <a:r>
              <a:rPr lang="fi-FI" dirty="0"/>
              <a:t>Erillisen ketjutuksen tapauksessa voidaan ajatella, että hajautusfunktio palauttaa taulukon indeksin, johon alkio talletetaan.</a:t>
            </a:r>
          </a:p>
          <a:p>
            <a:r>
              <a:rPr lang="fi-FI" dirty="0"/>
              <a:t>Kun useampi alkio saa saman hajautusarvon, nämä alkiot ketjutetaan linkitettyyn listaan taulukon indeksin kohdalle.</a:t>
            </a:r>
          </a:p>
        </p:txBody>
      </p:sp>
      <p:pic>
        <p:nvPicPr>
          <p:cNvPr id="4" name="Picture 3">
            <a:extLst>
              <a:ext uri="{FF2B5EF4-FFF2-40B4-BE49-F238E27FC236}">
                <a16:creationId xmlns:a16="http://schemas.microsoft.com/office/drawing/2014/main" id="{2DD5DF58-1D4E-2549-0C14-1BBC6B50A6A4}"/>
              </a:ext>
            </a:extLst>
          </p:cNvPr>
          <p:cNvPicPr>
            <a:picLocks noChangeAspect="1"/>
          </p:cNvPicPr>
          <p:nvPr/>
        </p:nvPicPr>
        <p:blipFill>
          <a:blip r:embed="rId2"/>
          <a:stretch>
            <a:fillRect/>
          </a:stretch>
        </p:blipFill>
        <p:spPr>
          <a:xfrm>
            <a:off x="3368173" y="3644763"/>
            <a:ext cx="4763883" cy="2667137"/>
          </a:xfrm>
          <a:prstGeom prst="rect">
            <a:avLst/>
          </a:prstGeom>
        </p:spPr>
      </p:pic>
    </p:spTree>
    <p:extLst>
      <p:ext uri="{BB962C8B-B14F-4D97-AF65-F5344CB8AC3E}">
        <p14:creationId xmlns:p14="http://schemas.microsoft.com/office/powerpoint/2010/main" val="40328480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1135-2E71-EE0C-E5AB-0353C2625502}"/>
              </a:ext>
            </a:extLst>
          </p:cNvPr>
          <p:cNvSpPr>
            <a:spLocks noGrp="1"/>
          </p:cNvSpPr>
          <p:nvPr>
            <p:ph type="title"/>
          </p:nvPr>
        </p:nvSpPr>
        <p:spPr/>
        <p:txBody>
          <a:bodyPr/>
          <a:lstStyle/>
          <a:p>
            <a:r>
              <a:rPr lang="fi-FI" dirty="0"/>
              <a:t>Hajautusfunktio</a:t>
            </a:r>
          </a:p>
        </p:txBody>
      </p:sp>
      <p:sp>
        <p:nvSpPr>
          <p:cNvPr id="3" name="Content Placeholder 2">
            <a:extLst>
              <a:ext uri="{FF2B5EF4-FFF2-40B4-BE49-F238E27FC236}">
                <a16:creationId xmlns:a16="http://schemas.microsoft.com/office/drawing/2014/main" id="{4C169807-12F3-0359-AF68-65AA229DD951}"/>
              </a:ext>
            </a:extLst>
          </p:cNvPr>
          <p:cNvSpPr>
            <a:spLocks noGrp="1"/>
          </p:cNvSpPr>
          <p:nvPr>
            <p:ph idx="1"/>
          </p:nvPr>
        </p:nvSpPr>
        <p:spPr/>
        <p:txBody>
          <a:bodyPr>
            <a:normAutofit fontScale="92500" lnSpcReduction="20000"/>
          </a:bodyPr>
          <a:lstStyle/>
          <a:p>
            <a:r>
              <a:rPr lang="fi-FI" dirty="0"/>
              <a:t>Hyvä hajautusfunktio hajauttaa kaikki avainarvot tasaisesti osoiteavaruuteen</a:t>
            </a:r>
          </a:p>
          <a:p>
            <a:r>
              <a:rPr lang="fi-FI" dirty="0"/>
              <a:t>On tärkeää, että kaikkien avaimeen kuuluvien numeroiden tai merkkien tulisi vaikuttaa hajautusarvoon</a:t>
            </a:r>
          </a:p>
          <a:p>
            <a:r>
              <a:rPr lang="fi-FI" dirty="0"/>
              <a:t>Jos avain on kokonaisluku (k &gt;&gt; N), varsin hyvä funktio on</a:t>
            </a:r>
          </a:p>
          <a:p>
            <a:pPr lvl="1"/>
            <a:r>
              <a:rPr lang="fi-FI" dirty="0"/>
              <a:t>h(k) = k % N</a:t>
            </a:r>
            <a:br>
              <a:rPr lang="fi-FI" dirty="0"/>
            </a:br>
            <a:r>
              <a:rPr lang="fi-FI" dirty="0"/>
              <a:t>jossa N on alkuluku.</a:t>
            </a:r>
          </a:p>
          <a:p>
            <a:pPr lvl="1"/>
            <a:r>
              <a:rPr lang="fi-FI" dirty="0"/>
              <a:t>Kokonaisluvuille voidaan muodostaa parempiakin hajautusfunktioita.</a:t>
            </a:r>
          </a:p>
          <a:p>
            <a:r>
              <a:rPr lang="fi-FI" dirty="0"/>
              <a:t>Merkkijono voidaan tulkitaan suurena kokonaislukuna ja käsitellä sopivina osina, esimerkiksi merkki kerrallaan. Yksinkertaisin ratkaisu ei ole kuitenkaan riittävä, sillä merkit eivät ole tasaisesti jakautuneita.</a:t>
            </a:r>
          </a:p>
          <a:p>
            <a:r>
              <a:rPr lang="fi-FI" dirty="0"/>
              <a:t>Käytännössä kokonaislukujen tai merkkijonojen hajautusarvoja ei tarvitse laskea itse, vaan Javassa on hyvä hajautusfunktio,</a:t>
            </a:r>
          </a:p>
        </p:txBody>
      </p:sp>
      <p:sp>
        <p:nvSpPr>
          <p:cNvPr id="5" name="TextBox 4">
            <a:extLst>
              <a:ext uri="{FF2B5EF4-FFF2-40B4-BE49-F238E27FC236}">
                <a16:creationId xmlns:a16="http://schemas.microsoft.com/office/drawing/2014/main" id="{F0AA6225-3FBA-5B58-BEA3-D2F4C8F26A85}"/>
              </a:ext>
            </a:extLst>
          </p:cNvPr>
          <p:cNvSpPr txBox="1"/>
          <p:nvPr/>
        </p:nvSpPr>
        <p:spPr>
          <a:xfrm>
            <a:off x="2874490" y="6308209"/>
            <a:ext cx="6094970" cy="369332"/>
          </a:xfrm>
          <a:prstGeom prst="rect">
            <a:avLst/>
          </a:prstGeom>
          <a:noFill/>
        </p:spPr>
        <p:txBody>
          <a:bodyPr wrap="square">
            <a:spAutoFit/>
          </a:bodyPr>
          <a:lstStyle/>
          <a:p>
            <a:r>
              <a:rPr lang="fi-FI" dirty="0">
                <a:hlinkClick r:id="rId2"/>
              </a:rPr>
              <a:t>https://www.cs.hut.fi/u/archie/T-106.253/s2002/PRUJU.pdf</a:t>
            </a:r>
            <a:r>
              <a:rPr lang="fi-FI" dirty="0"/>
              <a:t> </a:t>
            </a:r>
          </a:p>
        </p:txBody>
      </p:sp>
    </p:spTree>
    <p:extLst>
      <p:ext uri="{BB962C8B-B14F-4D97-AF65-F5344CB8AC3E}">
        <p14:creationId xmlns:p14="http://schemas.microsoft.com/office/powerpoint/2010/main" val="337483061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2176-C768-EF63-BDF7-534AEF7D836D}"/>
              </a:ext>
            </a:extLst>
          </p:cNvPr>
          <p:cNvSpPr>
            <a:spLocks noGrp="1"/>
          </p:cNvSpPr>
          <p:nvPr>
            <p:ph type="title"/>
          </p:nvPr>
        </p:nvSpPr>
        <p:spPr/>
        <p:txBody>
          <a:bodyPr/>
          <a:lstStyle/>
          <a:p>
            <a:r>
              <a:rPr lang="fi-FI" dirty="0"/>
              <a:t>Erillinen ketjutus</a:t>
            </a:r>
          </a:p>
        </p:txBody>
      </p:sp>
      <p:sp>
        <p:nvSpPr>
          <p:cNvPr id="3" name="Content Placeholder 2">
            <a:extLst>
              <a:ext uri="{FF2B5EF4-FFF2-40B4-BE49-F238E27FC236}">
                <a16:creationId xmlns:a16="http://schemas.microsoft.com/office/drawing/2014/main" id="{E339DD26-10E1-A04A-9468-5BD71AAD7C99}"/>
              </a:ext>
            </a:extLst>
          </p:cNvPr>
          <p:cNvSpPr>
            <a:spLocks noGrp="1"/>
          </p:cNvSpPr>
          <p:nvPr>
            <p:ph idx="1"/>
          </p:nvPr>
        </p:nvSpPr>
        <p:spPr>
          <a:xfrm>
            <a:off x="838200" y="1825625"/>
            <a:ext cx="4852086" cy="4351338"/>
          </a:xfrm>
        </p:spPr>
        <p:txBody>
          <a:bodyPr>
            <a:normAutofit fontScale="92500" lnSpcReduction="20000"/>
          </a:bodyPr>
          <a:lstStyle/>
          <a:p>
            <a:r>
              <a:rPr lang="fi-FI" dirty="0"/>
              <a:t>Esimerkki</a:t>
            </a:r>
          </a:p>
          <a:p>
            <a:pPr lvl="1"/>
            <a:r>
              <a:rPr lang="pt-BR" dirty="0"/>
              <a:t>Alkiot k: A S E A R C H I N G E X A M P L E</a:t>
            </a:r>
          </a:p>
          <a:p>
            <a:pPr lvl="1"/>
            <a:r>
              <a:rPr lang="fi-FI" dirty="0"/>
              <a:t>Hajautetaan merkit 11 alkiota sisältävään taulukkoon käyttäen hajautusfunktiota k%11</a:t>
            </a:r>
          </a:p>
          <a:p>
            <a:pPr lvl="1"/>
            <a:r>
              <a:rPr lang="fi-FI" dirty="0"/>
              <a:t>A=1, B=2, </a:t>
            </a:r>
            <a:r>
              <a:rPr lang="fi-FI" dirty="0" err="1"/>
              <a:t>jne</a:t>
            </a:r>
            <a:r>
              <a:rPr lang="fi-FI" dirty="0"/>
              <a:t>…</a:t>
            </a:r>
          </a:p>
          <a:p>
            <a:r>
              <a:rPr lang="fi-FI" dirty="0"/>
              <a:t>Listat kannattaa pitää järjestyksessä. Voi olla myös binäärinen hakupuu</a:t>
            </a:r>
          </a:p>
          <a:p>
            <a:r>
              <a:rPr lang="fi-FI" dirty="0"/>
              <a:t>Huomaa, että alkiot eivät tulostu (</a:t>
            </a:r>
            <a:r>
              <a:rPr lang="fi-FI" dirty="0" err="1"/>
              <a:t>aakkos</a:t>
            </a:r>
            <a:r>
              <a:rPr lang="fi-FI" dirty="0"/>
              <a:t>)järjestyksessä, kun hajautustaulu käydään läpi</a:t>
            </a:r>
          </a:p>
          <a:p>
            <a:pPr lvl="1"/>
            <a:r>
              <a:rPr lang="fi-FI" dirty="0"/>
              <a:t>A </a:t>
            </a:r>
            <a:r>
              <a:rPr lang="fi-FI" dirty="0" err="1"/>
              <a:t>A</a:t>
            </a:r>
            <a:r>
              <a:rPr lang="fi-FI" dirty="0"/>
              <a:t> </a:t>
            </a:r>
            <a:r>
              <a:rPr lang="fi-FI" dirty="0" err="1"/>
              <a:t>A</a:t>
            </a:r>
            <a:r>
              <a:rPr lang="fi-FI" dirty="0"/>
              <a:t> L M X C N E </a:t>
            </a:r>
            <a:r>
              <a:rPr lang="fi-FI" dirty="0" err="1"/>
              <a:t>E</a:t>
            </a:r>
            <a:r>
              <a:rPr lang="fi-FI" dirty="0"/>
              <a:t> </a:t>
            </a:r>
            <a:r>
              <a:rPr lang="fi-FI" dirty="0" err="1"/>
              <a:t>E</a:t>
            </a:r>
            <a:r>
              <a:rPr lang="fi-FI" dirty="0"/>
              <a:t> P G R H S I</a:t>
            </a:r>
          </a:p>
          <a:p>
            <a:pPr lvl="1"/>
            <a:endParaRPr lang="fi-FI" dirty="0"/>
          </a:p>
        </p:txBody>
      </p:sp>
      <p:pic>
        <p:nvPicPr>
          <p:cNvPr id="5" name="Picture 4">
            <a:extLst>
              <a:ext uri="{FF2B5EF4-FFF2-40B4-BE49-F238E27FC236}">
                <a16:creationId xmlns:a16="http://schemas.microsoft.com/office/drawing/2014/main" id="{50182E25-9E4B-8B37-397D-0A9908DD33F5}"/>
              </a:ext>
            </a:extLst>
          </p:cNvPr>
          <p:cNvPicPr>
            <a:picLocks noChangeAspect="1"/>
          </p:cNvPicPr>
          <p:nvPr/>
        </p:nvPicPr>
        <p:blipFill>
          <a:blip r:embed="rId2"/>
          <a:stretch>
            <a:fillRect/>
          </a:stretch>
        </p:blipFill>
        <p:spPr>
          <a:xfrm>
            <a:off x="5999755" y="2149409"/>
            <a:ext cx="5283472" cy="2559182"/>
          </a:xfrm>
          <a:prstGeom prst="rect">
            <a:avLst/>
          </a:prstGeom>
        </p:spPr>
      </p:pic>
    </p:spTree>
    <p:extLst>
      <p:ext uri="{BB962C8B-B14F-4D97-AF65-F5344CB8AC3E}">
        <p14:creationId xmlns:p14="http://schemas.microsoft.com/office/powerpoint/2010/main" val="135087033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7443-1C9B-107C-FBAF-3310DF0DF627}"/>
              </a:ext>
            </a:extLst>
          </p:cNvPr>
          <p:cNvSpPr>
            <a:spLocks noGrp="1"/>
          </p:cNvSpPr>
          <p:nvPr>
            <p:ph type="title"/>
          </p:nvPr>
        </p:nvSpPr>
        <p:spPr/>
        <p:txBody>
          <a:bodyPr/>
          <a:lstStyle/>
          <a:p>
            <a:r>
              <a:rPr lang="fi-FI" dirty="0"/>
              <a:t>Muut yhteentörmäysten käsittelymenetelmät</a:t>
            </a:r>
          </a:p>
        </p:txBody>
      </p:sp>
      <p:sp>
        <p:nvSpPr>
          <p:cNvPr id="3" name="Content Placeholder 2">
            <a:extLst>
              <a:ext uri="{FF2B5EF4-FFF2-40B4-BE49-F238E27FC236}">
                <a16:creationId xmlns:a16="http://schemas.microsoft.com/office/drawing/2014/main" id="{886F2116-BBE8-58FC-F5F5-3273D3237D98}"/>
              </a:ext>
            </a:extLst>
          </p:cNvPr>
          <p:cNvSpPr>
            <a:spLocks noGrp="1"/>
          </p:cNvSpPr>
          <p:nvPr>
            <p:ph idx="1"/>
          </p:nvPr>
        </p:nvSpPr>
        <p:spPr/>
        <p:txBody>
          <a:bodyPr>
            <a:normAutofit fontScale="77500" lnSpcReduction="20000"/>
          </a:bodyPr>
          <a:lstStyle/>
          <a:p>
            <a:r>
              <a:rPr lang="fi-FI" dirty="0"/>
              <a:t>On olemassa muita mekanismeja yhteentörmäysten käsittelyyn kuin erillinen ketjutus, mm.:</a:t>
            </a:r>
          </a:p>
          <a:p>
            <a:pPr lvl="1"/>
            <a:r>
              <a:rPr lang="fi-FI" dirty="0"/>
              <a:t>lineaarinen kokeilu (</a:t>
            </a:r>
            <a:r>
              <a:rPr lang="fi-FI" dirty="0" err="1"/>
              <a:t>linear</a:t>
            </a:r>
            <a:r>
              <a:rPr lang="fi-FI" dirty="0"/>
              <a:t> </a:t>
            </a:r>
            <a:r>
              <a:rPr lang="fi-FI" dirty="0" err="1"/>
              <a:t>probing</a:t>
            </a:r>
            <a:r>
              <a:rPr lang="fi-FI" dirty="0"/>
              <a:t>)</a:t>
            </a:r>
          </a:p>
          <a:p>
            <a:pPr lvl="1"/>
            <a:r>
              <a:rPr lang="fi-FI" dirty="0"/>
              <a:t>neliöllinen kokeilu (</a:t>
            </a:r>
            <a:r>
              <a:rPr lang="fi-FI" dirty="0" err="1"/>
              <a:t>quadratic</a:t>
            </a:r>
            <a:r>
              <a:rPr lang="fi-FI" dirty="0"/>
              <a:t> </a:t>
            </a:r>
            <a:r>
              <a:rPr lang="fi-FI" dirty="0" err="1"/>
              <a:t>probing</a:t>
            </a:r>
            <a:r>
              <a:rPr lang="fi-FI" dirty="0"/>
              <a:t>)</a:t>
            </a:r>
          </a:p>
          <a:p>
            <a:pPr lvl="1"/>
            <a:r>
              <a:rPr lang="fi-FI" dirty="0"/>
              <a:t>kaksoishajautus (</a:t>
            </a:r>
            <a:r>
              <a:rPr lang="fi-FI" dirty="0" err="1"/>
              <a:t>double</a:t>
            </a:r>
            <a:r>
              <a:rPr lang="fi-FI" dirty="0"/>
              <a:t> </a:t>
            </a:r>
            <a:r>
              <a:rPr lang="fi-FI" dirty="0" err="1"/>
              <a:t>hashing</a:t>
            </a:r>
            <a:r>
              <a:rPr lang="fi-FI" dirty="0"/>
              <a:t>)</a:t>
            </a:r>
          </a:p>
          <a:p>
            <a:r>
              <a:rPr lang="fi-FI" dirty="0"/>
              <a:t>Käytännössä hajautustaulua ei tarvitse toteuttaa itse. Hajautustaulun toimintaperiaate täytyy kuitenkin ymmärtää</a:t>
            </a:r>
          </a:p>
          <a:p>
            <a:r>
              <a:rPr lang="fi-FI" dirty="0"/>
              <a:t>Jos Javan </a:t>
            </a:r>
            <a:r>
              <a:rPr lang="fi-FI" b="1" dirty="0" err="1"/>
              <a:t>HashSet</a:t>
            </a:r>
            <a:r>
              <a:rPr lang="fi-FI" dirty="0"/>
              <a:t>-rakenteeseen tallentaa olioita, täytyy hajautusfunktio määritellä itse ylikuormittamalla (</a:t>
            </a:r>
            <a:r>
              <a:rPr lang="fi-FI" dirty="0" err="1"/>
              <a:t>override</a:t>
            </a:r>
            <a:r>
              <a:rPr lang="fi-FI" dirty="0"/>
              <a:t>). Samalla täytyy ylikuormittaa myös </a:t>
            </a:r>
            <a:r>
              <a:rPr lang="fi-FI" dirty="0" err="1"/>
              <a:t>equals</a:t>
            </a:r>
            <a:r>
              <a:rPr lang="fi-FI" dirty="0"/>
              <a:t>-metodi. Tämä täytyy tehdä myös, jos käyttää oliota </a:t>
            </a:r>
            <a:r>
              <a:rPr lang="fi-FI" b="1" dirty="0"/>
              <a:t>avaimena</a:t>
            </a:r>
            <a:r>
              <a:rPr lang="fi-FI" dirty="0"/>
              <a:t> </a:t>
            </a:r>
            <a:r>
              <a:rPr lang="fi-FI" b="1" dirty="0" err="1"/>
              <a:t>HashMap</a:t>
            </a:r>
            <a:r>
              <a:rPr lang="fi-FI" dirty="0"/>
              <a:t>-rakenteessa.</a:t>
            </a:r>
          </a:p>
          <a:p>
            <a:pPr lvl="1"/>
            <a:r>
              <a:rPr lang="fi-FI" dirty="0"/>
              <a:t>Miten usein tarvetta käyttää </a:t>
            </a:r>
            <a:r>
              <a:rPr lang="fi-FI" dirty="0" err="1"/>
              <a:t>HashSet</a:t>
            </a:r>
            <a:r>
              <a:rPr lang="fi-FI" dirty="0"/>
              <a:t>-rakennetta tai olioavainta </a:t>
            </a:r>
            <a:r>
              <a:rPr lang="fi-FI" dirty="0" err="1"/>
              <a:t>HashMap:issä</a:t>
            </a:r>
            <a:r>
              <a:rPr lang="fi-FI" dirty="0"/>
              <a:t>? Ainakaan tietokantapohjaisissa järjestelmissä tämä ei tule vastaan, eikä ehkä muulloinkaan kovin usein.</a:t>
            </a:r>
          </a:p>
          <a:p>
            <a:r>
              <a:rPr lang="fi-FI" dirty="0" err="1"/>
              <a:t>IDE:t</a:t>
            </a:r>
            <a:r>
              <a:rPr lang="fi-FI" dirty="0"/>
              <a:t> auttavat </a:t>
            </a:r>
            <a:r>
              <a:rPr lang="fi-FI" dirty="0" err="1"/>
              <a:t>equals</a:t>
            </a:r>
            <a:r>
              <a:rPr lang="fi-FI" dirty="0"/>
              <a:t>()- and </a:t>
            </a:r>
            <a:r>
              <a:rPr lang="fi-FI" dirty="0" err="1"/>
              <a:t>hashCode</a:t>
            </a:r>
            <a:r>
              <a:rPr lang="fi-FI" dirty="0"/>
              <a:t>()-metodien toteuttamisessa</a:t>
            </a:r>
          </a:p>
          <a:p>
            <a:r>
              <a:rPr lang="fi-FI" dirty="0"/>
              <a:t>Lisätietoa:</a:t>
            </a:r>
          </a:p>
          <a:p>
            <a:pPr lvl="1"/>
            <a:r>
              <a:rPr lang="fi-FI" dirty="0">
                <a:hlinkClick r:id="rId2"/>
              </a:rPr>
              <a:t>https://www.digitalocean.com/community/tutorials/java-equals-hashcode</a:t>
            </a:r>
            <a:r>
              <a:rPr lang="fi-FI" dirty="0"/>
              <a:t> </a:t>
            </a:r>
          </a:p>
        </p:txBody>
      </p:sp>
    </p:spTree>
    <p:extLst>
      <p:ext uri="{BB962C8B-B14F-4D97-AF65-F5344CB8AC3E}">
        <p14:creationId xmlns:p14="http://schemas.microsoft.com/office/powerpoint/2010/main" val="328861706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C2C0A-68EB-58BC-A1ED-79DCFBEB5A42}"/>
              </a:ext>
            </a:extLst>
          </p:cNvPr>
          <p:cNvSpPr>
            <a:spLocks noGrp="1"/>
          </p:cNvSpPr>
          <p:nvPr>
            <p:ph type="title"/>
          </p:nvPr>
        </p:nvSpPr>
        <p:spPr/>
        <p:txBody>
          <a:bodyPr/>
          <a:lstStyle/>
          <a:p>
            <a:endParaRPr lang="fi-FI" dirty="0"/>
          </a:p>
        </p:txBody>
      </p:sp>
      <p:sp>
        <p:nvSpPr>
          <p:cNvPr id="3" name="Content Placeholder 2">
            <a:extLst>
              <a:ext uri="{FF2B5EF4-FFF2-40B4-BE49-F238E27FC236}">
                <a16:creationId xmlns:a16="http://schemas.microsoft.com/office/drawing/2014/main" id="{52F32506-98BD-E8BA-B3B8-14A5197E7D3D}"/>
              </a:ext>
            </a:extLst>
          </p:cNvPr>
          <p:cNvSpPr>
            <a:spLocks noGrp="1"/>
          </p:cNvSpPr>
          <p:nvPr>
            <p:ph idx="1"/>
          </p:nvPr>
        </p:nvSpPr>
        <p:spPr>
          <a:xfrm>
            <a:off x="838200" y="1825625"/>
            <a:ext cx="5638800" cy="4351338"/>
          </a:xfrm>
        </p:spPr>
        <p:txBody>
          <a:bodyPr/>
          <a:lstStyle/>
          <a:p>
            <a:endParaRPr lang="fi-FI" dirty="0"/>
          </a:p>
        </p:txBody>
      </p:sp>
      <p:pic>
        <p:nvPicPr>
          <p:cNvPr id="5" name="Picture 4">
            <a:extLst>
              <a:ext uri="{FF2B5EF4-FFF2-40B4-BE49-F238E27FC236}">
                <a16:creationId xmlns:a16="http://schemas.microsoft.com/office/drawing/2014/main" id="{A491EA76-B9F6-2C79-F0DB-3BC42B24846A}"/>
              </a:ext>
            </a:extLst>
          </p:cNvPr>
          <p:cNvPicPr>
            <a:picLocks noChangeAspect="1"/>
          </p:cNvPicPr>
          <p:nvPr/>
        </p:nvPicPr>
        <p:blipFill>
          <a:blip r:embed="rId2"/>
          <a:stretch>
            <a:fillRect/>
          </a:stretch>
        </p:blipFill>
        <p:spPr>
          <a:xfrm>
            <a:off x="7248008" y="3032262"/>
            <a:ext cx="4445228" cy="3346622"/>
          </a:xfrm>
          <a:prstGeom prst="rect">
            <a:avLst/>
          </a:prstGeom>
        </p:spPr>
      </p:pic>
      <p:pic>
        <p:nvPicPr>
          <p:cNvPr id="7" name="Picture 6">
            <a:extLst>
              <a:ext uri="{FF2B5EF4-FFF2-40B4-BE49-F238E27FC236}">
                <a16:creationId xmlns:a16="http://schemas.microsoft.com/office/drawing/2014/main" id="{AAA45BFE-44AE-A542-21CF-ED435166B0A4}"/>
              </a:ext>
            </a:extLst>
          </p:cNvPr>
          <p:cNvPicPr>
            <a:picLocks noChangeAspect="1"/>
          </p:cNvPicPr>
          <p:nvPr/>
        </p:nvPicPr>
        <p:blipFill>
          <a:blip r:embed="rId3"/>
          <a:stretch>
            <a:fillRect/>
          </a:stretch>
        </p:blipFill>
        <p:spPr>
          <a:xfrm>
            <a:off x="7088680" y="357119"/>
            <a:ext cx="4763883" cy="2667137"/>
          </a:xfrm>
          <a:prstGeom prst="rect">
            <a:avLst/>
          </a:prstGeom>
        </p:spPr>
      </p:pic>
      <p:pic>
        <p:nvPicPr>
          <p:cNvPr id="9" name="Picture 8">
            <a:extLst>
              <a:ext uri="{FF2B5EF4-FFF2-40B4-BE49-F238E27FC236}">
                <a16:creationId xmlns:a16="http://schemas.microsoft.com/office/drawing/2014/main" id="{B390D29C-C94F-4BF0-F24E-F59257EE2E30}"/>
              </a:ext>
            </a:extLst>
          </p:cNvPr>
          <p:cNvPicPr>
            <a:picLocks noChangeAspect="1"/>
          </p:cNvPicPr>
          <p:nvPr/>
        </p:nvPicPr>
        <p:blipFill>
          <a:blip r:embed="rId4"/>
          <a:stretch>
            <a:fillRect/>
          </a:stretch>
        </p:blipFill>
        <p:spPr>
          <a:xfrm>
            <a:off x="2625911" y="3032262"/>
            <a:ext cx="4213388" cy="3392248"/>
          </a:xfrm>
          <a:prstGeom prst="rect">
            <a:avLst/>
          </a:prstGeom>
        </p:spPr>
      </p:pic>
    </p:spTree>
    <p:extLst>
      <p:ext uri="{BB962C8B-B14F-4D97-AF65-F5344CB8AC3E}">
        <p14:creationId xmlns:p14="http://schemas.microsoft.com/office/powerpoint/2010/main" val="29158100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A7C31-02C7-869B-E326-D35A26DED74E}"/>
              </a:ext>
            </a:extLst>
          </p:cNvPr>
          <p:cNvSpPr>
            <a:spLocks noGrp="1"/>
          </p:cNvSpPr>
          <p:nvPr>
            <p:ph type="ctrTitle"/>
          </p:nvPr>
        </p:nvSpPr>
        <p:spPr/>
        <p:txBody>
          <a:bodyPr/>
          <a:lstStyle/>
          <a:p>
            <a:r>
              <a:rPr lang="fi-FI" dirty="0"/>
              <a:t>Kokoelmien käsittely arvojen virtana - </a:t>
            </a:r>
            <a:r>
              <a:rPr lang="fi-FI" dirty="0" err="1"/>
              <a:t>streamit</a:t>
            </a:r>
            <a:endParaRPr lang="fi-FI" dirty="0"/>
          </a:p>
        </p:txBody>
      </p:sp>
      <p:sp>
        <p:nvSpPr>
          <p:cNvPr id="3" name="Subtitle 2">
            <a:extLst>
              <a:ext uri="{FF2B5EF4-FFF2-40B4-BE49-F238E27FC236}">
                <a16:creationId xmlns:a16="http://schemas.microsoft.com/office/drawing/2014/main" id="{F5476EE9-E808-D330-05E2-DC84EBE84FFC}"/>
              </a:ext>
            </a:extLst>
          </p:cNvPr>
          <p:cNvSpPr>
            <a:spLocks noGrp="1"/>
          </p:cNvSpPr>
          <p:nvPr>
            <p:ph type="subTitle" idx="1"/>
          </p:nvPr>
        </p:nvSpPr>
        <p:spPr/>
        <p:txBody>
          <a:bodyPr/>
          <a:lstStyle/>
          <a:p>
            <a:r>
              <a:rPr lang="fi-FI" dirty="0">
                <a:hlinkClick r:id="rId2"/>
              </a:rPr>
              <a:t>https://ohjelmointi-20.mooc.fi/osa-10/1-kokoelmien-kasittely-virtana</a:t>
            </a:r>
            <a:r>
              <a:rPr lang="fi-FI" dirty="0"/>
              <a:t>  </a:t>
            </a:r>
          </a:p>
          <a:p>
            <a:endParaRPr lang="fi-FI" dirty="0"/>
          </a:p>
        </p:txBody>
      </p:sp>
    </p:spTree>
    <p:extLst>
      <p:ext uri="{BB962C8B-B14F-4D97-AF65-F5344CB8AC3E}">
        <p14:creationId xmlns:p14="http://schemas.microsoft.com/office/powerpoint/2010/main" val="8081289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4CEF9-EE1F-E724-0CFC-FD104CCC5F74}"/>
              </a:ext>
            </a:extLst>
          </p:cNvPr>
          <p:cNvSpPr>
            <a:spLocks noGrp="1"/>
          </p:cNvSpPr>
          <p:nvPr>
            <p:ph type="title"/>
          </p:nvPr>
        </p:nvSpPr>
        <p:spPr/>
        <p:txBody>
          <a:bodyPr/>
          <a:lstStyle/>
          <a:p>
            <a:r>
              <a:rPr lang="fi-FI" dirty="0" err="1"/>
              <a:t>Stream</a:t>
            </a:r>
            <a:endParaRPr lang="fi-FI" dirty="0"/>
          </a:p>
        </p:txBody>
      </p:sp>
      <p:sp>
        <p:nvSpPr>
          <p:cNvPr id="3" name="Content Placeholder 2">
            <a:extLst>
              <a:ext uri="{FF2B5EF4-FFF2-40B4-BE49-F238E27FC236}">
                <a16:creationId xmlns:a16="http://schemas.microsoft.com/office/drawing/2014/main" id="{F3A07A92-0D7A-F711-D9B0-5E29B4386C22}"/>
              </a:ext>
            </a:extLst>
          </p:cNvPr>
          <p:cNvSpPr>
            <a:spLocks noGrp="1"/>
          </p:cNvSpPr>
          <p:nvPr>
            <p:ph idx="1"/>
          </p:nvPr>
        </p:nvSpPr>
        <p:spPr/>
        <p:txBody>
          <a:bodyPr>
            <a:normAutofit fontScale="92500" lnSpcReduction="10000"/>
          </a:bodyPr>
          <a:lstStyle/>
          <a:p>
            <a:r>
              <a:rPr lang="fi-FI" dirty="0" err="1"/>
              <a:t>Streamin</a:t>
            </a:r>
            <a:r>
              <a:rPr lang="fi-FI" dirty="0"/>
              <a:t> avulla voidaan käydä kokoelma läpi siten, että määritellään kullekin arvolle suoritettava toiminnallisuus.</a:t>
            </a:r>
          </a:p>
          <a:p>
            <a:r>
              <a:rPr lang="fi-FI" dirty="0"/>
              <a:t>Indeksistä tai kullakin hetkellä käsiteltävästä muuttujasta ei pidetä kirjaa.</a:t>
            </a:r>
          </a:p>
          <a:p>
            <a:r>
              <a:rPr lang="fi-FI" dirty="0"/>
              <a:t>Virran avulla määritellään tapahtumaketju, joka suoritetaan jokaiselle kokoelman arvolle.</a:t>
            </a:r>
          </a:p>
          <a:p>
            <a:r>
              <a:rPr lang="fi-FI" dirty="0"/>
              <a:t>Tapahtumaketju voi sisältää joidenkin arvojen pois pudottamisen, arvojen muuntamisen muodosta toiseen tai esimerkiksi arvojen laskemisen.</a:t>
            </a:r>
          </a:p>
          <a:p>
            <a:r>
              <a:rPr lang="fi-FI" dirty="0"/>
              <a:t>Virta ei muuta alkuperäisen kokoelman arvoja, vaan se vain käsittelee niitä. Jos muutokset halutaan talteen, tulee ne viedä toiseen kokoelmaan.</a:t>
            </a:r>
          </a:p>
          <a:p>
            <a:r>
              <a:rPr lang="fi-FI" dirty="0"/>
              <a:t>Opiskellaan virrat suoraan materiaalin </a:t>
            </a:r>
            <a:r>
              <a:rPr lang="fi-FI" dirty="0">
                <a:hlinkClick r:id="rId2"/>
              </a:rPr>
              <a:t>https://ohjelmointi-20.mooc.fi/osa-10/1-kokoelmien-kasittely-virtana</a:t>
            </a:r>
            <a:r>
              <a:rPr lang="fi-FI" dirty="0"/>
              <a:t> avulla.</a:t>
            </a:r>
          </a:p>
        </p:txBody>
      </p:sp>
    </p:spTree>
    <p:extLst>
      <p:ext uri="{BB962C8B-B14F-4D97-AF65-F5344CB8AC3E}">
        <p14:creationId xmlns:p14="http://schemas.microsoft.com/office/powerpoint/2010/main" val="9826380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CDE9B-4D32-4E90-E181-0047FBA51B4F}"/>
              </a:ext>
            </a:extLst>
          </p:cNvPr>
          <p:cNvSpPr>
            <a:spLocks noGrp="1"/>
          </p:cNvSpPr>
          <p:nvPr>
            <p:ph type="title"/>
          </p:nvPr>
        </p:nvSpPr>
        <p:spPr/>
        <p:txBody>
          <a:bodyPr/>
          <a:lstStyle/>
          <a:p>
            <a:r>
              <a:rPr lang="fi-FI" dirty="0"/>
              <a:t>Esimerkki </a:t>
            </a:r>
            <a:r>
              <a:rPr lang="fi-FI" dirty="0" err="1"/>
              <a:t>streamien</a:t>
            </a:r>
            <a:r>
              <a:rPr lang="fi-FI" dirty="0"/>
              <a:t> käytöstä</a:t>
            </a:r>
          </a:p>
        </p:txBody>
      </p:sp>
      <p:sp>
        <p:nvSpPr>
          <p:cNvPr id="3" name="Content Placeholder 2">
            <a:extLst>
              <a:ext uri="{FF2B5EF4-FFF2-40B4-BE49-F238E27FC236}">
                <a16:creationId xmlns:a16="http://schemas.microsoft.com/office/drawing/2014/main" id="{14C4EA43-595D-C05E-3F67-738900765861}"/>
              </a:ext>
            </a:extLst>
          </p:cNvPr>
          <p:cNvSpPr>
            <a:spLocks noGrp="1"/>
          </p:cNvSpPr>
          <p:nvPr>
            <p:ph idx="1"/>
          </p:nvPr>
        </p:nvSpPr>
        <p:spPr>
          <a:xfrm>
            <a:off x="838200" y="1825625"/>
            <a:ext cx="4462849" cy="4351338"/>
          </a:xfrm>
        </p:spPr>
        <p:txBody>
          <a:bodyPr>
            <a:normAutofit lnSpcReduction="10000"/>
          </a:bodyPr>
          <a:lstStyle/>
          <a:p>
            <a:r>
              <a:rPr lang="fi-FI" dirty="0"/>
              <a:t>Luetaan aluksi käyttäjän syötteitä </a:t>
            </a:r>
            <a:r>
              <a:rPr lang="fi-FI" dirty="0" err="1"/>
              <a:t>String</a:t>
            </a:r>
            <a:r>
              <a:rPr lang="fi-FI" dirty="0"/>
              <a:t>-tyyppiseen listaan</a:t>
            </a:r>
          </a:p>
          <a:p>
            <a:pPr lvl="1"/>
            <a:r>
              <a:rPr lang="fi-FI" dirty="0"/>
              <a:t>(oikeasti </a:t>
            </a:r>
            <a:r>
              <a:rPr lang="fi-FI" dirty="0" err="1"/>
              <a:t>String</a:t>
            </a:r>
            <a:r>
              <a:rPr lang="fi-FI" dirty="0"/>
              <a:t>-lista on hölmö, sillä syötteiden oletetaan olevan lukuja.)</a:t>
            </a:r>
          </a:p>
          <a:p>
            <a:r>
              <a:rPr lang="fi-FI" dirty="0"/>
              <a:t>Käydään lista </a:t>
            </a:r>
            <a:r>
              <a:rPr lang="fi-FI" dirty="0" err="1"/>
              <a:t>streamina</a:t>
            </a:r>
            <a:r>
              <a:rPr lang="fi-FI" dirty="0"/>
              <a:t> läpi</a:t>
            </a:r>
          </a:p>
          <a:p>
            <a:pPr lvl="1"/>
            <a:r>
              <a:rPr lang="fi-FI" dirty="0" err="1"/>
              <a:t>syotteet.stream</a:t>
            </a:r>
            <a:r>
              <a:rPr lang="fi-FI" dirty="0"/>
              <a:t>()</a:t>
            </a:r>
          </a:p>
          <a:p>
            <a:pPr lvl="1"/>
            <a:r>
              <a:rPr lang="fi-FI" dirty="0" err="1"/>
              <a:t>mapToInt</a:t>
            </a:r>
            <a:r>
              <a:rPr lang="fi-FI" dirty="0"/>
              <a:t>() muuntaa luvuksi</a:t>
            </a:r>
          </a:p>
          <a:p>
            <a:pPr lvl="1"/>
            <a:r>
              <a:rPr lang="fi-FI" dirty="0" err="1"/>
              <a:t>average</a:t>
            </a:r>
            <a:r>
              <a:rPr lang="fi-FI" dirty="0"/>
              <a:t>() laskee keskiarvon</a:t>
            </a:r>
          </a:p>
          <a:p>
            <a:pPr lvl="1"/>
            <a:r>
              <a:rPr lang="fi-FI" dirty="0" err="1"/>
              <a:t>getAsDouble</a:t>
            </a:r>
            <a:r>
              <a:rPr lang="fi-FI" dirty="0"/>
              <a:t>() palauttaa luvun</a:t>
            </a:r>
          </a:p>
        </p:txBody>
      </p:sp>
      <p:sp>
        <p:nvSpPr>
          <p:cNvPr id="5" name="TextBox 4">
            <a:extLst>
              <a:ext uri="{FF2B5EF4-FFF2-40B4-BE49-F238E27FC236}">
                <a16:creationId xmlns:a16="http://schemas.microsoft.com/office/drawing/2014/main" id="{2FE770BC-BD1E-0F9F-D381-AE960BFD311D}"/>
              </a:ext>
            </a:extLst>
          </p:cNvPr>
          <p:cNvSpPr txBox="1"/>
          <p:nvPr/>
        </p:nvSpPr>
        <p:spPr>
          <a:xfrm>
            <a:off x="5191381" y="1825625"/>
            <a:ext cx="6708175" cy="4154984"/>
          </a:xfrm>
          <a:prstGeom prst="rect">
            <a:avLst/>
          </a:prstGeom>
          <a:noFill/>
        </p:spPr>
        <p:txBody>
          <a:bodyPr wrap="square">
            <a:spAutoFit/>
          </a:bodyPr>
          <a:lstStyle/>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 lukija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(System.in);   </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meillä on </a:t>
            </a:r>
            <a:r>
              <a:rPr lang="fi-FI" sz="1200" b="0" dirty="0" err="1">
                <a:solidFill>
                  <a:srgbClr val="008000"/>
                </a:solidFill>
                <a:effectLst/>
                <a:latin typeface="Consolas" panose="020B0609020204030204" pitchFamily="49" charset="0"/>
              </a:rPr>
              <a:t>jastakin</a:t>
            </a:r>
            <a:r>
              <a:rPr lang="fi-FI" sz="1200" b="0" dirty="0">
                <a:solidFill>
                  <a:srgbClr val="008000"/>
                </a:solidFill>
                <a:effectLst/>
                <a:latin typeface="Consolas" panose="020B0609020204030204" pitchFamily="49" charset="0"/>
              </a:rPr>
              <a:t> syystä </a:t>
            </a:r>
            <a:r>
              <a:rPr lang="fi-FI" sz="1200" b="0" dirty="0" err="1">
                <a:solidFill>
                  <a:srgbClr val="008000"/>
                </a:solidFill>
                <a:effectLst/>
                <a:latin typeface="Consolas" panose="020B0609020204030204" pitchFamily="49" charset="0"/>
              </a:rPr>
              <a:t>String</a:t>
            </a:r>
            <a:r>
              <a:rPr lang="fi-FI" sz="1200" b="0" dirty="0">
                <a:solidFill>
                  <a:srgbClr val="008000"/>
                </a:solidFill>
                <a:effectLst/>
                <a:latin typeface="Consolas" panose="020B0609020204030204" pitchFamily="49" charset="0"/>
              </a:rPr>
              <a:t>-lista </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(kannattaisi olla oikeasti </a:t>
            </a:r>
            <a:r>
              <a:rPr lang="fi-FI" sz="1200" b="0" dirty="0" err="1">
                <a:solidFill>
                  <a:srgbClr val="008000"/>
                </a:solidFill>
                <a:effectLst/>
                <a:latin typeface="Consolas" panose="020B0609020204030204" pitchFamily="49" charset="0"/>
              </a:rPr>
              <a:t>Integer</a:t>
            </a:r>
            <a:r>
              <a:rPr lang="fi-FI" sz="1200" b="0" dirty="0">
                <a:solidFill>
                  <a:srgbClr val="008000"/>
                </a:solidFill>
                <a:effectLst/>
                <a:latin typeface="Consolas" panose="020B0609020204030204" pitchFamily="49" charset="0"/>
              </a:rPr>
              <a:t>)</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&gt; </a:t>
            </a:r>
            <a:r>
              <a:rPr lang="fi-FI" sz="1200" b="0" dirty="0" err="1">
                <a:solidFill>
                  <a:srgbClr val="000000"/>
                </a:solidFill>
                <a:effectLst/>
                <a:latin typeface="Consolas" panose="020B0609020204030204" pitchFamily="49" charset="0"/>
              </a:rPr>
              <a:t>syotteet</a:t>
            </a: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pyydetään käyttäjältä syötteitä</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true</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rivi = </a:t>
            </a:r>
            <a:r>
              <a:rPr lang="fi-FI" sz="1200" b="0" dirty="0" err="1">
                <a:solidFill>
                  <a:srgbClr val="000000"/>
                </a:solidFill>
                <a:effectLst/>
                <a:latin typeface="Consolas" panose="020B0609020204030204" pitchFamily="49" charset="0"/>
              </a:rPr>
              <a:t>lukija.nextLine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rivi.length</a:t>
            </a:r>
            <a:r>
              <a:rPr lang="fi-FI" sz="1200" b="0" dirty="0">
                <a:solidFill>
                  <a:srgbClr val="000000"/>
                </a:solidFill>
                <a:effectLst/>
                <a:latin typeface="Consolas" panose="020B0609020204030204" pitchFamily="49" charset="0"/>
              </a:rPr>
              <a:t>() &lt; </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break</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syotteet.add</a:t>
            </a:r>
            <a:r>
              <a:rPr lang="fi-FI" sz="1200" b="0" dirty="0">
                <a:solidFill>
                  <a:srgbClr val="000000"/>
                </a:solidFill>
                <a:effectLst/>
                <a:latin typeface="Consolas" panose="020B0609020204030204" pitchFamily="49" charset="0"/>
              </a:rPr>
              <a:t>(rivi);</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muunnetaan numeroiksi ja lasketaan keskiarvo</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double</a:t>
            </a:r>
            <a:r>
              <a:rPr lang="fi-FI" sz="1200" b="0" dirty="0">
                <a:solidFill>
                  <a:srgbClr val="000000"/>
                </a:solidFill>
                <a:effectLst/>
                <a:latin typeface="Consolas" panose="020B0609020204030204" pitchFamily="49" charset="0"/>
              </a:rPr>
              <a:t> keskiarvo = </a:t>
            </a:r>
            <a:r>
              <a:rPr lang="fi-FI" sz="1200" b="0" dirty="0" err="1">
                <a:solidFill>
                  <a:srgbClr val="000000"/>
                </a:solidFill>
                <a:effectLst/>
                <a:latin typeface="Consolas" panose="020B0609020204030204" pitchFamily="49" charset="0"/>
              </a:rPr>
              <a:t>syotteet.stream</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mapToInt</a:t>
            </a:r>
            <a:r>
              <a:rPr lang="fi-FI" sz="1200" b="0" dirty="0">
                <a:solidFill>
                  <a:srgbClr val="000000"/>
                </a:solidFill>
                <a:effectLst/>
                <a:latin typeface="Consolas" panose="020B0609020204030204" pitchFamily="49" charset="0"/>
              </a:rPr>
              <a:t>(s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Integer.valueOf</a:t>
            </a:r>
            <a:r>
              <a:rPr lang="fi-FI" sz="1200" b="0" dirty="0">
                <a:solidFill>
                  <a:srgbClr val="000000"/>
                </a:solidFill>
                <a:effectLst/>
                <a:latin typeface="Consolas" panose="020B0609020204030204" pitchFamily="49" charset="0"/>
              </a:rPr>
              <a:t>(s)) </a:t>
            </a:r>
            <a:r>
              <a:rPr lang="fi-FI" sz="1200" b="0" dirty="0">
                <a:solidFill>
                  <a:srgbClr val="008000"/>
                </a:solidFill>
                <a:effectLst/>
                <a:latin typeface="Consolas" panose="020B0609020204030204" pitchFamily="49" charset="0"/>
              </a:rPr>
              <a:t>// muunnetaan kokonaisluvuksi</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average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lasketaan keskiarvo</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getAsDouble</a:t>
            </a:r>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tämä tarvitaan, että saadaan luku       </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"Keskiarvo on "</a:t>
            </a:r>
            <a:r>
              <a:rPr lang="fi-FI" sz="1200" b="0" dirty="0">
                <a:solidFill>
                  <a:srgbClr val="000000"/>
                </a:solidFill>
                <a:effectLst/>
                <a:latin typeface="Consolas" panose="020B0609020204030204" pitchFamily="49" charset="0"/>
              </a:rPr>
              <a:t> + keskiarvo);</a:t>
            </a:r>
          </a:p>
        </p:txBody>
      </p:sp>
    </p:spTree>
    <p:extLst>
      <p:ext uri="{BB962C8B-B14F-4D97-AF65-F5344CB8AC3E}">
        <p14:creationId xmlns:p14="http://schemas.microsoft.com/office/powerpoint/2010/main" val="188943398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AC54A-EF32-6713-E783-A36C5D1BEE8C}"/>
              </a:ext>
            </a:extLst>
          </p:cNvPr>
          <p:cNvSpPr>
            <a:spLocks noGrp="1"/>
          </p:cNvSpPr>
          <p:nvPr>
            <p:ph type="title"/>
          </p:nvPr>
        </p:nvSpPr>
        <p:spPr/>
        <p:txBody>
          <a:bodyPr/>
          <a:lstStyle/>
          <a:p>
            <a:r>
              <a:rPr lang="fi-FI" dirty="0" err="1"/>
              <a:t>Streameja</a:t>
            </a:r>
            <a:endParaRPr lang="fi-FI" dirty="0"/>
          </a:p>
        </p:txBody>
      </p:sp>
      <p:sp>
        <p:nvSpPr>
          <p:cNvPr id="3" name="Content Placeholder 2">
            <a:extLst>
              <a:ext uri="{FF2B5EF4-FFF2-40B4-BE49-F238E27FC236}">
                <a16:creationId xmlns:a16="http://schemas.microsoft.com/office/drawing/2014/main" id="{3ACBD86E-287E-212C-AF95-CCB73486CB7F}"/>
              </a:ext>
            </a:extLst>
          </p:cNvPr>
          <p:cNvSpPr>
            <a:spLocks noGrp="1"/>
          </p:cNvSpPr>
          <p:nvPr>
            <p:ph idx="1"/>
          </p:nvPr>
        </p:nvSpPr>
        <p:spPr/>
        <p:txBody>
          <a:bodyPr>
            <a:normAutofit fontScale="85000" lnSpcReduction="10000"/>
          </a:bodyPr>
          <a:lstStyle/>
          <a:p>
            <a:r>
              <a:rPr lang="fi-FI" b="0" i="0" dirty="0">
                <a:effectLst/>
                <a:latin typeface="Roboto" panose="02000000000000000000" pitchFamily="2" charset="0"/>
              </a:rPr>
              <a:t>Virran luominen: </a:t>
            </a:r>
            <a:r>
              <a:rPr lang="fi-FI" b="0" i="0" dirty="0" err="1">
                <a:effectLst/>
                <a:latin typeface="Roboto" panose="02000000000000000000" pitchFamily="2" charset="0"/>
              </a:rPr>
              <a:t>stream</a:t>
            </a:r>
            <a:r>
              <a:rPr lang="fi-FI" b="0" i="0" dirty="0">
                <a:effectLst/>
                <a:latin typeface="Roboto" panose="02000000000000000000" pitchFamily="2" charset="0"/>
              </a:rPr>
              <a:t>()</a:t>
            </a:r>
          </a:p>
          <a:p>
            <a:pPr lvl="1"/>
            <a:r>
              <a:rPr lang="fi-FI" dirty="0"/>
              <a:t>Metodia kutsutaan </a:t>
            </a:r>
            <a:r>
              <a:rPr lang="fi-FI" dirty="0" err="1"/>
              <a:t>Collection</a:t>
            </a:r>
            <a:r>
              <a:rPr lang="fi-FI" dirty="0"/>
              <a:t>-rajapinnan toteuttavalle kokoelmalle kuten </a:t>
            </a:r>
            <a:r>
              <a:rPr lang="fi-FI" dirty="0" err="1"/>
              <a:t>ArrayListille</a:t>
            </a:r>
            <a:r>
              <a:rPr lang="fi-FI" dirty="0"/>
              <a:t>. Luotavalle virralle tehdään jotain.</a:t>
            </a:r>
          </a:p>
          <a:p>
            <a:r>
              <a:rPr lang="fi-FI" dirty="0"/>
              <a:t>Virran muuntaminen kokonaislukuvirraksi: </a:t>
            </a:r>
            <a:r>
              <a:rPr lang="fi-FI" dirty="0" err="1"/>
              <a:t>mapToInt</a:t>
            </a:r>
            <a:r>
              <a:rPr lang="fi-FI" dirty="0"/>
              <a:t>(arvo -&gt; toinen)</a:t>
            </a:r>
          </a:p>
          <a:p>
            <a:pPr lvl="1"/>
            <a:r>
              <a:rPr lang="fi-FI" dirty="0"/>
              <a:t>Virta muuntuu kokonaislukuja sisältäväksi virraksi. Merkkijonoja sisältävä muunnos voidaan tehdä esimerkiksi </a:t>
            </a:r>
            <a:r>
              <a:rPr lang="fi-FI" dirty="0" err="1"/>
              <a:t>Integer</a:t>
            </a:r>
            <a:r>
              <a:rPr lang="fi-FI" dirty="0"/>
              <a:t>-luokan </a:t>
            </a:r>
            <a:r>
              <a:rPr lang="fi-FI" dirty="0" err="1"/>
              <a:t>valueOf</a:t>
            </a:r>
            <a:r>
              <a:rPr lang="fi-FI" dirty="0"/>
              <a:t>-metodin avulla. Kokonaislukuja sisältävälle virralle tehdään jotain.</a:t>
            </a:r>
          </a:p>
          <a:p>
            <a:r>
              <a:rPr lang="fi-FI" dirty="0"/>
              <a:t>Arvojen rajaaminen: </a:t>
            </a:r>
            <a:r>
              <a:rPr lang="fi-FI" dirty="0" err="1"/>
              <a:t>filter</a:t>
            </a:r>
            <a:r>
              <a:rPr lang="fi-FI" dirty="0"/>
              <a:t>(arvo -&gt; </a:t>
            </a:r>
            <a:r>
              <a:rPr lang="fi-FI" dirty="0" err="1"/>
              <a:t>hyvaksymisehto</a:t>
            </a:r>
            <a:r>
              <a:rPr lang="fi-FI" dirty="0"/>
              <a:t>)</a:t>
            </a:r>
          </a:p>
          <a:p>
            <a:pPr lvl="1"/>
            <a:r>
              <a:rPr lang="fi-FI" dirty="0"/>
              <a:t>Virrasta rajataan pois ne arvot, jotka eivät täytä hyväksymisehtoa. "Nuolen" oikealla puolella on lauseke, joka kertoo otetaanko arvo virtaan. Suodatetuille arvoille tehdään jotain.</a:t>
            </a:r>
          </a:p>
          <a:p>
            <a:r>
              <a:rPr lang="fi-FI" b="0" i="0" dirty="0">
                <a:effectLst/>
                <a:latin typeface="Roboto" panose="02000000000000000000" pitchFamily="2" charset="0"/>
              </a:rPr>
              <a:t>Keskiarvon laskeminen: </a:t>
            </a:r>
            <a:r>
              <a:rPr lang="fi-FI" b="0" i="0" dirty="0" err="1">
                <a:effectLst/>
                <a:latin typeface="Roboto" panose="02000000000000000000" pitchFamily="2" charset="0"/>
              </a:rPr>
              <a:t>average</a:t>
            </a:r>
            <a:r>
              <a:rPr lang="fi-FI" b="0" i="0" dirty="0">
                <a:effectLst/>
                <a:latin typeface="Roboto" panose="02000000000000000000" pitchFamily="2" charset="0"/>
              </a:rPr>
              <a:t>()</a:t>
            </a:r>
          </a:p>
          <a:p>
            <a:pPr lvl="1"/>
            <a:r>
              <a:rPr lang="fi-FI" b="0" i="0" dirty="0" err="1">
                <a:effectLst/>
                <a:latin typeface="Roboto" panose="02000000000000000000" pitchFamily="2" charset="0"/>
              </a:rPr>
              <a:t>Huom</a:t>
            </a:r>
            <a:r>
              <a:rPr lang="fi-FI" b="0" i="0" dirty="0">
                <a:effectLst/>
                <a:latin typeface="Roboto" panose="02000000000000000000" pitchFamily="2" charset="0"/>
              </a:rPr>
              <a:t>: </a:t>
            </a:r>
            <a:r>
              <a:rPr lang="fi-FI" b="0" i="0" dirty="0" err="1">
                <a:effectLst/>
                <a:latin typeface="Roboto" panose="02000000000000000000" pitchFamily="2" charset="0"/>
              </a:rPr>
              <a:t>getAsDouble</a:t>
            </a:r>
            <a:r>
              <a:rPr lang="fi-FI" b="0" i="0" dirty="0">
                <a:effectLst/>
                <a:latin typeface="Roboto" panose="02000000000000000000" pitchFamily="2" charset="0"/>
              </a:rPr>
              <a:t>()-metodin kutsu lisäksi</a:t>
            </a:r>
          </a:p>
          <a:p>
            <a:r>
              <a:rPr lang="fi-FI" b="0" i="0" dirty="0">
                <a:effectLst/>
                <a:latin typeface="Roboto" panose="02000000000000000000" pitchFamily="2" charset="0"/>
              </a:rPr>
              <a:t>Virrassa olevien alkioiden </a:t>
            </a:r>
            <a:r>
              <a:rPr lang="fi-FI" b="0" i="0" dirty="0" err="1">
                <a:effectLst/>
                <a:latin typeface="Roboto" panose="02000000000000000000" pitchFamily="2" charset="0"/>
              </a:rPr>
              <a:t>lukumaara</a:t>
            </a:r>
            <a:r>
              <a:rPr lang="fi-FI" b="0" i="0" dirty="0">
                <a:effectLst/>
                <a:latin typeface="Roboto" panose="02000000000000000000" pitchFamily="2" charset="0"/>
              </a:rPr>
              <a:t>: </a:t>
            </a:r>
            <a:r>
              <a:rPr lang="fi-FI" b="0" i="0" dirty="0" err="1">
                <a:effectLst/>
                <a:latin typeface="Roboto" panose="02000000000000000000" pitchFamily="2" charset="0"/>
              </a:rPr>
              <a:t>count</a:t>
            </a:r>
            <a:r>
              <a:rPr lang="fi-FI" b="0" i="0" dirty="0">
                <a:effectLst/>
                <a:latin typeface="Roboto" panose="02000000000000000000" pitchFamily="2" charset="0"/>
              </a:rPr>
              <a:t>()</a:t>
            </a:r>
          </a:p>
          <a:p>
            <a:pPr lvl="1"/>
            <a:endParaRPr lang="fi-FI" dirty="0"/>
          </a:p>
        </p:txBody>
      </p:sp>
    </p:spTree>
    <p:extLst>
      <p:ext uri="{BB962C8B-B14F-4D97-AF65-F5344CB8AC3E}">
        <p14:creationId xmlns:p14="http://schemas.microsoft.com/office/powerpoint/2010/main" val="64674725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E7CFB-CB55-0D18-55CA-0BA99381FE49}"/>
              </a:ext>
            </a:extLst>
          </p:cNvPr>
          <p:cNvSpPr>
            <a:spLocks noGrp="1"/>
          </p:cNvSpPr>
          <p:nvPr>
            <p:ph type="title"/>
          </p:nvPr>
        </p:nvSpPr>
        <p:spPr/>
        <p:txBody>
          <a:bodyPr/>
          <a:lstStyle/>
          <a:p>
            <a:r>
              <a:rPr lang="fi-FI" dirty="0"/>
              <a:t>Lambda-lauseke</a:t>
            </a:r>
          </a:p>
        </p:txBody>
      </p:sp>
      <p:sp>
        <p:nvSpPr>
          <p:cNvPr id="3" name="Content Placeholder 2">
            <a:extLst>
              <a:ext uri="{FF2B5EF4-FFF2-40B4-BE49-F238E27FC236}">
                <a16:creationId xmlns:a16="http://schemas.microsoft.com/office/drawing/2014/main" id="{ACD2116E-4967-C231-02A7-76E05BE1DF71}"/>
              </a:ext>
            </a:extLst>
          </p:cNvPr>
          <p:cNvSpPr>
            <a:spLocks noGrp="1"/>
          </p:cNvSpPr>
          <p:nvPr>
            <p:ph idx="1"/>
          </p:nvPr>
        </p:nvSpPr>
        <p:spPr/>
        <p:txBody>
          <a:bodyPr/>
          <a:lstStyle/>
          <a:p>
            <a:r>
              <a:rPr lang="fi-FI" dirty="0"/>
              <a:t>Virran arvoja käsitellään virtaan liittyvillä metodeilla. Monet metodit saavat parametrinaan funktion, joka kertoo mitä kullekin arvolle tulee tehdä.</a:t>
            </a:r>
          </a:p>
          <a:p>
            <a:r>
              <a:rPr lang="fi-FI" dirty="0"/>
              <a:t>Funktion toiminta riippuu metodista:</a:t>
            </a:r>
          </a:p>
          <a:p>
            <a:pPr lvl="1"/>
            <a:r>
              <a:rPr lang="fi-FI" dirty="0" err="1"/>
              <a:t>filter</a:t>
            </a:r>
            <a:r>
              <a:rPr lang="fi-FI" dirty="0"/>
              <a:t>-metodille annetaan funktio, joka palauttaa totuusarvoisen muuttujan, joka kertoo, halutaanko arvo säilyttää virrassa</a:t>
            </a:r>
          </a:p>
          <a:p>
            <a:pPr lvl="1"/>
            <a:r>
              <a:rPr lang="fi-FI" dirty="0" err="1"/>
              <a:t>mapToInt</a:t>
            </a:r>
            <a:r>
              <a:rPr lang="fi-FI" dirty="0"/>
              <a:t>-metodille annetaan funktio, joka muuntaa arvon kokonaisluvuksi</a:t>
            </a:r>
          </a:p>
          <a:p>
            <a:pPr lvl="1"/>
            <a:r>
              <a:rPr lang="fi-FI" dirty="0" err="1"/>
              <a:t>forEach</a:t>
            </a:r>
            <a:r>
              <a:rPr lang="fi-FI" dirty="0"/>
              <a:t>-metodin tapauksessa funktio kertoo, mitä kullekin listan arvolle tulee tehdä</a:t>
            </a:r>
          </a:p>
          <a:p>
            <a:pPr lvl="1"/>
            <a:r>
              <a:rPr lang="fi-FI" dirty="0" err="1"/>
              <a:t>map</a:t>
            </a:r>
            <a:r>
              <a:rPr lang="fi-FI" dirty="0"/>
              <a:t>-metodille annetaan funktio, joka muuntaa virrassa olevia arvoja muodosta toiseen</a:t>
            </a:r>
          </a:p>
        </p:txBody>
      </p:sp>
    </p:spTree>
    <p:extLst>
      <p:ext uri="{BB962C8B-B14F-4D97-AF65-F5344CB8AC3E}">
        <p14:creationId xmlns:p14="http://schemas.microsoft.com/office/powerpoint/2010/main" val="40286558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FE67C-1BEA-8C12-2CB2-A6A96E45D374}"/>
              </a:ext>
            </a:extLst>
          </p:cNvPr>
          <p:cNvSpPr>
            <a:spLocks noGrp="1"/>
          </p:cNvSpPr>
          <p:nvPr>
            <p:ph type="title"/>
          </p:nvPr>
        </p:nvSpPr>
        <p:spPr/>
        <p:txBody>
          <a:bodyPr/>
          <a:lstStyle/>
          <a:p>
            <a:r>
              <a:rPr lang="fi-FI" dirty="0"/>
              <a:t>Lambda-lauseke</a:t>
            </a:r>
          </a:p>
        </p:txBody>
      </p:sp>
      <p:sp>
        <p:nvSpPr>
          <p:cNvPr id="3" name="Content Placeholder 2">
            <a:extLst>
              <a:ext uri="{FF2B5EF4-FFF2-40B4-BE49-F238E27FC236}">
                <a16:creationId xmlns:a16="http://schemas.microsoft.com/office/drawing/2014/main" id="{4AC72930-E0B9-6D43-D0D0-5199DF22A774}"/>
              </a:ext>
            </a:extLst>
          </p:cNvPr>
          <p:cNvSpPr>
            <a:spLocks noGrp="1"/>
          </p:cNvSpPr>
          <p:nvPr>
            <p:ph idx="1"/>
          </p:nvPr>
        </p:nvSpPr>
        <p:spPr>
          <a:xfrm>
            <a:off x="838201" y="1825625"/>
            <a:ext cx="5257800" cy="4351338"/>
          </a:xfrm>
        </p:spPr>
        <p:txBody>
          <a:bodyPr/>
          <a:lstStyle/>
          <a:p>
            <a:r>
              <a:rPr lang="fi-FI" dirty="0"/>
              <a:t>Ohessa esimerkkejä lambda-lausekkeen käytöstä.</a:t>
            </a:r>
          </a:p>
          <a:p>
            <a:r>
              <a:rPr lang="fi-FI" dirty="0"/>
              <a:t>Lambda-lauseketta käsiteltiin olioiden järjestämisen yhteydessä</a:t>
            </a:r>
          </a:p>
          <a:p>
            <a:r>
              <a:rPr lang="fi-FI" dirty="0"/>
              <a:t>parametri -&gt; lauseke</a:t>
            </a:r>
          </a:p>
          <a:p>
            <a:r>
              <a:rPr lang="fi-FI" dirty="0"/>
              <a:t>i -&gt; </a:t>
            </a:r>
            <a:r>
              <a:rPr lang="fi-FI" dirty="0" err="1"/>
              <a:t>System.out.println</a:t>
            </a:r>
            <a:r>
              <a:rPr lang="fi-FI" dirty="0"/>
              <a:t>(i)</a:t>
            </a:r>
          </a:p>
        </p:txBody>
      </p:sp>
      <p:sp>
        <p:nvSpPr>
          <p:cNvPr id="5" name="TextBox 4">
            <a:extLst>
              <a:ext uri="{FF2B5EF4-FFF2-40B4-BE49-F238E27FC236}">
                <a16:creationId xmlns:a16="http://schemas.microsoft.com/office/drawing/2014/main" id="{3A275F43-A3D0-FB61-AAA3-1E88F43FFD73}"/>
              </a:ext>
            </a:extLst>
          </p:cNvPr>
          <p:cNvSpPr txBox="1"/>
          <p:nvPr/>
        </p:nvSpPr>
        <p:spPr>
          <a:xfrm>
            <a:off x="6173744" y="1942080"/>
            <a:ext cx="6094970" cy="2031325"/>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Integer</a:t>
            </a:r>
            <a:r>
              <a:rPr lang="fi-FI" sz="1400" b="0" dirty="0">
                <a:solidFill>
                  <a:srgbClr val="000000"/>
                </a:solidFill>
                <a:effectLst/>
                <a:latin typeface="Consolas" panose="020B0609020204030204" pitchFamily="49" charset="0"/>
              </a:rPr>
              <a:t>&gt; luvut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r>
              <a:rPr lang="fi-FI" sz="1400" b="0" dirty="0">
                <a:solidFill>
                  <a:srgbClr val="000000"/>
                </a:solidFill>
                <a:effectLst/>
                <a:latin typeface="Consolas" panose="020B0609020204030204" pitchFamily="49" charset="0"/>
              </a:rPr>
              <a:t>        </a:t>
            </a:r>
            <a:r>
              <a:rPr lang="fi-FI" sz="1400" b="0" dirty="0">
                <a:solidFill>
                  <a:srgbClr val="0000FF"/>
                </a:solidFill>
                <a:effectLst/>
                <a:latin typeface="Consolas" panose="020B0609020204030204" pitchFamily="49" charset="0"/>
              </a:rPr>
              <a:t>for</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int</a:t>
            </a:r>
            <a:r>
              <a:rPr lang="fi-FI" sz="1400" b="0" dirty="0">
                <a:solidFill>
                  <a:srgbClr val="000000"/>
                </a:solidFill>
                <a:effectLst/>
                <a:latin typeface="Consolas" panose="020B0609020204030204" pitchFamily="49" charset="0"/>
              </a:rPr>
              <a:t> i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 i &lt; </a:t>
            </a:r>
            <a:r>
              <a:rPr lang="fi-FI" sz="1400" b="0" dirty="0">
                <a:solidFill>
                  <a:srgbClr val="098658"/>
                </a:solidFill>
                <a:effectLst/>
                <a:latin typeface="Consolas" panose="020B0609020204030204" pitchFamily="49" charset="0"/>
              </a:rPr>
              <a:t>100</a:t>
            </a:r>
            <a:r>
              <a:rPr lang="fi-FI" sz="1400" b="0" dirty="0">
                <a:solidFill>
                  <a:srgbClr val="000000"/>
                </a:solidFill>
                <a:effectLst/>
                <a:latin typeface="Consolas" panose="020B0609020204030204" pitchFamily="49" charset="0"/>
              </a:rPr>
              <a:t>; i++)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luvut.add</a:t>
            </a:r>
            <a:r>
              <a:rPr lang="fi-FI" sz="1400" b="0" dirty="0">
                <a:solidFill>
                  <a:srgbClr val="000000"/>
                </a:solidFill>
                <a:effectLst/>
                <a:latin typeface="Consolas" panose="020B0609020204030204" pitchFamily="49" charset="0"/>
              </a:rPr>
              <a:t>(i);</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tulosta parilliset luvut</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luvut.stream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filter</a:t>
            </a:r>
            <a:r>
              <a:rPr lang="fi-FI" sz="1400" b="0" dirty="0">
                <a:solidFill>
                  <a:srgbClr val="000000"/>
                </a:solidFill>
                <a:effectLst/>
                <a:latin typeface="Consolas" panose="020B0609020204030204" pitchFamily="49" charset="0"/>
              </a:rPr>
              <a:t>(i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i % </a:t>
            </a:r>
            <a:r>
              <a:rPr lang="fi-FI" sz="1400" b="0" dirty="0">
                <a:solidFill>
                  <a:srgbClr val="098658"/>
                </a:solidFill>
                <a:effectLst/>
                <a:latin typeface="Consolas" panose="020B0609020204030204" pitchFamily="49" charset="0"/>
              </a:rPr>
              <a:t>2</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(i));</a:t>
            </a:r>
          </a:p>
        </p:txBody>
      </p:sp>
    </p:spTree>
    <p:extLst>
      <p:ext uri="{BB962C8B-B14F-4D97-AF65-F5344CB8AC3E}">
        <p14:creationId xmlns:p14="http://schemas.microsoft.com/office/powerpoint/2010/main" val="107303374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B9D0-C66B-BB0C-67F1-2D265465D6CB}"/>
              </a:ext>
            </a:extLst>
          </p:cNvPr>
          <p:cNvSpPr>
            <a:spLocks noGrp="1"/>
          </p:cNvSpPr>
          <p:nvPr>
            <p:ph type="title"/>
          </p:nvPr>
        </p:nvSpPr>
        <p:spPr/>
        <p:txBody>
          <a:bodyPr/>
          <a:lstStyle/>
          <a:p>
            <a:r>
              <a:rPr lang="fi-FI" dirty="0"/>
              <a:t>Uuden kokoelman luominen - </a:t>
            </a:r>
            <a:r>
              <a:rPr lang="fi-FI" dirty="0" err="1"/>
              <a:t>collect</a:t>
            </a:r>
            <a:endParaRPr lang="fi-FI" dirty="0"/>
          </a:p>
        </p:txBody>
      </p:sp>
      <p:sp>
        <p:nvSpPr>
          <p:cNvPr id="3" name="Content Placeholder 2">
            <a:extLst>
              <a:ext uri="{FF2B5EF4-FFF2-40B4-BE49-F238E27FC236}">
                <a16:creationId xmlns:a16="http://schemas.microsoft.com/office/drawing/2014/main" id="{7C76F5E5-8F47-3B47-107F-4167EBE1C00A}"/>
              </a:ext>
            </a:extLst>
          </p:cNvPr>
          <p:cNvSpPr>
            <a:spLocks noGrp="1"/>
          </p:cNvSpPr>
          <p:nvPr>
            <p:ph idx="1"/>
          </p:nvPr>
        </p:nvSpPr>
        <p:spPr>
          <a:xfrm>
            <a:off x="838200" y="1825625"/>
            <a:ext cx="4740876" cy="4351338"/>
          </a:xfrm>
        </p:spPr>
        <p:txBody>
          <a:bodyPr/>
          <a:lstStyle/>
          <a:p>
            <a:r>
              <a:rPr lang="fi-FI" dirty="0"/>
              <a:t>Uusi kokoelma luodaan </a:t>
            </a:r>
            <a:r>
              <a:rPr lang="fi-FI" dirty="0" err="1"/>
              <a:t>collect</a:t>
            </a:r>
            <a:r>
              <a:rPr lang="fi-FI" dirty="0"/>
              <a:t>-metodilla ja käyttäen </a:t>
            </a:r>
            <a:r>
              <a:rPr lang="fi-FI" dirty="0" err="1"/>
              <a:t>Collectors.toCollection</a:t>
            </a:r>
            <a:r>
              <a:rPr lang="fi-FI" dirty="0"/>
              <a:t>-metodia</a:t>
            </a:r>
          </a:p>
          <a:p>
            <a:r>
              <a:rPr lang="fi-FI" dirty="0"/>
              <a:t>Huomaa myös </a:t>
            </a:r>
            <a:r>
              <a:rPr lang="fi-FI" dirty="0" err="1"/>
              <a:t>map</a:t>
            </a:r>
            <a:r>
              <a:rPr lang="fi-FI" dirty="0"/>
              <a:t>-metodin käyttö</a:t>
            </a:r>
          </a:p>
        </p:txBody>
      </p:sp>
      <p:sp>
        <p:nvSpPr>
          <p:cNvPr id="5" name="TextBox 4">
            <a:extLst>
              <a:ext uri="{FF2B5EF4-FFF2-40B4-BE49-F238E27FC236}">
                <a16:creationId xmlns:a16="http://schemas.microsoft.com/office/drawing/2014/main" id="{2596E97A-0BCC-3851-19B8-8ECC2ECF4264}"/>
              </a:ext>
            </a:extLst>
          </p:cNvPr>
          <p:cNvSpPr txBox="1"/>
          <p:nvPr/>
        </p:nvSpPr>
        <p:spPr>
          <a:xfrm>
            <a:off x="5221759" y="2027174"/>
            <a:ext cx="6970241" cy="3539430"/>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tehdään uusi </a:t>
            </a:r>
            <a:r>
              <a:rPr lang="fi-FI" sz="1400" b="0" dirty="0" err="1">
                <a:solidFill>
                  <a:srgbClr val="008000"/>
                </a:solidFill>
                <a:effectLst/>
                <a:latin typeface="Consolas" panose="020B0609020204030204" pitchFamily="49" charset="0"/>
              </a:rPr>
              <a:t>ArrayList</a:t>
            </a:r>
            <a:r>
              <a:rPr lang="fi-FI" sz="1400" b="0" dirty="0">
                <a:solidFill>
                  <a:srgbClr val="008000"/>
                </a:solidFill>
                <a:effectLst/>
                <a:latin typeface="Consolas" panose="020B0609020204030204" pitchFamily="49" charset="0"/>
              </a:rPr>
              <a:t> parillista luvuista</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Integer</a:t>
            </a:r>
            <a:r>
              <a:rPr lang="fi-FI" sz="1400" b="0" dirty="0">
                <a:solidFill>
                  <a:srgbClr val="000000"/>
                </a:solidFill>
                <a:effectLst/>
                <a:latin typeface="Consolas" panose="020B0609020204030204" pitchFamily="49" charset="0"/>
              </a:rPr>
              <a:t>&gt; parilliset = </a:t>
            </a:r>
            <a:r>
              <a:rPr lang="fi-FI" sz="1400" b="0" dirty="0" err="1">
                <a:solidFill>
                  <a:srgbClr val="000000"/>
                </a:solidFill>
                <a:effectLst/>
                <a:latin typeface="Consolas" panose="020B0609020204030204" pitchFamily="49" charset="0"/>
              </a:rPr>
              <a:t>luvut.stream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filter</a:t>
            </a:r>
            <a:r>
              <a:rPr lang="fi-FI" sz="1400" b="0" dirty="0">
                <a:solidFill>
                  <a:srgbClr val="000000"/>
                </a:solidFill>
                <a:effectLst/>
                <a:latin typeface="Consolas" panose="020B0609020204030204" pitchFamily="49" charset="0"/>
              </a:rPr>
              <a:t>(i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i % </a:t>
            </a:r>
            <a:r>
              <a:rPr lang="fi-FI" sz="1400" b="0" dirty="0">
                <a:solidFill>
                  <a:srgbClr val="098658"/>
                </a:solidFill>
                <a:effectLst/>
                <a:latin typeface="Consolas" panose="020B0609020204030204" pitchFamily="49" charset="0"/>
              </a:rPr>
              <a:t>2</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collect</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Collectors.toCollection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ArrayList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parilliset.stream</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(s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(s));</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Tehdään uusi lista kymmenellä jaollisista luvuista</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niin, että kukin alkio on muotoa "&lt;li&gt;i&lt;/li&gt;"</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&gt; </a:t>
            </a:r>
            <a:r>
              <a:rPr lang="fi-FI" sz="1400" b="0" dirty="0" err="1">
                <a:solidFill>
                  <a:srgbClr val="000000"/>
                </a:solidFill>
                <a:effectLst/>
                <a:latin typeface="Consolas" panose="020B0609020204030204" pitchFamily="49" charset="0"/>
              </a:rPr>
              <a:t>listItems</a:t>
            </a:r>
            <a:r>
              <a:rPr lang="fi-FI" sz="1400" b="0" dirty="0">
                <a:solidFill>
                  <a:srgbClr val="000000"/>
                </a:solidFill>
                <a:effectLst/>
                <a:latin typeface="Consolas" panose="020B0609020204030204" pitchFamily="49" charset="0"/>
              </a:rPr>
              <a:t> = </a:t>
            </a:r>
            <a:r>
              <a:rPr lang="fi-FI" sz="1400" b="0" dirty="0" err="1">
                <a:solidFill>
                  <a:srgbClr val="000000"/>
                </a:solidFill>
                <a:effectLst/>
                <a:latin typeface="Consolas" panose="020B0609020204030204" pitchFamily="49" charset="0"/>
              </a:rPr>
              <a:t>luvut.stream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filter</a:t>
            </a:r>
            <a:r>
              <a:rPr lang="fi-FI" sz="1400" b="0" dirty="0">
                <a:solidFill>
                  <a:srgbClr val="000000"/>
                </a:solidFill>
                <a:effectLst/>
                <a:latin typeface="Consolas" panose="020B0609020204030204" pitchFamily="49" charset="0"/>
              </a:rPr>
              <a:t>(i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i % </a:t>
            </a:r>
            <a:r>
              <a:rPr lang="fi-FI" sz="1400" b="0" dirty="0">
                <a:solidFill>
                  <a:srgbClr val="098658"/>
                </a:solidFill>
                <a:effectLst/>
                <a:latin typeface="Consolas" panose="020B0609020204030204" pitchFamily="49" charset="0"/>
              </a:rPr>
              <a:t>10</a:t>
            </a:r>
            <a:r>
              <a:rPr lang="fi-FI" sz="1400" b="0" dirty="0">
                <a:solidFill>
                  <a:srgbClr val="000000"/>
                </a:solidFill>
                <a:effectLst/>
                <a:latin typeface="Consolas" panose="020B0609020204030204" pitchFamily="49" charset="0"/>
              </a:rPr>
              <a:t> == </a:t>
            </a:r>
            <a:r>
              <a:rPr lang="fi-FI" sz="1400" b="0" dirty="0">
                <a:solidFill>
                  <a:srgbClr val="098658"/>
                </a:solidFill>
                <a:effectLst/>
                <a:latin typeface="Consolas" panose="020B0609020204030204" pitchFamily="49" charset="0"/>
              </a:rPr>
              <a:t>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map</a:t>
            </a:r>
            <a:r>
              <a:rPr lang="fi-FI" sz="1400" b="0" dirty="0">
                <a:solidFill>
                  <a:srgbClr val="000000"/>
                </a:solidFill>
                <a:effectLst/>
                <a:latin typeface="Consolas" panose="020B0609020204030204" pitchFamily="49" charset="0"/>
              </a:rPr>
              <a:t>(i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a:solidFill>
                  <a:srgbClr val="A31515"/>
                </a:solidFill>
                <a:effectLst/>
                <a:latin typeface="Consolas" panose="020B0609020204030204" pitchFamily="49" charset="0"/>
              </a:rPr>
              <a:t>"&lt;li&gt;"</a:t>
            </a:r>
            <a:r>
              <a:rPr lang="fi-FI" sz="1400" b="0" dirty="0">
                <a:solidFill>
                  <a:srgbClr val="000000"/>
                </a:solidFill>
                <a:effectLst/>
                <a:latin typeface="Consolas" panose="020B0609020204030204" pitchFamily="49" charset="0"/>
              </a:rPr>
              <a:t> + i + </a:t>
            </a:r>
            <a:r>
              <a:rPr lang="fi-FI" sz="1400" b="0" dirty="0">
                <a:solidFill>
                  <a:srgbClr val="A31515"/>
                </a:solidFill>
                <a:effectLst/>
                <a:latin typeface="Consolas" panose="020B0609020204030204" pitchFamily="49" charset="0"/>
              </a:rPr>
              <a:t>"&lt;/li&gt;"</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collect</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Collectors.toCollection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ArrayList</a:t>
            </a:r>
            <a:r>
              <a:rPr lang="fi-FI" sz="1400" b="0" dirty="0">
                <a:solidFill>
                  <a:srgbClr val="0000FF"/>
                </a:solidFill>
                <a:effectLst/>
                <a:latin typeface="Consolas" panose="020B0609020204030204" pitchFamily="49" charset="0"/>
              </a:rPr>
              <a:t>::</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tulostetaan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listItems.stream</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(s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(s));</a:t>
            </a:r>
          </a:p>
        </p:txBody>
      </p:sp>
    </p:spTree>
    <p:extLst>
      <p:ext uri="{BB962C8B-B14F-4D97-AF65-F5344CB8AC3E}">
        <p14:creationId xmlns:p14="http://schemas.microsoft.com/office/powerpoint/2010/main" val="280731091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9799-46A6-5032-FDD0-5E1FFECDBEC3}"/>
              </a:ext>
            </a:extLst>
          </p:cNvPr>
          <p:cNvSpPr>
            <a:spLocks noGrp="1"/>
          </p:cNvSpPr>
          <p:nvPr>
            <p:ph type="title"/>
          </p:nvPr>
        </p:nvSpPr>
        <p:spPr/>
        <p:txBody>
          <a:bodyPr/>
          <a:lstStyle/>
          <a:p>
            <a:r>
              <a:rPr lang="fi-FI" dirty="0"/>
              <a:t>Välioperaatiot ja pääteoperaatiot</a:t>
            </a:r>
          </a:p>
        </p:txBody>
      </p:sp>
      <p:sp>
        <p:nvSpPr>
          <p:cNvPr id="3" name="Content Placeholder 2">
            <a:extLst>
              <a:ext uri="{FF2B5EF4-FFF2-40B4-BE49-F238E27FC236}">
                <a16:creationId xmlns:a16="http://schemas.microsoft.com/office/drawing/2014/main" id="{A188D98C-A6DA-0E76-59C7-1615E5DF0C9F}"/>
              </a:ext>
            </a:extLst>
          </p:cNvPr>
          <p:cNvSpPr>
            <a:spLocks noGrp="1"/>
          </p:cNvSpPr>
          <p:nvPr>
            <p:ph idx="1"/>
          </p:nvPr>
        </p:nvSpPr>
        <p:spPr/>
        <p:txBody>
          <a:bodyPr/>
          <a:lstStyle/>
          <a:p>
            <a:r>
              <a:rPr lang="fi-FI" dirty="0">
                <a:solidFill>
                  <a:srgbClr val="333333"/>
                </a:solidFill>
                <a:latin typeface="Open Sans" panose="020B0606030504020204" pitchFamily="34" charset="0"/>
              </a:rPr>
              <a:t>V</a:t>
            </a:r>
            <a:r>
              <a:rPr lang="fi-FI" b="0" i="0" dirty="0">
                <a:solidFill>
                  <a:srgbClr val="333333"/>
                </a:solidFill>
                <a:effectLst/>
                <a:latin typeface="Open Sans" panose="020B0606030504020204" pitchFamily="34" charset="0"/>
              </a:rPr>
              <a:t>älioperaatiot käsittelevät virran arvoja</a:t>
            </a:r>
          </a:p>
          <a:p>
            <a:pPr lvl="1"/>
            <a:r>
              <a:rPr lang="fi-FI" b="0" i="0" dirty="0">
                <a:solidFill>
                  <a:srgbClr val="333333"/>
                </a:solidFill>
                <a:effectLst/>
                <a:latin typeface="Open Sans" panose="020B0606030504020204" pitchFamily="34" charset="0"/>
              </a:rPr>
              <a:t>Välioperaatiot palauttavat arvonaan virran, jonka käsittelyä voi jatkaa</a:t>
            </a:r>
            <a:r>
              <a:rPr lang="fi-FI" dirty="0">
                <a:solidFill>
                  <a:srgbClr val="333333"/>
                </a:solidFill>
                <a:latin typeface="Open Sans" panose="020B0606030504020204" pitchFamily="34" charset="0"/>
              </a:rPr>
              <a:t>. </a:t>
            </a:r>
          </a:p>
          <a:p>
            <a:pPr lvl="1"/>
            <a:r>
              <a:rPr lang="fi-FI" dirty="0">
                <a:solidFill>
                  <a:srgbClr val="333333"/>
                </a:solidFill>
                <a:latin typeface="Open Sans" panose="020B0606030504020204" pitchFamily="34" charset="0"/>
              </a:rPr>
              <a:t>Välioperaatioita voi olla useita ketjutettuna peräkkäin</a:t>
            </a:r>
          </a:p>
          <a:p>
            <a:pPr lvl="1"/>
            <a:r>
              <a:rPr lang="fi-FI" b="0" i="0" dirty="0">
                <a:solidFill>
                  <a:srgbClr val="333333"/>
                </a:solidFill>
                <a:effectLst/>
                <a:latin typeface="Open Sans" panose="020B0606030504020204" pitchFamily="34" charset="0"/>
              </a:rPr>
              <a:t>Esimerkkejä</a:t>
            </a:r>
          </a:p>
          <a:p>
            <a:pPr lvl="2"/>
            <a:r>
              <a:rPr lang="fi-FI" dirty="0" err="1">
                <a:solidFill>
                  <a:srgbClr val="333333"/>
                </a:solidFill>
                <a:latin typeface="Open Sans" panose="020B0606030504020204" pitchFamily="34" charset="0"/>
              </a:rPr>
              <a:t>filter</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map</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mapToInt</a:t>
            </a:r>
            <a:endParaRPr lang="fi-FI" b="0" i="0" dirty="0">
              <a:solidFill>
                <a:srgbClr val="333333"/>
              </a:solidFill>
              <a:effectLst/>
              <a:latin typeface="Open Sans" panose="020B0606030504020204" pitchFamily="34" charset="0"/>
            </a:endParaRPr>
          </a:p>
          <a:p>
            <a:r>
              <a:rPr lang="fi-FI" b="0" i="0" dirty="0">
                <a:solidFill>
                  <a:srgbClr val="333333"/>
                </a:solidFill>
                <a:effectLst/>
                <a:latin typeface="Open Sans" panose="020B0606030504020204" pitchFamily="34" charset="0"/>
              </a:rPr>
              <a:t>Pääteoperaatiot lopettavat käsittelyn</a:t>
            </a:r>
          </a:p>
          <a:p>
            <a:pPr lvl="1"/>
            <a:r>
              <a:rPr lang="fi-FI" dirty="0">
                <a:solidFill>
                  <a:srgbClr val="333333"/>
                </a:solidFill>
                <a:latin typeface="Open Sans" panose="020B0606030504020204" pitchFamily="34" charset="0"/>
              </a:rPr>
              <a:t>Esimerkkejä</a:t>
            </a:r>
          </a:p>
          <a:p>
            <a:pPr lvl="2"/>
            <a:r>
              <a:rPr lang="fi-FI" dirty="0" err="1">
                <a:solidFill>
                  <a:srgbClr val="333333"/>
                </a:solidFill>
                <a:latin typeface="Open Sans" panose="020B0606030504020204" pitchFamily="34" charset="0"/>
              </a:rPr>
              <a:t>forEach</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average</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count</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collect</a:t>
            </a:r>
            <a:r>
              <a:rPr lang="fi-FI" dirty="0">
                <a:solidFill>
                  <a:srgbClr val="333333"/>
                </a:solidFill>
                <a:latin typeface="Open Sans" panose="020B0606030504020204" pitchFamily="34" charset="0"/>
              </a:rPr>
              <a:t>, </a:t>
            </a:r>
            <a:r>
              <a:rPr lang="fi-FI" dirty="0" err="1">
                <a:solidFill>
                  <a:srgbClr val="333333"/>
                </a:solidFill>
                <a:latin typeface="Open Sans" panose="020B0606030504020204" pitchFamily="34" charset="0"/>
              </a:rPr>
              <a:t>reduce</a:t>
            </a:r>
            <a:endParaRPr lang="fi-FI" dirty="0"/>
          </a:p>
        </p:txBody>
      </p:sp>
    </p:spTree>
    <p:extLst>
      <p:ext uri="{BB962C8B-B14F-4D97-AF65-F5344CB8AC3E}">
        <p14:creationId xmlns:p14="http://schemas.microsoft.com/office/powerpoint/2010/main" val="227547276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51F-7ACA-818F-4B06-3910AA0035E1}"/>
              </a:ext>
            </a:extLst>
          </p:cNvPr>
          <p:cNvSpPr>
            <a:spLocks noGrp="1"/>
          </p:cNvSpPr>
          <p:nvPr>
            <p:ph type="title"/>
          </p:nvPr>
        </p:nvSpPr>
        <p:spPr/>
        <p:txBody>
          <a:bodyPr/>
          <a:lstStyle/>
          <a:p>
            <a:r>
              <a:rPr lang="fi-FI" dirty="0"/>
              <a:t>Oliot ja virta</a:t>
            </a:r>
          </a:p>
        </p:txBody>
      </p:sp>
      <p:sp>
        <p:nvSpPr>
          <p:cNvPr id="3" name="Content Placeholder 2">
            <a:extLst>
              <a:ext uri="{FF2B5EF4-FFF2-40B4-BE49-F238E27FC236}">
                <a16:creationId xmlns:a16="http://schemas.microsoft.com/office/drawing/2014/main" id="{59B16243-3372-8DDD-3D71-E9B38B211D34}"/>
              </a:ext>
            </a:extLst>
          </p:cNvPr>
          <p:cNvSpPr>
            <a:spLocks noGrp="1"/>
          </p:cNvSpPr>
          <p:nvPr>
            <p:ph idx="1"/>
          </p:nvPr>
        </p:nvSpPr>
        <p:spPr>
          <a:xfrm>
            <a:off x="838200" y="1825625"/>
            <a:ext cx="4116859" cy="4351338"/>
          </a:xfrm>
        </p:spPr>
        <p:txBody>
          <a:bodyPr>
            <a:normAutofit/>
          </a:bodyPr>
          <a:lstStyle/>
          <a:p>
            <a:r>
              <a:rPr lang="fi-FI" sz="2400" dirty="0"/>
              <a:t>Olioiden kokoelmia käsitellään usein virtojen avulla.</a:t>
            </a:r>
          </a:p>
          <a:p>
            <a:r>
              <a:rPr lang="fi-FI" sz="2400" dirty="0"/>
              <a:t>Kukin virran metodi, missä käsitellään virran arvoja, mahdollistaa myös arvoihin liittyvän metodin kutsumisen.</a:t>
            </a:r>
          </a:p>
          <a:p>
            <a:r>
              <a:rPr lang="fi-FI" sz="2400" dirty="0"/>
              <a:t>HUOM: </a:t>
            </a:r>
            <a:r>
              <a:rPr lang="fi-FI" sz="2400" dirty="0" err="1"/>
              <a:t>Streamien</a:t>
            </a:r>
            <a:r>
              <a:rPr lang="fi-FI" sz="2400" dirty="0"/>
              <a:t> avulla voi myös järjestää </a:t>
            </a:r>
          </a:p>
        </p:txBody>
      </p:sp>
      <p:sp>
        <p:nvSpPr>
          <p:cNvPr id="5" name="TextBox 4">
            <a:extLst>
              <a:ext uri="{FF2B5EF4-FFF2-40B4-BE49-F238E27FC236}">
                <a16:creationId xmlns:a16="http://schemas.microsoft.com/office/drawing/2014/main" id="{0BB57C40-CA5D-4177-6CE4-8547E3E9A6CE}"/>
              </a:ext>
            </a:extLst>
          </p:cNvPr>
          <p:cNvSpPr txBox="1"/>
          <p:nvPr/>
        </p:nvSpPr>
        <p:spPr>
          <a:xfrm>
            <a:off x="4122522" y="1192584"/>
            <a:ext cx="7869710" cy="2893100"/>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järjestetään kunkin maakunnan kunnat väkiluvun mukaan</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maakuntalista.stream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(m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m.jarjestaVakiluvunMukaan</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tulostetaan suuret maakunnat</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"maakunnat joissa on yli 300 000 asukasta:"</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maakuntalista.stream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filter</a:t>
            </a:r>
            <a:r>
              <a:rPr lang="fi-FI" sz="1400" b="0" dirty="0">
                <a:solidFill>
                  <a:srgbClr val="000000"/>
                </a:solidFill>
                <a:effectLst/>
                <a:latin typeface="Consolas" panose="020B0609020204030204" pitchFamily="49" charset="0"/>
              </a:rPr>
              <a:t>(m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m.getVakiluku</a:t>
            </a:r>
            <a:r>
              <a:rPr lang="fi-FI" sz="1400" b="0" dirty="0">
                <a:solidFill>
                  <a:srgbClr val="000000"/>
                </a:solidFill>
                <a:effectLst/>
                <a:latin typeface="Consolas" panose="020B0609020204030204" pitchFamily="49" charset="0"/>
              </a:rPr>
              <a:t>() &gt; </a:t>
            </a:r>
            <a:r>
              <a:rPr lang="fi-FI" sz="1400" b="0" dirty="0">
                <a:solidFill>
                  <a:srgbClr val="098658"/>
                </a:solidFill>
                <a:effectLst/>
                <a:latin typeface="Consolas" panose="020B0609020204030204" pitchFamily="49" charset="0"/>
              </a:rPr>
              <a:t>300000</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(s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s.getNimi</a:t>
            </a:r>
            <a:r>
              <a:rPr lang="fi-FI" sz="1400" b="0" dirty="0">
                <a:solidFill>
                  <a:srgbClr val="000000"/>
                </a:solidFill>
                <a:effectLst/>
                <a:latin typeface="Consolas" panose="020B0609020204030204" pitchFamily="49" charset="0"/>
              </a:rPr>
              <a:t>()));</a:t>
            </a:r>
          </a:p>
          <a:p>
            <a:br>
              <a:rPr lang="fi-FI" sz="1400" b="0" dirty="0">
                <a:solidFill>
                  <a:srgbClr val="000000"/>
                </a:solidFill>
                <a:effectLst/>
                <a:latin typeface="Consolas" panose="020B0609020204030204" pitchFamily="49" charset="0"/>
              </a:rPr>
            </a:br>
            <a:endParaRPr lang="fi-FI" sz="14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4B90561-514F-52E0-B938-2BCDEE64229C}"/>
              </a:ext>
            </a:extLst>
          </p:cNvPr>
          <p:cNvSpPr txBox="1"/>
          <p:nvPr/>
        </p:nvSpPr>
        <p:spPr>
          <a:xfrm>
            <a:off x="4189458" y="4806945"/>
            <a:ext cx="6094970" cy="954107"/>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järjestä</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Collections.sort</a:t>
            </a:r>
            <a:r>
              <a:rPr lang="fi-FI" sz="1400" b="0" dirty="0">
                <a:solidFill>
                  <a:srgbClr val="000000"/>
                </a:solidFill>
                <a:effectLst/>
                <a:latin typeface="Consolas" panose="020B0609020204030204" pitchFamily="49" charset="0"/>
              </a:rPr>
              <a:t>(kunnat, </a:t>
            </a:r>
            <a:r>
              <a:rPr lang="fi-FI" sz="1400" b="0" dirty="0" err="1">
                <a:solidFill>
                  <a:srgbClr val="000000"/>
                </a:solidFill>
                <a:effectLst/>
                <a:latin typeface="Consolas" panose="020B0609020204030204" pitchFamily="49" charset="0"/>
              </a:rPr>
              <a:t>vakiluvunMukaan</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a:solidFill>
                  <a:srgbClr val="008000"/>
                </a:solidFill>
                <a:effectLst/>
                <a:latin typeface="Consolas" panose="020B0609020204030204" pitchFamily="49" charset="0"/>
              </a:rPr>
              <a:t>// järjestä </a:t>
            </a:r>
            <a:r>
              <a:rPr lang="fi-FI" sz="1400" b="0" dirty="0" err="1">
                <a:solidFill>
                  <a:srgbClr val="008000"/>
                </a:solidFill>
                <a:effectLst/>
                <a:latin typeface="Consolas" panose="020B0609020204030204" pitchFamily="49" charset="0"/>
              </a:rPr>
              <a:t>streamien</a:t>
            </a:r>
            <a:r>
              <a:rPr lang="fi-FI" sz="1400" b="0" dirty="0">
                <a:solidFill>
                  <a:srgbClr val="008000"/>
                </a:solidFill>
                <a:effectLst/>
                <a:latin typeface="Consolas" panose="020B0609020204030204" pitchFamily="49" charset="0"/>
              </a:rPr>
              <a:t> avulla</a:t>
            </a:r>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kunnat.stream</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sorted</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vakiluvunMukaan</a:t>
            </a:r>
            <a:r>
              <a:rPr lang="fi-FI"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1287841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8BF02-EE4B-1AAB-3FBD-356A054A95F2}"/>
              </a:ext>
            </a:extLst>
          </p:cNvPr>
          <p:cNvSpPr>
            <a:spLocks noGrp="1"/>
          </p:cNvSpPr>
          <p:nvPr>
            <p:ph type="title"/>
          </p:nvPr>
        </p:nvSpPr>
        <p:spPr/>
        <p:txBody>
          <a:bodyPr/>
          <a:lstStyle/>
          <a:p>
            <a:r>
              <a:rPr lang="fi-FI" dirty="0"/>
              <a:t>Tiedostot ja virta</a:t>
            </a:r>
          </a:p>
        </p:txBody>
      </p:sp>
      <p:sp>
        <p:nvSpPr>
          <p:cNvPr id="3" name="Content Placeholder 2">
            <a:extLst>
              <a:ext uri="{FF2B5EF4-FFF2-40B4-BE49-F238E27FC236}">
                <a16:creationId xmlns:a16="http://schemas.microsoft.com/office/drawing/2014/main" id="{49D5BA30-C4FA-CAD7-86DF-605080E386A4}"/>
              </a:ext>
            </a:extLst>
          </p:cNvPr>
          <p:cNvSpPr>
            <a:spLocks noGrp="1"/>
          </p:cNvSpPr>
          <p:nvPr>
            <p:ph idx="1"/>
          </p:nvPr>
        </p:nvSpPr>
        <p:spPr>
          <a:xfrm>
            <a:off x="838200" y="1825625"/>
            <a:ext cx="10515600" cy="1961721"/>
          </a:xfrm>
        </p:spPr>
        <p:txBody>
          <a:bodyPr>
            <a:normAutofit lnSpcReduction="10000"/>
          </a:bodyPr>
          <a:lstStyle/>
          <a:p>
            <a:r>
              <a:rPr lang="fi-FI" sz="2400" dirty="0"/>
              <a:t>Katsotaan ensin tiedostojen lukemista virtana.</a:t>
            </a:r>
          </a:p>
          <a:p>
            <a:r>
              <a:rPr lang="fi-FI" sz="2400" dirty="0"/>
              <a:t>Alla olevalla ohjelmakoodilla voidaan lukea tiedoston rivit </a:t>
            </a:r>
            <a:r>
              <a:rPr lang="fi-FI" sz="2400" dirty="0" err="1"/>
              <a:t>ArrayList</a:t>
            </a:r>
            <a:r>
              <a:rPr lang="fi-FI" sz="2400" dirty="0"/>
              <a:t>&lt;</a:t>
            </a:r>
            <a:r>
              <a:rPr lang="fi-FI" sz="2400" dirty="0" err="1"/>
              <a:t>String</a:t>
            </a:r>
            <a:r>
              <a:rPr lang="fi-FI" sz="2400" dirty="0"/>
              <a:t>&gt; -listaan. Tiedoston sisältöä voi tarkastella nyt listana merkkijonoja. Yksi rivi on siis listan alkio.</a:t>
            </a:r>
          </a:p>
          <a:p>
            <a:r>
              <a:rPr lang="fi-FI" sz="2400" dirty="0"/>
              <a:t>(Tiedostot luetaan Pythonissa tällä tavoin suoraan listaan)</a:t>
            </a:r>
          </a:p>
        </p:txBody>
      </p:sp>
      <p:sp>
        <p:nvSpPr>
          <p:cNvPr id="5" name="TextBox 4">
            <a:extLst>
              <a:ext uri="{FF2B5EF4-FFF2-40B4-BE49-F238E27FC236}">
                <a16:creationId xmlns:a16="http://schemas.microsoft.com/office/drawing/2014/main" id="{AA485747-4694-AC2B-026B-D4328C58618C}"/>
              </a:ext>
            </a:extLst>
          </p:cNvPr>
          <p:cNvSpPr txBox="1"/>
          <p:nvPr/>
        </p:nvSpPr>
        <p:spPr>
          <a:xfrm>
            <a:off x="1210447" y="4129380"/>
            <a:ext cx="10056856" cy="1600438"/>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&gt; rivit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try</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Files.lines</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Paths.get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"names.txt"</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(rivi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rivit.add</a:t>
            </a:r>
            <a:r>
              <a:rPr lang="fi-FI" sz="1400" b="0" dirty="0">
                <a:solidFill>
                  <a:srgbClr val="000000"/>
                </a:solidFill>
                <a:effectLst/>
                <a:latin typeface="Consolas" panose="020B0609020204030204" pitchFamily="49" charset="0"/>
              </a:rPr>
              <a:t>(rivi));</a:t>
            </a:r>
          </a:p>
          <a:p>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catch</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Exception</a:t>
            </a:r>
            <a:r>
              <a:rPr lang="fi-FI" sz="1400" b="0" dirty="0">
                <a:solidFill>
                  <a:srgbClr val="000000"/>
                </a:solidFill>
                <a:effectLst/>
                <a:latin typeface="Consolas" panose="020B0609020204030204" pitchFamily="49" charset="0"/>
              </a:rPr>
              <a:t> e)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"Virhe: "</a:t>
            </a:r>
            <a:r>
              <a:rPr lang="fi-FI" sz="1400" b="0" dirty="0">
                <a:solidFill>
                  <a:srgbClr val="000000"/>
                </a:solidFill>
                <a:effectLst/>
                <a:latin typeface="Consolas" panose="020B0609020204030204" pitchFamily="49" charset="0"/>
              </a:rPr>
              <a:t> + </a:t>
            </a:r>
            <a:r>
              <a:rPr lang="fi-FI" sz="1400" b="0" dirty="0" err="1">
                <a:solidFill>
                  <a:srgbClr val="000000"/>
                </a:solidFill>
                <a:effectLst/>
                <a:latin typeface="Consolas" panose="020B0609020204030204" pitchFamily="49" charset="0"/>
              </a:rPr>
              <a:t>e.getMessage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42387053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63C0-FCB8-A29A-CFC6-06F539B057BC}"/>
              </a:ext>
            </a:extLst>
          </p:cNvPr>
          <p:cNvSpPr>
            <a:spLocks noGrp="1"/>
          </p:cNvSpPr>
          <p:nvPr>
            <p:ph type="title"/>
          </p:nvPr>
        </p:nvSpPr>
        <p:spPr/>
        <p:txBody>
          <a:bodyPr/>
          <a:lstStyle/>
          <a:p>
            <a:r>
              <a:rPr lang="fi-FI" dirty="0"/>
              <a:t>Tiedostot ja virta</a:t>
            </a:r>
          </a:p>
        </p:txBody>
      </p:sp>
      <p:sp>
        <p:nvSpPr>
          <p:cNvPr id="3" name="Content Placeholder 2">
            <a:extLst>
              <a:ext uri="{FF2B5EF4-FFF2-40B4-BE49-F238E27FC236}">
                <a16:creationId xmlns:a16="http://schemas.microsoft.com/office/drawing/2014/main" id="{702E8BAD-761F-32CA-AEC0-C910F32BA069}"/>
              </a:ext>
            </a:extLst>
          </p:cNvPr>
          <p:cNvSpPr>
            <a:spLocks noGrp="1"/>
          </p:cNvSpPr>
          <p:nvPr>
            <p:ph idx="1"/>
          </p:nvPr>
        </p:nvSpPr>
        <p:spPr>
          <a:xfrm>
            <a:off x="838200" y="1825625"/>
            <a:ext cx="10515600" cy="738402"/>
          </a:xfrm>
        </p:spPr>
        <p:txBody>
          <a:bodyPr/>
          <a:lstStyle/>
          <a:p>
            <a:r>
              <a:rPr lang="fi-FI" dirty="0"/>
              <a:t>Tiedoston sisältö voidaan tulostaa nyt näin:</a:t>
            </a:r>
          </a:p>
        </p:txBody>
      </p:sp>
      <p:sp>
        <p:nvSpPr>
          <p:cNvPr id="5" name="TextBox 4">
            <a:extLst>
              <a:ext uri="{FF2B5EF4-FFF2-40B4-BE49-F238E27FC236}">
                <a16:creationId xmlns:a16="http://schemas.microsoft.com/office/drawing/2014/main" id="{69D26B21-D7A3-A486-8952-6A0FAD8FD405}"/>
              </a:ext>
            </a:extLst>
          </p:cNvPr>
          <p:cNvSpPr txBox="1"/>
          <p:nvPr/>
        </p:nvSpPr>
        <p:spPr>
          <a:xfrm>
            <a:off x="838200" y="3010574"/>
            <a:ext cx="9442622" cy="2246769"/>
          </a:xfrm>
          <a:prstGeom prst="rect">
            <a:avLst/>
          </a:prstGeom>
          <a:noFill/>
        </p:spPr>
        <p:txBody>
          <a:bodyPr wrap="square">
            <a:spAutoFit/>
          </a:bodyPr>
          <a:lstStyle/>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List</a:t>
            </a:r>
            <a:r>
              <a:rPr lang="fi-FI" sz="1400" b="0" dirty="0">
                <a:solidFill>
                  <a:srgbClr val="000000"/>
                </a:solidFill>
                <a:effectLst/>
                <a:latin typeface="Consolas" panose="020B0609020204030204" pitchFamily="49" charset="0"/>
              </a:rPr>
              <a:t>&lt;</a:t>
            </a:r>
            <a:r>
              <a:rPr lang="fi-FI" sz="1400" b="0" dirty="0" err="1">
                <a:solidFill>
                  <a:srgbClr val="0000FF"/>
                </a:solidFill>
                <a:effectLst/>
                <a:latin typeface="Consolas" panose="020B0609020204030204" pitchFamily="49" charset="0"/>
              </a:rPr>
              <a:t>String</a:t>
            </a:r>
            <a:r>
              <a:rPr lang="fi-FI" sz="1400" b="0" dirty="0">
                <a:solidFill>
                  <a:srgbClr val="000000"/>
                </a:solidFill>
                <a:effectLst/>
                <a:latin typeface="Consolas" panose="020B0609020204030204" pitchFamily="49" charset="0"/>
              </a:rPr>
              <a:t>&gt; rivit = </a:t>
            </a:r>
            <a:r>
              <a:rPr lang="fi-FI" sz="1400" b="0" dirty="0" err="1">
                <a:solidFill>
                  <a:srgbClr val="0000FF"/>
                </a:solidFill>
                <a:effectLst/>
                <a:latin typeface="Consolas" panose="020B0609020204030204" pitchFamily="49" charset="0"/>
              </a:rPr>
              <a:t>new</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ArrayList</a:t>
            </a:r>
            <a:r>
              <a:rPr lang="fi-FI" sz="1400" b="0" dirty="0">
                <a:solidFill>
                  <a:srgbClr val="000000"/>
                </a:solidFill>
                <a:effectLst/>
                <a:latin typeface="Consolas" panose="020B0609020204030204" pitchFamily="49" charset="0"/>
              </a:rPr>
              <a:t>&lt;&gt;();</a:t>
            </a:r>
          </a:p>
          <a:p>
            <a:endParaRPr lang="fi-FI" sz="1400" b="0" dirty="0">
              <a:solidFill>
                <a:srgbClr val="000000"/>
              </a:solidFill>
              <a:effectLst/>
              <a:latin typeface="Consolas" panose="020B0609020204030204" pitchFamily="49" charset="0"/>
            </a:endParaRPr>
          </a:p>
          <a:p>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try</a:t>
            </a:r>
            <a:r>
              <a:rPr lang="fi-FI" sz="1400" b="0" dirty="0">
                <a:solidFill>
                  <a:srgbClr val="000000"/>
                </a:solidFill>
                <a:effectLst/>
                <a:latin typeface="Consolas" panose="020B0609020204030204" pitchFamily="49" charset="0"/>
              </a:rPr>
              <a:t>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Files.lines</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Paths.get</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"names.txt"</a:t>
            </a:r>
            <a:r>
              <a:rPr lang="fi-FI" sz="1400" b="0" dirty="0">
                <a:solidFill>
                  <a:srgbClr val="000000"/>
                </a:solidFill>
                <a:effectLst/>
                <a:latin typeface="Consolas" panose="020B0609020204030204" pitchFamily="49" charset="0"/>
              </a:rPr>
              <a:t>)).</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(rivi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rivit.add</a:t>
            </a:r>
            <a:r>
              <a:rPr lang="fi-FI" sz="1400" b="0" dirty="0">
                <a:solidFill>
                  <a:srgbClr val="000000"/>
                </a:solidFill>
                <a:effectLst/>
                <a:latin typeface="Consolas" panose="020B0609020204030204" pitchFamily="49" charset="0"/>
              </a:rPr>
              <a:t>(rivi));</a:t>
            </a:r>
          </a:p>
          <a:p>
            <a:r>
              <a:rPr lang="fi-FI" sz="1400" b="0" dirty="0">
                <a:solidFill>
                  <a:srgbClr val="000000"/>
                </a:solidFill>
                <a:effectLst/>
                <a:latin typeface="Consolas" panose="020B0609020204030204" pitchFamily="49" charset="0"/>
              </a:rPr>
              <a:t>        } </a:t>
            </a:r>
            <a:r>
              <a:rPr lang="fi-FI" sz="1400" b="0" dirty="0" err="1">
                <a:solidFill>
                  <a:srgbClr val="0000FF"/>
                </a:solidFill>
                <a:effectLst/>
                <a:latin typeface="Consolas" panose="020B0609020204030204" pitchFamily="49" charset="0"/>
              </a:rPr>
              <a:t>catch</a:t>
            </a:r>
            <a:r>
              <a:rPr lang="fi-FI" sz="1400" b="0" dirty="0">
                <a:solidFill>
                  <a:srgbClr val="000000"/>
                </a:solidFill>
                <a:effectLst/>
                <a:latin typeface="Consolas" panose="020B0609020204030204" pitchFamily="49" charset="0"/>
              </a:rPr>
              <a:t> (</a:t>
            </a:r>
            <a:r>
              <a:rPr lang="fi-FI" sz="1400" b="0" dirty="0" err="1">
                <a:solidFill>
                  <a:srgbClr val="0000FF"/>
                </a:solidFill>
                <a:effectLst/>
                <a:latin typeface="Consolas" panose="020B0609020204030204" pitchFamily="49" charset="0"/>
              </a:rPr>
              <a:t>Exception</a:t>
            </a:r>
            <a:r>
              <a:rPr lang="fi-FI" sz="1400" b="0" dirty="0">
                <a:solidFill>
                  <a:srgbClr val="000000"/>
                </a:solidFill>
                <a:effectLst/>
                <a:latin typeface="Consolas" panose="020B0609020204030204" pitchFamily="49" charset="0"/>
              </a:rPr>
              <a:t> e) {</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a:t>
            </a:r>
            <a:r>
              <a:rPr lang="fi-FI" sz="1400" b="0" dirty="0">
                <a:solidFill>
                  <a:srgbClr val="A31515"/>
                </a:solidFill>
                <a:effectLst/>
                <a:latin typeface="Consolas" panose="020B0609020204030204" pitchFamily="49" charset="0"/>
              </a:rPr>
              <a:t>"Virhe: "</a:t>
            </a:r>
            <a:r>
              <a:rPr lang="fi-FI" sz="1400" b="0" dirty="0">
                <a:solidFill>
                  <a:srgbClr val="000000"/>
                </a:solidFill>
                <a:effectLst/>
                <a:latin typeface="Consolas" panose="020B0609020204030204" pitchFamily="49" charset="0"/>
              </a:rPr>
              <a:t> + </a:t>
            </a:r>
            <a:r>
              <a:rPr lang="fi-FI" sz="1400" b="0" dirty="0" err="1">
                <a:solidFill>
                  <a:srgbClr val="000000"/>
                </a:solidFill>
                <a:effectLst/>
                <a:latin typeface="Consolas" panose="020B0609020204030204" pitchFamily="49" charset="0"/>
              </a:rPr>
              <a:t>e.getMessage</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p>
          <a:p>
            <a:br>
              <a:rPr lang="fi-FI" sz="1400" b="0" dirty="0">
                <a:solidFill>
                  <a:srgbClr val="000000"/>
                </a:solidFill>
                <a:effectLst/>
                <a:latin typeface="Consolas" panose="020B0609020204030204" pitchFamily="49" charset="0"/>
              </a:rPr>
            </a:b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rivit.stream</a:t>
            </a:r>
            <a:r>
              <a:rPr lang="fi-FI" sz="1400" b="0" dirty="0">
                <a:solidFill>
                  <a:srgbClr val="000000"/>
                </a:solidFill>
                <a:effectLst/>
                <a:latin typeface="Consolas" panose="020B0609020204030204" pitchFamily="49" charset="0"/>
              </a:rPr>
              <a:t>()</a:t>
            </a:r>
          </a:p>
          <a:p>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forEach</a:t>
            </a:r>
            <a:r>
              <a:rPr lang="fi-FI" sz="1400" b="0" dirty="0">
                <a:solidFill>
                  <a:srgbClr val="000000"/>
                </a:solidFill>
                <a:effectLst/>
                <a:latin typeface="Consolas" panose="020B0609020204030204" pitchFamily="49" charset="0"/>
              </a:rPr>
              <a:t>(luku </a:t>
            </a:r>
            <a:r>
              <a:rPr lang="fi-FI" sz="1400" b="0" dirty="0">
                <a:solidFill>
                  <a:srgbClr val="0000FF"/>
                </a:solidFill>
                <a:effectLst/>
                <a:latin typeface="Consolas" panose="020B0609020204030204" pitchFamily="49" charset="0"/>
              </a:rPr>
              <a:t>-&gt;</a:t>
            </a:r>
            <a:r>
              <a:rPr lang="fi-FI" sz="1400" b="0" dirty="0">
                <a:solidFill>
                  <a:srgbClr val="000000"/>
                </a:solidFill>
                <a:effectLst/>
                <a:latin typeface="Consolas" panose="020B0609020204030204" pitchFamily="49" charset="0"/>
              </a:rPr>
              <a:t> </a:t>
            </a:r>
            <a:r>
              <a:rPr lang="fi-FI" sz="1400" b="0" dirty="0" err="1">
                <a:solidFill>
                  <a:srgbClr val="000000"/>
                </a:solidFill>
                <a:effectLst/>
                <a:latin typeface="Consolas" panose="020B0609020204030204" pitchFamily="49" charset="0"/>
              </a:rPr>
              <a:t>System.out.println</a:t>
            </a:r>
            <a:r>
              <a:rPr lang="fi-FI" sz="1400" b="0" dirty="0">
                <a:solidFill>
                  <a:srgbClr val="000000"/>
                </a:solidFill>
                <a:effectLst/>
                <a:latin typeface="Consolas" panose="020B0609020204030204" pitchFamily="49" charset="0"/>
              </a:rPr>
              <a:t>(luku));</a:t>
            </a:r>
          </a:p>
        </p:txBody>
      </p:sp>
    </p:spTree>
    <p:extLst>
      <p:ext uri="{BB962C8B-B14F-4D97-AF65-F5344CB8AC3E}">
        <p14:creationId xmlns:p14="http://schemas.microsoft.com/office/powerpoint/2010/main" val="37253157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0C52-DE1B-538C-793E-1AF0757A40CD}"/>
              </a:ext>
            </a:extLst>
          </p:cNvPr>
          <p:cNvSpPr>
            <a:spLocks noGrp="1"/>
          </p:cNvSpPr>
          <p:nvPr>
            <p:ph type="title"/>
          </p:nvPr>
        </p:nvSpPr>
        <p:spPr/>
        <p:txBody>
          <a:bodyPr/>
          <a:lstStyle/>
          <a:p>
            <a:r>
              <a:rPr lang="fi-FI" dirty="0"/>
              <a:t>Virta</a:t>
            </a:r>
          </a:p>
        </p:txBody>
      </p:sp>
      <p:sp>
        <p:nvSpPr>
          <p:cNvPr id="3" name="Content Placeholder 2">
            <a:extLst>
              <a:ext uri="{FF2B5EF4-FFF2-40B4-BE49-F238E27FC236}">
                <a16:creationId xmlns:a16="http://schemas.microsoft.com/office/drawing/2014/main" id="{9BEC5630-5D11-4C96-00B9-D929B8FFA743}"/>
              </a:ext>
            </a:extLst>
          </p:cNvPr>
          <p:cNvSpPr>
            <a:spLocks noGrp="1"/>
          </p:cNvSpPr>
          <p:nvPr>
            <p:ph idx="1"/>
          </p:nvPr>
        </p:nvSpPr>
        <p:spPr/>
        <p:txBody>
          <a:bodyPr/>
          <a:lstStyle/>
          <a:p>
            <a:r>
              <a:rPr lang="fi-FI" dirty="0" err="1"/>
              <a:t>Streamien</a:t>
            </a:r>
            <a:r>
              <a:rPr lang="fi-FI" dirty="0"/>
              <a:t> avulla operaatioita on helppo ketjuttaa</a:t>
            </a:r>
          </a:p>
        </p:txBody>
      </p:sp>
      <p:sp>
        <p:nvSpPr>
          <p:cNvPr id="5" name="TextBox 4">
            <a:extLst>
              <a:ext uri="{FF2B5EF4-FFF2-40B4-BE49-F238E27FC236}">
                <a16:creationId xmlns:a16="http://schemas.microsoft.com/office/drawing/2014/main" id="{971EE1B1-DB6C-7385-D8B9-A95C5B129C35}"/>
              </a:ext>
            </a:extLst>
          </p:cNvPr>
          <p:cNvSpPr txBox="1"/>
          <p:nvPr/>
        </p:nvSpPr>
        <p:spPr>
          <a:xfrm>
            <a:off x="341355" y="3262630"/>
            <a:ext cx="10034201" cy="1477328"/>
          </a:xfrm>
          <a:prstGeom prst="rect">
            <a:avLst/>
          </a:prstGeom>
          <a:noFill/>
        </p:spPr>
        <p:txBody>
          <a:bodyPr wrap="square">
            <a:spAutoFit/>
          </a:bodyPr>
          <a:lstStyle/>
          <a:p>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rivit.stream</a:t>
            </a:r>
            <a:r>
              <a:rPr lang="fi-FI" b="0" dirty="0">
                <a:solidFill>
                  <a:srgbClr val="000000"/>
                </a:solidFill>
                <a:effectLst/>
                <a:latin typeface="Consolas" panose="020B0609020204030204" pitchFamily="49" charset="0"/>
              </a:rPr>
              <a:t>()  </a:t>
            </a:r>
          </a:p>
          <a:p>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filter</a:t>
            </a:r>
            <a:r>
              <a:rPr lang="fi-FI" b="0" dirty="0">
                <a:solidFill>
                  <a:srgbClr val="000000"/>
                </a:solidFill>
                <a:effectLst/>
                <a:latin typeface="Consolas" panose="020B0609020204030204" pitchFamily="49" charset="0"/>
              </a:rPr>
              <a:t>(nimi </a:t>
            </a:r>
            <a:r>
              <a:rPr lang="fi-FI" b="0" dirty="0">
                <a:solidFill>
                  <a:srgbClr val="0000FF"/>
                </a:solidFill>
                <a:effectLst/>
                <a:latin typeface="Consolas" panose="020B0609020204030204" pitchFamily="49" charset="0"/>
              </a:rPr>
              <a:t>-&gt;</a:t>
            </a:r>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nimi.length</a:t>
            </a:r>
            <a:r>
              <a:rPr lang="fi-FI" b="0" dirty="0">
                <a:solidFill>
                  <a:srgbClr val="000000"/>
                </a:solidFill>
                <a:effectLst/>
                <a:latin typeface="Consolas" panose="020B0609020204030204" pitchFamily="49" charset="0"/>
              </a:rPr>
              <a:t>() &lt;= </a:t>
            </a:r>
            <a:r>
              <a:rPr lang="fi-FI" b="0" dirty="0">
                <a:solidFill>
                  <a:srgbClr val="098658"/>
                </a:solidFill>
                <a:effectLst/>
                <a:latin typeface="Consolas" panose="020B0609020204030204" pitchFamily="49" charset="0"/>
              </a:rPr>
              <a:t>5</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otetaan vain lyhyet nimet</a:t>
            </a:r>
            <a:endParaRPr lang="fi-FI" b="0" dirty="0">
              <a:solidFill>
                <a:srgbClr val="000000"/>
              </a:solidFill>
              <a:effectLst/>
              <a:latin typeface="Consolas" panose="020B0609020204030204" pitchFamily="49" charset="0"/>
            </a:endParaRPr>
          </a:p>
          <a:p>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sorted</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järjestetään</a:t>
            </a:r>
            <a:endParaRPr lang="fi-FI" b="0" dirty="0">
              <a:solidFill>
                <a:srgbClr val="000000"/>
              </a:solidFill>
              <a:effectLst/>
              <a:latin typeface="Consolas" panose="020B0609020204030204" pitchFamily="49" charset="0"/>
            </a:endParaRPr>
          </a:p>
          <a:p>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distinct</a:t>
            </a:r>
            <a:r>
              <a:rPr lang="fi-FI" b="0" dirty="0">
                <a:solidFill>
                  <a:srgbClr val="000000"/>
                </a:solidFill>
                <a:effectLst/>
                <a:latin typeface="Consolas" panose="020B0609020204030204" pitchFamily="49" charset="0"/>
              </a:rPr>
              <a:t>()                         </a:t>
            </a:r>
            <a:r>
              <a:rPr lang="fi-FI" b="0" dirty="0">
                <a:solidFill>
                  <a:srgbClr val="008000"/>
                </a:solidFill>
                <a:effectLst/>
                <a:latin typeface="Consolas" panose="020B0609020204030204" pitchFamily="49" charset="0"/>
              </a:rPr>
              <a:t>// otetaan erilliset nimet</a:t>
            </a:r>
            <a:endParaRPr lang="fi-FI" b="0" dirty="0">
              <a:solidFill>
                <a:srgbClr val="000000"/>
              </a:solidFill>
              <a:effectLst/>
              <a:latin typeface="Consolas" panose="020B0609020204030204" pitchFamily="49" charset="0"/>
            </a:endParaRPr>
          </a:p>
          <a:p>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forEach</a:t>
            </a:r>
            <a:r>
              <a:rPr lang="fi-FI" b="0" dirty="0">
                <a:solidFill>
                  <a:srgbClr val="000000"/>
                </a:solidFill>
                <a:effectLst/>
                <a:latin typeface="Consolas" panose="020B0609020204030204" pitchFamily="49" charset="0"/>
              </a:rPr>
              <a:t>(luku </a:t>
            </a:r>
            <a:r>
              <a:rPr lang="fi-FI" b="0" dirty="0">
                <a:solidFill>
                  <a:srgbClr val="0000FF"/>
                </a:solidFill>
                <a:effectLst/>
                <a:latin typeface="Consolas" panose="020B0609020204030204" pitchFamily="49" charset="0"/>
              </a:rPr>
              <a:t>-&gt;</a:t>
            </a:r>
            <a:r>
              <a:rPr lang="fi-FI" b="0" dirty="0">
                <a:solidFill>
                  <a:srgbClr val="000000"/>
                </a:solidFill>
                <a:effectLst/>
                <a:latin typeface="Consolas" panose="020B0609020204030204" pitchFamily="49" charset="0"/>
              </a:rPr>
              <a:t> </a:t>
            </a:r>
            <a:r>
              <a:rPr lang="fi-FI" b="0" dirty="0" err="1">
                <a:solidFill>
                  <a:srgbClr val="000000"/>
                </a:solidFill>
                <a:effectLst/>
                <a:latin typeface="Consolas" panose="020B0609020204030204" pitchFamily="49" charset="0"/>
              </a:rPr>
              <a:t>System.out.println</a:t>
            </a:r>
            <a:r>
              <a:rPr lang="fi-FI" b="0" dirty="0">
                <a:solidFill>
                  <a:srgbClr val="000000"/>
                </a:solidFill>
                <a:effectLst/>
                <a:latin typeface="Consolas" panose="020B0609020204030204" pitchFamily="49" charset="0"/>
              </a:rPr>
              <a:t>(luku));</a:t>
            </a:r>
          </a:p>
        </p:txBody>
      </p:sp>
    </p:spTree>
    <p:extLst>
      <p:ext uri="{BB962C8B-B14F-4D97-AF65-F5344CB8AC3E}">
        <p14:creationId xmlns:p14="http://schemas.microsoft.com/office/powerpoint/2010/main" val="1881361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70E9-DE45-4284-35F6-3438D28B4792}"/>
              </a:ext>
            </a:extLst>
          </p:cNvPr>
          <p:cNvSpPr>
            <a:spLocks noGrp="1"/>
          </p:cNvSpPr>
          <p:nvPr>
            <p:ph type="title"/>
          </p:nvPr>
        </p:nvSpPr>
        <p:spPr/>
        <p:txBody>
          <a:bodyPr/>
          <a:lstStyle/>
          <a:p>
            <a:r>
              <a:rPr lang="fi-FI" dirty="0"/>
              <a:t>CSV-tiedon lukeminen </a:t>
            </a:r>
            <a:r>
              <a:rPr lang="fi-FI" dirty="0" err="1"/>
              <a:t>streamien</a:t>
            </a:r>
            <a:r>
              <a:rPr lang="fi-FI" dirty="0"/>
              <a:t> avulla</a:t>
            </a:r>
          </a:p>
        </p:txBody>
      </p:sp>
      <p:sp>
        <p:nvSpPr>
          <p:cNvPr id="3" name="Content Placeholder 2">
            <a:extLst>
              <a:ext uri="{FF2B5EF4-FFF2-40B4-BE49-F238E27FC236}">
                <a16:creationId xmlns:a16="http://schemas.microsoft.com/office/drawing/2014/main" id="{0217D93F-6628-ACC8-A989-F07B7A8A4D95}"/>
              </a:ext>
            </a:extLst>
          </p:cNvPr>
          <p:cNvSpPr>
            <a:spLocks noGrp="1"/>
          </p:cNvSpPr>
          <p:nvPr>
            <p:ph idx="1"/>
          </p:nvPr>
        </p:nvSpPr>
        <p:spPr>
          <a:xfrm>
            <a:off x="838200" y="1825625"/>
            <a:ext cx="3987114" cy="4351338"/>
          </a:xfrm>
        </p:spPr>
        <p:txBody>
          <a:bodyPr>
            <a:normAutofit fontScale="92500" lnSpcReduction="10000"/>
          </a:bodyPr>
          <a:lstStyle/>
          <a:p>
            <a:r>
              <a:rPr lang="fi-FI" dirty="0" err="1"/>
              <a:t>Streamit</a:t>
            </a:r>
            <a:r>
              <a:rPr lang="fi-FI" dirty="0"/>
              <a:t> tekevät määritellyn muotoisten tiedostojen lukemisesta suoraviivaista.</a:t>
            </a:r>
          </a:p>
          <a:p>
            <a:r>
              <a:rPr lang="fi-FI" dirty="0"/>
              <a:t>Vieressä on esimerkki, miten tiedoston rivit on muunnettu Kunta-olioksi ja kunnat lisätty sitten listaan.</a:t>
            </a:r>
          </a:p>
          <a:p>
            <a:r>
              <a:rPr lang="fi-FI" dirty="0"/>
              <a:t>Tapahtuu siis muunnos:</a:t>
            </a:r>
            <a:br>
              <a:rPr lang="fi-FI" dirty="0"/>
            </a:br>
            <a:r>
              <a:rPr lang="fi-FI" dirty="0" err="1"/>
              <a:t>ArrayList</a:t>
            </a:r>
            <a:r>
              <a:rPr lang="fi-FI" dirty="0"/>
              <a:t>&lt;</a:t>
            </a:r>
            <a:r>
              <a:rPr lang="fi-FI" dirty="0" err="1"/>
              <a:t>String</a:t>
            </a:r>
            <a:r>
              <a:rPr lang="fi-FI" dirty="0"/>
              <a:t>&gt; =&gt; </a:t>
            </a:r>
            <a:r>
              <a:rPr lang="fi-FI" dirty="0" err="1"/>
              <a:t>ArrayList</a:t>
            </a:r>
            <a:r>
              <a:rPr lang="fi-FI"/>
              <a:t>&lt;Kunta&gt;</a:t>
            </a:r>
            <a:endParaRPr lang="fi-FI" dirty="0"/>
          </a:p>
          <a:p>
            <a:endParaRPr lang="fi-FI" dirty="0"/>
          </a:p>
          <a:p>
            <a:endParaRPr lang="fi-FI" dirty="0"/>
          </a:p>
        </p:txBody>
      </p:sp>
      <p:sp>
        <p:nvSpPr>
          <p:cNvPr id="5" name="TextBox 4">
            <a:extLst>
              <a:ext uri="{FF2B5EF4-FFF2-40B4-BE49-F238E27FC236}">
                <a16:creationId xmlns:a16="http://schemas.microsoft.com/office/drawing/2014/main" id="{1934DE67-0267-F6E6-4F3C-40DA0445CAD6}"/>
              </a:ext>
            </a:extLst>
          </p:cNvPr>
          <p:cNvSpPr txBox="1"/>
          <p:nvPr/>
        </p:nvSpPr>
        <p:spPr>
          <a:xfrm>
            <a:off x="4999853" y="1773796"/>
            <a:ext cx="6986201" cy="4339650"/>
          </a:xfrm>
          <a:prstGeom prst="rect">
            <a:avLst/>
          </a:prstGeom>
          <a:noFill/>
        </p:spPr>
        <p:txBody>
          <a:bodyPr wrap="square">
            <a:spAutoFit/>
          </a:bodyPr>
          <a:lstStyle/>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a:t>
            </a:r>
            <a:r>
              <a:rPr lang="fi-FI" sz="1200" b="0" dirty="0">
                <a:solidFill>
                  <a:srgbClr val="0000FF"/>
                </a:solidFill>
                <a:effectLst/>
                <a:latin typeface="Consolas" panose="020B0609020204030204" pitchFamily="49" charset="0"/>
              </a:rPr>
              <a:t>Kunta</a:t>
            </a:r>
            <a:r>
              <a:rPr lang="fi-FI" sz="1200" b="0" dirty="0">
                <a:solidFill>
                  <a:srgbClr val="000000"/>
                </a:solidFill>
                <a:effectLst/>
                <a:latin typeface="Consolas" panose="020B0609020204030204" pitchFamily="49" charset="0"/>
              </a:rPr>
              <a:t>&gt; kunnat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ArrayList</a:t>
            </a:r>
            <a:r>
              <a:rPr lang="fi-FI" sz="1200" b="0" dirty="0">
                <a:solidFill>
                  <a:srgbClr val="000000"/>
                </a:solidFill>
                <a:effectLst/>
                <a:latin typeface="Consolas" panose="020B0609020204030204" pitchFamily="49" charset="0"/>
              </a:rPr>
              <a:t>&lt;&gt;();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try</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luetaan tiedosto listaan</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Files.lines</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Paths.get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"kunnat.txt"</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pilkotaan rivi osiin ";"-merkin kohdalta</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map</a:t>
            </a:r>
            <a:r>
              <a:rPr lang="fi-FI" sz="1200" b="0" dirty="0">
                <a:solidFill>
                  <a:srgbClr val="000000"/>
                </a:solidFill>
                <a:effectLst/>
                <a:latin typeface="Consolas" panose="020B0609020204030204" pitchFamily="49" charset="0"/>
              </a:rPr>
              <a:t>(rivi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rivi.split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"\t"</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poistetaan väärät rivit</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filter</a:t>
            </a:r>
            <a:r>
              <a:rPr lang="fi-FI" sz="1200" b="0" dirty="0">
                <a:solidFill>
                  <a:srgbClr val="000000"/>
                </a:solidFill>
                <a:effectLst/>
                <a:latin typeface="Consolas" panose="020B0609020204030204" pitchFamily="49" charset="0"/>
              </a:rPr>
              <a:t>(palaset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palaset.length</a:t>
            </a:r>
            <a:r>
              <a:rPr lang="fi-FI" sz="1200" b="0" dirty="0">
                <a:solidFill>
                  <a:srgbClr val="000000"/>
                </a:solidFill>
                <a:effectLst/>
                <a:latin typeface="Consolas" panose="020B0609020204030204" pitchFamily="49" charset="0"/>
              </a:rPr>
              <a:t> == </a:t>
            </a:r>
            <a:r>
              <a:rPr lang="fi-FI" sz="1200" b="0" dirty="0">
                <a:solidFill>
                  <a:srgbClr val="098658"/>
                </a:solidFill>
                <a:effectLst/>
                <a:latin typeface="Consolas" panose="020B0609020204030204" pitchFamily="49" charset="0"/>
              </a:rPr>
              <a:t>5</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tehdään palaset-taulukosta kuntia</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map</a:t>
            </a:r>
            <a:r>
              <a:rPr lang="fi-FI" sz="1200" b="0" dirty="0">
                <a:solidFill>
                  <a:srgbClr val="000000"/>
                </a:solidFill>
                <a:effectLst/>
                <a:latin typeface="Consolas" panose="020B0609020204030204" pitchFamily="49" charset="0"/>
              </a:rPr>
              <a:t>(palaset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Kunta(</a:t>
            </a:r>
            <a:r>
              <a:rPr lang="fi-FI" sz="1200" b="0" dirty="0" err="1">
                <a:solidFill>
                  <a:srgbClr val="000000"/>
                </a:solidFill>
                <a:effectLst/>
                <a:latin typeface="Consolas" panose="020B0609020204030204" pitchFamily="49" charset="0"/>
              </a:rPr>
              <a:t>Integer.parseInt</a:t>
            </a:r>
            <a:r>
              <a:rPr lang="fi-FI" sz="1200" b="0" dirty="0">
                <a:solidFill>
                  <a:srgbClr val="000000"/>
                </a:solidFill>
                <a:effectLst/>
                <a:latin typeface="Consolas" panose="020B0609020204030204" pitchFamily="49" charset="0"/>
              </a:rPr>
              <a:t>(palaset[</a:t>
            </a:r>
            <a:r>
              <a:rPr lang="fi-FI" sz="1200" b="0" dirty="0">
                <a:solidFill>
                  <a:srgbClr val="098658"/>
                </a:solidFill>
                <a:effectLst/>
                <a:latin typeface="Consolas" panose="020B0609020204030204" pitchFamily="49" charset="0"/>
              </a:rPr>
              <a:t>0</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palaset[</a:t>
            </a:r>
            <a:r>
              <a:rPr lang="fi-FI" sz="1200" b="0" dirty="0">
                <a:solidFill>
                  <a:srgbClr val="098658"/>
                </a:solidFill>
                <a:effectLst/>
                <a:latin typeface="Consolas" panose="020B0609020204030204" pitchFamily="49" charset="0"/>
              </a:rPr>
              <a:t>1</a:t>
            </a:r>
            <a:r>
              <a:rPr lang="fi-FI" sz="1200" b="0" dirty="0">
                <a:solidFill>
                  <a:srgbClr val="000000"/>
                </a:solidFill>
                <a:effectLst/>
                <a:latin typeface="Consolas" panose="020B0609020204030204" pitchFamily="49" charset="0"/>
              </a:rPr>
              <a:t>], palaset[</a:t>
            </a:r>
            <a:r>
              <a:rPr lang="fi-FI" sz="1200" b="0" dirty="0">
                <a:solidFill>
                  <a:srgbClr val="098658"/>
                </a:solidFill>
                <a:effectLst/>
                <a:latin typeface="Consolas" panose="020B0609020204030204" pitchFamily="49" charset="0"/>
              </a:rPr>
              <a:t>2</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Integer.parseInt</a:t>
            </a:r>
            <a:r>
              <a:rPr lang="fi-FI" sz="1200" b="0" dirty="0">
                <a:solidFill>
                  <a:srgbClr val="000000"/>
                </a:solidFill>
                <a:effectLst/>
                <a:latin typeface="Consolas" panose="020B0609020204030204" pitchFamily="49" charset="0"/>
              </a:rPr>
              <a:t>(palaset[</a:t>
            </a:r>
            <a:r>
              <a:rPr lang="fi-FI" sz="1200" b="0" dirty="0">
                <a:solidFill>
                  <a:srgbClr val="098658"/>
                </a:solidFill>
                <a:effectLst/>
                <a:latin typeface="Consolas" panose="020B0609020204030204" pitchFamily="49" charset="0"/>
              </a:rPr>
              <a:t>3</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Double.parseDouble</a:t>
            </a:r>
            <a:r>
              <a:rPr lang="fi-FI" sz="1200" b="0" dirty="0">
                <a:solidFill>
                  <a:srgbClr val="000000"/>
                </a:solidFill>
                <a:effectLst/>
                <a:latin typeface="Consolas" panose="020B0609020204030204" pitchFamily="49" charset="0"/>
              </a:rPr>
              <a:t>(palaset[</a:t>
            </a:r>
            <a:r>
              <a:rPr lang="fi-FI" sz="1200" b="0" dirty="0">
                <a:solidFill>
                  <a:srgbClr val="098658"/>
                </a:solidFill>
                <a:effectLst/>
                <a:latin typeface="Consolas" panose="020B0609020204030204" pitchFamily="49" charset="0"/>
              </a:rPr>
              <a:t>4</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käydään kunnat läpi</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forEach</a:t>
            </a:r>
            <a:r>
              <a:rPr lang="fi-FI" sz="1200" b="0" dirty="0">
                <a:solidFill>
                  <a:srgbClr val="000000"/>
                </a:solidFill>
                <a:effectLst/>
                <a:latin typeface="Consolas" panose="020B0609020204030204" pitchFamily="49" charset="0"/>
              </a:rPr>
              <a:t>(kunta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kunnat.add</a:t>
            </a:r>
            <a:r>
              <a:rPr lang="fi-FI" sz="1200" b="0" dirty="0">
                <a:solidFill>
                  <a:srgbClr val="000000"/>
                </a:solidFill>
                <a:effectLst/>
                <a:latin typeface="Consolas" panose="020B0609020204030204" pitchFamily="49" charset="0"/>
              </a:rPr>
              <a:t>(kunta));</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 </a:t>
            </a:r>
            <a:r>
              <a:rPr lang="fi-FI" sz="1200" b="0" dirty="0" err="1">
                <a:solidFill>
                  <a:srgbClr val="0000FF"/>
                </a:solidFill>
                <a:effectLst/>
                <a:latin typeface="Consolas" panose="020B0609020204030204" pitchFamily="49" charset="0"/>
              </a:rPr>
              <a:t>catch</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Exception</a:t>
            </a:r>
            <a:r>
              <a:rPr lang="fi-FI" sz="1200" b="0" dirty="0">
                <a:solidFill>
                  <a:srgbClr val="000000"/>
                </a:solidFill>
                <a:effectLst/>
                <a:latin typeface="Consolas" panose="020B0609020204030204" pitchFamily="49" charset="0"/>
              </a:rPr>
              <a:t> e)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"virhe "</a:t>
            </a:r>
            <a:r>
              <a:rPr lang="fi-FI" sz="1200" b="0" dirty="0">
                <a:solidFill>
                  <a:srgbClr val="000000"/>
                </a:solidFill>
                <a:effectLst/>
                <a:latin typeface="Consolas" panose="020B0609020204030204" pitchFamily="49" charset="0"/>
              </a:rPr>
              <a:t> + </a:t>
            </a:r>
            <a:r>
              <a:rPr lang="fi-FI" sz="1200" b="0" dirty="0" err="1">
                <a:solidFill>
                  <a:srgbClr val="000000"/>
                </a:solidFill>
                <a:effectLst/>
                <a:latin typeface="Consolas" panose="020B0609020204030204" pitchFamily="49" charset="0"/>
              </a:rPr>
              <a:t>e.getMessage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kunnat.stream</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sorted</a:t>
            </a:r>
            <a:r>
              <a:rPr lang="fi-FI" sz="1200" b="0" dirty="0">
                <a:solidFill>
                  <a:srgbClr val="000000"/>
                </a:solidFill>
                <a:effectLst/>
                <a:latin typeface="Consolas" panose="020B0609020204030204" pitchFamily="49" charset="0"/>
              </a:rPr>
              <a:t>((k1, k2)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k1.getNimi().</a:t>
            </a:r>
            <a:r>
              <a:rPr lang="fi-FI" sz="1200" b="0" dirty="0" err="1">
                <a:solidFill>
                  <a:srgbClr val="000000"/>
                </a:solidFill>
                <a:effectLst/>
                <a:latin typeface="Consolas" panose="020B0609020204030204" pitchFamily="49" charset="0"/>
              </a:rPr>
              <a:t>compareTo</a:t>
            </a:r>
            <a:r>
              <a:rPr lang="fi-FI" sz="1200" b="0" dirty="0">
                <a:solidFill>
                  <a:srgbClr val="000000"/>
                </a:solidFill>
                <a:effectLst/>
                <a:latin typeface="Consolas" panose="020B0609020204030204" pitchFamily="49" charset="0"/>
              </a:rPr>
              <a:t>(k2.getNimi()))</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forEach</a:t>
            </a:r>
            <a:r>
              <a:rPr lang="fi-FI" sz="1200" b="0" dirty="0">
                <a:solidFill>
                  <a:srgbClr val="000000"/>
                </a:solidFill>
                <a:effectLst/>
                <a:latin typeface="Consolas" panose="020B0609020204030204" pitchFamily="49" charset="0"/>
              </a:rPr>
              <a:t>(k </a:t>
            </a:r>
            <a:r>
              <a:rPr lang="fi-FI" sz="1200" b="0" dirty="0">
                <a:solidFill>
                  <a:srgbClr val="0000FF"/>
                </a:solidFill>
                <a:effectLst/>
                <a:latin typeface="Consolas" panose="020B0609020204030204" pitchFamily="49" charset="0"/>
              </a:rPr>
              <a:t>-&gt;</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(k));</a:t>
            </a:r>
          </a:p>
        </p:txBody>
      </p:sp>
    </p:spTree>
    <p:extLst>
      <p:ext uri="{BB962C8B-B14F-4D97-AF65-F5344CB8AC3E}">
        <p14:creationId xmlns:p14="http://schemas.microsoft.com/office/powerpoint/2010/main" val="35400944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999E-4059-A386-7F76-5E212DA7672A}"/>
              </a:ext>
            </a:extLst>
          </p:cNvPr>
          <p:cNvSpPr>
            <a:spLocks noGrp="1"/>
          </p:cNvSpPr>
          <p:nvPr>
            <p:ph type="title"/>
          </p:nvPr>
        </p:nvSpPr>
        <p:spPr/>
        <p:txBody>
          <a:bodyPr/>
          <a:lstStyle/>
          <a:p>
            <a:r>
              <a:rPr lang="fi-FI" dirty="0" err="1"/>
              <a:t>Copilot</a:t>
            </a:r>
            <a:r>
              <a:rPr lang="fi-FI" dirty="0"/>
              <a:t> tai </a:t>
            </a:r>
            <a:r>
              <a:rPr lang="fi-FI" dirty="0" err="1"/>
              <a:t>ChatGPT</a:t>
            </a:r>
            <a:endParaRPr lang="fi-FI" dirty="0"/>
          </a:p>
        </p:txBody>
      </p:sp>
      <p:sp>
        <p:nvSpPr>
          <p:cNvPr id="3" name="Content Placeholder 2">
            <a:extLst>
              <a:ext uri="{FF2B5EF4-FFF2-40B4-BE49-F238E27FC236}">
                <a16:creationId xmlns:a16="http://schemas.microsoft.com/office/drawing/2014/main" id="{7F0D292E-5A42-45EF-B682-7E6E3C7EF9DA}"/>
              </a:ext>
            </a:extLst>
          </p:cNvPr>
          <p:cNvSpPr>
            <a:spLocks noGrp="1"/>
          </p:cNvSpPr>
          <p:nvPr>
            <p:ph idx="1"/>
          </p:nvPr>
        </p:nvSpPr>
        <p:spPr/>
        <p:txBody>
          <a:bodyPr>
            <a:normAutofit lnSpcReduction="10000"/>
          </a:bodyPr>
          <a:lstStyle/>
          <a:p>
            <a:r>
              <a:rPr lang="fi-FI" dirty="0">
                <a:hlinkClick r:id="rId2"/>
              </a:rPr>
              <a:t>www.bing.com</a:t>
            </a:r>
            <a:r>
              <a:rPr lang="fi-FI" dirty="0"/>
              <a:t> </a:t>
            </a:r>
          </a:p>
          <a:p>
            <a:r>
              <a:rPr lang="fi-FI" dirty="0" err="1"/>
              <a:t>Copilot</a:t>
            </a:r>
            <a:endParaRPr lang="fi-FI" dirty="0"/>
          </a:p>
          <a:p>
            <a:r>
              <a:rPr lang="fi-FI" dirty="0"/>
              <a:t>Kysymys 1:</a:t>
            </a:r>
          </a:p>
          <a:p>
            <a:pPr lvl="1"/>
            <a:r>
              <a:rPr lang="en-US" b="0" i="0" dirty="0">
                <a:solidFill>
                  <a:srgbClr val="111111"/>
                </a:solidFill>
                <a:effectLst/>
                <a:latin typeface="-apple-system"/>
              </a:rPr>
              <a:t>A text file contains rows. Each row has the following information: first name, </a:t>
            </a:r>
            <a:r>
              <a:rPr lang="en-US" b="0" i="0" dirty="0" err="1">
                <a:solidFill>
                  <a:srgbClr val="111111"/>
                </a:solidFill>
                <a:effectLst/>
                <a:latin typeface="-apple-system"/>
              </a:rPr>
              <a:t>lastname</a:t>
            </a:r>
            <a:r>
              <a:rPr lang="en-US" b="0" i="0" dirty="0">
                <a:solidFill>
                  <a:srgbClr val="111111"/>
                </a:solidFill>
                <a:effectLst/>
                <a:latin typeface="-apple-system"/>
              </a:rPr>
              <a:t> and birthyear. Make me a Java program, which reads the file, splits the row, creates objects of Person class and adds the Person objects to </a:t>
            </a:r>
            <a:r>
              <a:rPr lang="en-US" b="0" i="0" dirty="0" err="1">
                <a:solidFill>
                  <a:srgbClr val="111111"/>
                </a:solidFill>
                <a:effectLst/>
                <a:latin typeface="-apple-system"/>
              </a:rPr>
              <a:t>ArrayList</a:t>
            </a:r>
            <a:endParaRPr lang="fi-FI" b="0" i="0" dirty="0">
              <a:solidFill>
                <a:srgbClr val="111111"/>
              </a:solidFill>
              <a:effectLst/>
              <a:latin typeface="-apple-system"/>
            </a:endParaRPr>
          </a:p>
          <a:p>
            <a:r>
              <a:rPr lang="fi-FI" dirty="0">
                <a:solidFill>
                  <a:srgbClr val="111111"/>
                </a:solidFill>
                <a:latin typeface="-apple-system"/>
              </a:rPr>
              <a:t>Kysymys 2:</a:t>
            </a:r>
          </a:p>
          <a:p>
            <a:pPr lvl="1"/>
            <a:r>
              <a:rPr lang="en-US" b="0" i="0" dirty="0">
                <a:solidFill>
                  <a:srgbClr val="111111"/>
                </a:solidFill>
                <a:effectLst/>
                <a:latin typeface="-apple-system"/>
              </a:rPr>
              <a:t>Modify the previous program so that it uses streams</a:t>
            </a:r>
          </a:p>
          <a:p>
            <a:r>
              <a:rPr lang="en-US" dirty="0" err="1">
                <a:solidFill>
                  <a:srgbClr val="111111"/>
                </a:solidFill>
                <a:latin typeface="-apple-system"/>
              </a:rPr>
              <a:t>Kysymys</a:t>
            </a:r>
            <a:r>
              <a:rPr lang="en-US" dirty="0">
                <a:solidFill>
                  <a:srgbClr val="111111"/>
                </a:solidFill>
                <a:latin typeface="-apple-system"/>
              </a:rPr>
              <a:t> 3:</a:t>
            </a:r>
          </a:p>
          <a:p>
            <a:pPr lvl="1"/>
            <a:r>
              <a:rPr lang="en-US" b="0" i="0" dirty="0">
                <a:solidFill>
                  <a:srgbClr val="111111"/>
                </a:solidFill>
                <a:effectLst/>
                <a:latin typeface="-apple-system"/>
              </a:rPr>
              <a:t>How to add the copilot to Visual Studio Code</a:t>
            </a:r>
            <a:endParaRPr lang="fi-FI" dirty="0"/>
          </a:p>
        </p:txBody>
      </p:sp>
    </p:spTree>
    <p:extLst>
      <p:ext uri="{BB962C8B-B14F-4D97-AF65-F5344CB8AC3E}">
        <p14:creationId xmlns:p14="http://schemas.microsoft.com/office/powerpoint/2010/main" val="90044425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8404-33A6-156E-3B34-AE8BFBB9C33E}"/>
              </a:ext>
            </a:extLst>
          </p:cNvPr>
          <p:cNvSpPr>
            <a:spLocks noGrp="1"/>
          </p:cNvSpPr>
          <p:nvPr>
            <p:ph type="title"/>
          </p:nvPr>
        </p:nvSpPr>
        <p:spPr/>
        <p:txBody>
          <a:bodyPr/>
          <a:lstStyle/>
          <a:p>
            <a:r>
              <a:rPr lang="fi-FI" dirty="0">
                <a:solidFill>
                  <a:srgbClr val="FF0000"/>
                </a:solidFill>
              </a:rPr>
              <a:t>Tehtävä</a:t>
            </a:r>
          </a:p>
        </p:txBody>
      </p:sp>
      <p:sp>
        <p:nvSpPr>
          <p:cNvPr id="3" name="Content Placeholder 2">
            <a:extLst>
              <a:ext uri="{FF2B5EF4-FFF2-40B4-BE49-F238E27FC236}">
                <a16:creationId xmlns:a16="http://schemas.microsoft.com/office/drawing/2014/main" id="{72E5E7BE-8503-A7A6-79D8-140025000C06}"/>
              </a:ext>
            </a:extLst>
          </p:cNvPr>
          <p:cNvSpPr>
            <a:spLocks noGrp="1"/>
          </p:cNvSpPr>
          <p:nvPr>
            <p:ph idx="1"/>
          </p:nvPr>
        </p:nvSpPr>
        <p:spPr/>
        <p:txBody>
          <a:bodyPr/>
          <a:lstStyle/>
          <a:p>
            <a:r>
              <a:rPr lang="fi-FI" dirty="0"/>
              <a:t>Lue tiedosto names.txt. Poimi tiedostosta pitkä nimet (yli 10 merkkiä). Järjestä nimet aakkosjärjestykseen.</a:t>
            </a:r>
          </a:p>
          <a:p>
            <a:r>
              <a:rPr lang="fi-FI" dirty="0"/>
              <a:t>Laske nimien pituuksien keskiarvo</a:t>
            </a:r>
          </a:p>
        </p:txBody>
      </p:sp>
    </p:spTree>
    <p:extLst>
      <p:ext uri="{BB962C8B-B14F-4D97-AF65-F5344CB8AC3E}">
        <p14:creationId xmlns:p14="http://schemas.microsoft.com/office/powerpoint/2010/main" val="403044038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4B69-EF5B-7A67-A5E1-51DA8541AEC7}"/>
              </a:ext>
            </a:extLst>
          </p:cNvPr>
          <p:cNvSpPr>
            <a:spLocks noGrp="1"/>
          </p:cNvSpPr>
          <p:nvPr>
            <p:ph type="title"/>
          </p:nvPr>
        </p:nvSpPr>
        <p:spPr/>
        <p:txBody>
          <a:bodyPr/>
          <a:lstStyle/>
          <a:p>
            <a:r>
              <a:rPr lang="fi-FI" dirty="0"/>
              <a:t>Tehtävä</a:t>
            </a:r>
          </a:p>
        </p:txBody>
      </p:sp>
      <p:sp>
        <p:nvSpPr>
          <p:cNvPr id="3" name="Content Placeholder 2">
            <a:extLst>
              <a:ext uri="{FF2B5EF4-FFF2-40B4-BE49-F238E27FC236}">
                <a16:creationId xmlns:a16="http://schemas.microsoft.com/office/drawing/2014/main" id="{9761FBAD-DEB5-3933-A543-FC0816E167CE}"/>
              </a:ext>
            </a:extLst>
          </p:cNvPr>
          <p:cNvSpPr>
            <a:spLocks noGrp="1"/>
          </p:cNvSpPr>
          <p:nvPr>
            <p:ph idx="1"/>
          </p:nvPr>
        </p:nvSpPr>
        <p:spPr/>
        <p:txBody>
          <a:bodyPr/>
          <a:lstStyle/>
          <a:p>
            <a:r>
              <a:rPr lang="fi-FI" dirty="0"/>
              <a:t>Lue tiedosto kunnat.txt</a:t>
            </a:r>
          </a:p>
          <a:p>
            <a:pPr lvl="1"/>
            <a:r>
              <a:rPr lang="fi-FI" dirty="0"/>
              <a:t>Tee </a:t>
            </a:r>
            <a:r>
              <a:rPr lang="fi-FI" dirty="0" err="1"/>
              <a:t>ArrayList</a:t>
            </a:r>
            <a:r>
              <a:rPr lang="fi-FI" dirty="0"/>
              <a:t>&lt;Kunta&gt; kunnat</a:t>
            </a:r>
          </a:p>
          <a:p>
            <a:pPr lvl="1"/>
            <a:r>
              <a:rPr lang="fi-FI" dirty="0"/>
              <a:t>Tee </a:t>
            </a:r>
            <a:r>
              <a:rPr lang="fi-FI" dirty="0" err="1"/>
              <a:t>HashMap</a:t>
            </a:r>
            <a:r>
              <a:rPr lang="fi-FI" dirty="0"/>
              <a:t>&lt;</a:t>
            </a:r>
            <a:r>
              <a:rPr lang="fi-FI" dirty="0" err="1"/>
              <a:t>String</a:t>
            </a:r>
            <a:r>
              <a:rPr lang="fi-FI" dirty="0"/>
              <a:t>, Maakunta&gt; maakunnat</a:t>
            </a:r>
          </a:p>
          <a:p>
            <a:pPr lvl="2"/>
            <a:r>
              <a:rPr lang="fi-FI" dirty="0"/>
              <a:t>Maakunnan sisällä on sen kunnat</a:t>
            </a:r>
          </a:p>
          <a:p>
            <a:pPr lvl="2"/>
            <a:endParaRPr lang="fi-FI" dirty="0"/>
          </a:p>
          <a:p>
            <a:pPr lvl="2"/>
            <a:r>
              <a:rPr lang="fi-FI" dirty="0" err="1"/>
              <a:t>HashMap</a:t>
            </a:r>
            <a:r>
              <a:rPr lang="fi-FI" dirty="0"/>
              <a:t>&lt;</a:t>
            </a:r>
            <a:r>
              <a:rPr lang="fi-FI" dirty="0" err="1"/>
              <a:t>String</a:t>
            </a:r>
            <a:r>
              <a:rPr lang="fi-FI" dirty="0"/>
              <a:t>, </a:t>
            </a:r>
            <a:r>
              <a:rPr lang="fi-FI" dirty="0" err="1"/>
              <a:t>ArrayList</a:t>
            </a:r>
            <a:r>
              <a:rPr lang="fi-FI"/>
              <a:t>&lt;Kunta&gt;&gt; </a:t>
            </a:r>
            <a:r>
              <a:rPr lang="fi-FI" dirty="0"/>
              <a:t>maakunnat</a:t>
            </a:r>
          </a:p>
          <a:p>
            <a:pPr lvl="2"/>
            <a:endParaRPr lang="fi-FI" dirty="0"/>
          </a:p>
        </p:txBody>
      </p:sp>
    </p:spTree>
    <p:extLst>
      <p:ext uri="{BB962C8B-B14F-4D97-AF65-F5344CB8AC3E}">
        <p14:creationId xmlns:p14="http://schemas.microsoft.com/office/powerpoint/2010/main" val="402347631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solidFill>
                  <a:srgbClr val="FF0000"/>
                </a:solidFill>
              </a:rPr>
              <a:t>Harjoitus</a:t>
            </a:r>
          </a:p>
        </p:txBody>
      </p:sp>
      <p:sp>
        <p:nvSpPr>
          <p:cNvPr id="3" name="Content Placeholder 2"/>
          <p:cNvSpPr>
            <a:spLocks noGrp="1"/>
          </p:cNvSpPr>
          <p:nvPr>
            <p:ph idx="1"/>
          </p:nvPr>
        </p:nvSpPr>
        <p:spPr>
          <a:xfrm>
            <a:off x="838200" y="1825625"/>
            <a:ext cx="6044514" cy="4351338"/>
          </a:xfrm>
        </p:spPr>
        <p:txBody>
          <a:bodyPr>
            <a:normAutofit/>
          </a:bodyPr>
          <a:lstStyle/>
          <a:p>
            <a:r>
              <a:rPr lang="fi-FI" sz="2000" dirty="0"/>
              <a:t>Tee ohjelma, joka lajittelee kaupungit osavaltioittain listoihin. Ohjelmassa luodaan hajautustaulu osavaltioista, jonka avaimina on osavaltioiden tunnukset. Avainta vastaavina arvoina on listat, jotka sisältävät tähän osavaltioon kuuluvat kaupungit</a:t>
            </a:r>
          </a:p>
          <a:p>
            <a:r>
              <a:rPr lang="fi-FI" sz="2000" dirty="0"/>
              <a:t>Käytä </a:t>
            </a:r>
            <a:r>
              <a:rPr lang="fi-FI" sz="2000" dirty="0" err="1"/>
              <a:t>streameja</a:t>
            </a:r>
            <a:endParaRPr lang="fi-FI" sz="2000" dirty="0"/>
          </a:p>
          <a:p>
            <a:endParaRPr lang="fi-FI" sz="2000" dirty="0"/>
          </a:p>
        </p:txBody>
      </p:sp>
      <p:pic>
        <p:nvPicPr>
          <p:cNvPr id="4" name="Picture 3"/>
          <p:cNvPicPr/>
          <p:nvPr/>
        </p:nvPicPr>
        <p:blipFill>
          <a:blip r:embed="rId3"/>
          <a:stretch>
            <a:fillRect/>
          </a:stretch>
        </p:blipFill>
        <p:spPr>
          <a:xfrm>
            <a:off x="1193122" y="3709297"/>
            <a:ext cx="5579745" cy="2693035"/>
          </a:xfrm>
          <a:prstGeom prst="rect">
            <a:avLst/>
          </a:prstGeom>
        </p:spPr>
      </p:pic>
      <p:sp>
        <p:nvSpPr>
          <p:cNvPr id="5" name="Rectangle 4">
            <a:extLst>
              <a:ext uri="{FF2B5EF4-FFF2-40B4-BE49-F238E27FC236}">
                <a16:creationId xmlns:a16="http://schemas.microsoft.com/office/drawing/2014/main" id="{B79B7291-5408-41B9-6B87-12BD9F98BDA5}"/>
              </a:ext>
            </a:extLst>
          </p:cNvPr>
          <p:cNvSpPr/>
          <p:nvPr/>
        </p:nvSpPr>
        <p:spPr>
          <a:xfrm>
            <a:off x="8066111" y="2271455"/>
            <a:ext cx="3191608" cy="3831818"/>
          </a:xfrm>
          <a:prstGeom prst="rect">
            <a:avLst/>
          </a:prstGeom>
        </p:spPr>
        <p:txBody>
          <a:bodyPr wrap="square">
            <a:spAutoFit/>
          </a:bodyPr>
          <a:lstStyle/>
          <a:p>
            <a:pPr algn="just">
              <a:lnSpc>
                <a:spcPct val="150000"/>
              </a:lnSpc>
              <a:spcAft>
                <a:spcPts val="0"/>
              </a:spcAft>
            </a:pPr>
            <a:r>
              <a:rPr lang="en-US" dirty="0" err="1">
                <a:latin typeface="Arial" panose="020B0604020202020204" pitchFamily="34" charset="0"/>
                <a:ea typeface="Calibri" panose="020F0502020204030204" pitchFamily="34" charset="0"/>
              </a:rPr>
              <a:t>Denver;CO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Salem;OR</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Boulder;CO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Jackson;WY</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Portland;OR</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a:latin typeface="Arial" panose="020B0604020202020204" pitchFamily="34" charset="0"/>
                <a:ea typeface="Calibri" panose="020F0502020204030204" pitchFamily="34" charset="0"/>
              </a:rPr>
              <a:t>Colorado </a:t>
            </a:r>
            <a:r>
              <a:rPr lang="en-US" dirty="0" err="1">
                <a:latin typeface="Arial" panose="020B0604020202020204" pitchFamily="34" charset="0"/>
                <a:ea typeface="Calibri" panose="020F0502020204030204" pitchFamily="34" charset="0"/>
              </a:rPr>
              <a:t>Springs;CO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Cheyenne;WY</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a:latin typeface="Arial" panose="020B0604020202020204" pitchFamily="34" charset="0"/>
                <a:ea typeface="Calibri" panose="020F0502020204030204" pitchFamily="34" charset="0"/>
              </a:rPr>
              <a:t>Gold </a:t>
            </a:r>
            <a:r>
              <a:rPr lang="en-US" dirty="0" err="1">
                <a:latin typeface="Arial" panose="020B0604020202020204" pitchFamily="34" charset="0"/>
                <a:ea typeface="Calibri" panose="020F0502020204030204" pitchFamily="34" charset="0"/>
              </a:rPr>
              <a:t>Hill;CO</a:t>
            </a:r>
            <a:endParaRPr lang="fi-FI" dirty="0">
              <a:latin typeface="Arial" panose="020B0604020202020204" pitchFamily="34" charset="0"/>
              <a:ea typeface="Calibri" panose="020F0502020204030204" pitchFamily="34" charset="0"/>
            </a:endParaRPr>
          </a:p>
          <a:p>
            <a:pPr algn="just">
              <a:lnSpc>
                <a:spcPct val="150000"/>
              </a:lnSpc>
              <a:spcAft>
                <a:spcPts val="0"/>
              </a:spcAft>
            </a:pPr>
            <a:r>
              <a:rPr lang="en-US" dirty="0" err="1">
                <a:latin typeface="Arial" panose="020B0604020202020204" pitchFamily="34" charset="0"/>
                <a:ea typeface="Calibri" panose="020F0502020204030204" pitchFamily="34" charset="0"/>
              </a:rPr>
              <a:t>Cody;WY</a:t>
            </a:r>
            <a:endParaRPr lang="fi-FI" dirty="0">
              <a:latin typeface="Arial" panose="020B060402020202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A04D9082-220A-31FC-4169-9D0CF134238A}"/>
              </a:ext>
            </a:extLst>
          </p:cNvPr>
          <p:cNvSpPr txBox="1"/>
          <p:nvPr/>
        </p:nvSpPr>
        <p:spPr>
          <a:xfrm>
            <a:off x="8066111" y="1334740"/>
            <a:ext cx="1595245" cy="646331"/>
          </a:xfrm>
          <a:prstGeom prst="rect">
            <a:avLst/>
          </a:prstGeom>
          <a:noFill/>
        </p:spPr>
        <p:txBody>
          <a:bodyPr wrap="none" rtlCol="0">
            <a:spAutoFit/>
          </a:bodyPr>
          <a:lstStyle/>
          <a:p>
            <a:r>
              <a:rPr lang="fi-FI" dirty="0"/>
              <a:t>ReadCities.java</a:t>
            </a:r>
          </a:p>
          <a:p>
            <a:r>
              <a:rPr lang="fi-FI" dirty="0"/>
              <a:t>cities.txt</a:t>
            </a:r>
          </a:p>
        </p:txBody>
      </p:sp>
    </p:spTree>
    <p:extLst>
      <p:ext uri="{BB962C8B-B14F-4D97-AF65-F5344CB8AC3E}">
        <p14:creationId xmlns:p14="http://schemas.microsoft.com/office/powerpoint/2010/main" val="53970803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616DB-93B6-164A-0446-175431A095EC}"/>
              </a:ext>
            </a:extLst>
          </p:cNvPr>
          <p:cNvSpPr>
            <a:spLocks noGrp="1"/>
          </p:cNvSpPr>
          <p:nvPr>
            <p:ph type="ctrTitle"/>
          </p:nvPr>
        </p:nvSpPr>
        <p:spPr/>
        <p:txBody>
          <a:bodyPr/>
          <a:lstStyle/>
          <a:p>
            <a:r>
              <a:rPr lang="fi-FI" dirty="0"/>
              <a:t>Jono ja Pino</a:t>
            </a:r>
          </a:p>
        </p:txBody>
      </p:sp>
      <p:sp>
        <p:nvSpPr>
          <p:cNvPr id="3" name="Subtitle 2">
            <a:extLst>
              <a:ext uri="{FF2B5EF4-FFF2-40B4-BE49-F238E27FC236}">
                <a16:creationId xmlns:a16="http://schemas.microsoft.com/office/drawing/2014/main" id="{DCDC2832-6035-34CE-797F-D91A80A1A0E7}"/>
              </a:ext>
            </a:extLst>
          </p:cNvPr>
          <p:cNvSpPr>
            <a:spLocks noGrp="1"/>
          </p:cNvSpPr>
          <p:nvPr>
            <p:ph type="subTitle" idx="1"/>
          </p:nvPr>
        </p:nvSpPr>
        <p:spPr/>
        <p:txBody>
          <a:bodyPr/>
          <a:lstStyle/>
          <a:p>
            <a:endParaRPr lang="fi-FI" dirty="0"/>
          </a:p>
        </p:txBody>
      </p:sp>
    </p:spTree>
    <p:extLst>
      <p:ext uri="{BB962C8B-B14F-4D97-AF65-F5344CB8AC3E}">
        <p14:creationId xmlns:p14="http://schemas.microsoft.com/office/powerpoint/2010/main" val="395717140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AA43-DB4A-AFD6-5B92-913D0746B9E3}"/>
              </a:ext>
            </a:extLst>
          </p:cNvPr>
          <p:cNvSpPr>
            <a:spLocks noGrp="1"/>
          </p:cNvSpPr>
          <p:nvPr>
            <p:ph type="title"/>
          </p:nvPr>
        </p:nvSpPr>
        <p:spPr/>
        <p:txBody>
          <a:bodyPr/>
          <a:lstStyle/>
          <a:p>
            <a:r>
              <a:rPr lang="fi-FI" dirty="0"/>
              <a:t>Jono ja Pino</a:t>
            </a:r>
          </a:p>
        </p:txBody>
      </p:sp>
      <p:sp>
        <p:nvSpPr>
          <p:cNvPr id="3" name="Content Placeholder 2">
            <a:extLst>
              <a:ext uri="{FF2B5EF4-FFF2-40B4-BE49-F238E27FC236}">
                <a16:creationId xmlns:a16="http://schemas.microsoft.com/office/drawing/2014/main" id="{06EDA6FD-A5E6-14FB-1046-8D40AC648D29}"/>
              </a:ext>
            </a:extLst>
          </p:cNvPr>
          <p:cNvSpPr>
            <a:spLocks noGrp="1"/>
          </p:cNvSpPr>
          <p:nvPr>
            <p:ph idx="1"/>
          </p:nvPr>
        </p:nvSpPr>
        <p:spPr/>
        <p:txBody>
          <a:bodyPr/>
          <a:lstStyle/>
          <a:p>
            <a:r>
              <a:rPr lang="fi-FI" dirty="0"/>
              <a:t>Jono: </a:t>
            </a:r>
            <a:r>
              <a:rPr lang="fi-FI" dirty="0" err="1"/>
              <a:t>First</a:t>
            </a:r>
            <a:r>
              <a:rPr lang="fi-FI" dirty="0"/>
              <a:t> in </a:t>
            </a:r>
            <a:r>
              <a:rPr lang="fi-FI" dirty="0" err="1"/>
              <a:t>First</a:t>
            </a:r>
            <a:r>
              <a:rPr lang="fi-FI" dirty="0"/>
              <a:t> out (FIFO)</a:t>
            </a:r>
          </a:p>
          <a:p>
            <a:pPr lvl="1"/>
            <a:r>
              <a:rPr lang="fi-FI" dirty="0"/>
              <a:t>Queue</a:t>
            </a:r>
          </a:p>
          <a:p>
            <a:pPr lvl="1"/>
            <a:r>
              <a:rPr lang="fi-FI" dirty="0"/>
              <a:t>Esimerkki: ohjelma, joka suodattaa kohinan (mittausvirheet) datasta käyttäen liukuvaa keskiarvoa</a:t>
            </a:r>
          </a:p>
          <a:p>
            <a:r>
              <a:rPr lang="fi-FI" dirty="0"/>
              <a:t>Pino: </a:t>
            </a:r>
            <a:r>
              <a:rPr lang="fi-FI" dirty="0" err="1"/>
              <a:t>Last</a:t>
            </a:r>
            <a:r>
              <a:rPr lang="fi-FI" dirty="0"/>
              <a:t> in </a:t>
            </a:r>
            <a:r>
              <a:rPr lang="fi-FI" dirty="0" err="1"/>
              <a:t>First</a:t>
            </a:r>
            <a:r>
              <a:rPr lang="fi-FI" dirty="0"/>
              <a:t> Out (LIFO)</a:t>
            </a:r>
          </a:p>
          <a:p>
            <a:endParaRPr lang="fi-FI" dirty="0"/>
          </a:p>
        </p:txBody>
      </p:sp>
    </p:spTree>
    <p:extLst>
      <p:ext uri="{BB962C8B-B14F-4D97-AF65-F5344CB8AC3E}">
        <p14:creationId xmlns:p14="http://schemas.microsoft.com/office/powerpoint/2010/main" val="327641614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8EA28-E81A-8B39-3651-F861A036AF15}"/>
              </a:ext>
            </a:extLst>
          </p:cNvPr>
          <p:cNvSpPr>
            <a:spLocks noGrp="1"/>
          </p:cNvSpPr>
          <p:nvPr>
            <p:ph type="title"/>
          </p:nvPr>
        </p:nvSpPr>
        <p:spPr/>
        <p:txBody>
          <a:bodyPr/>
          <a:lstStyle/>
          <a:p>
            <a:r>
              <a:rPr lang="fi-FI" dirty="0"/>
              <a:t>Jono</a:t>
            </a:r>
          </a:p>
        </p:txBody>
      </p:sp>
      <p:sp>
        <p:nvSpPr>
          <p:cNvPr id="3" name="Content Placeholder 2">
            <a:extLst>
              <a:ext uri="{FF2B5EF4-FFF2-40B4-BE49-F238E27FC236}">
                <a16:creationId xmlns:a16="http://schemas.microsoft.com/office/drawing/2014/main" id="{336EF9F1-6F7E-3ED3-383D-76ACA11C7DB0}"/>
              </a:ext>
            </a:extLst>
          </p:cNvPr>
          <p:cNvSpPr>
            <a:spLocks noGrp="1"/>
          </p:cNvSpPr>
          <p:nvPr>
            <p:ph idx="1"/>
          </p:nvPr>
        </p:nvSpPr>
        <p:spPr>
          <a:xfrm>
            <a:off x="838200" y="1825625"/>
            <a:ext cx="10965873" cy="3383684"/>
          </a:xfrm>
        </p:spPr>
        <p:txBody>
          <a:bodyPr>
            <a:normAutofit fontScale="85000" lnSpcReduction="10000"/>
          </a:bodyPr>
          <a:lstStyle/>
          <a:p>
            <a:r>
              <a:rPr lang="fi-FI" dirty="0"/>
              <a:t>Jono (engl. </a:t>
            </a:r>
            <a:r>
              <a:rPr lang="fi-FI" dirty="0" err="1"/>
              <a:t>queue</a:t>
            </a:r>
            <a:r>
              <a:rPr lang="fi-FI" dirty="0"/>
              <a:t>) on abstrakti tietotyyppi, jonka lisäys- ja poisto-operaatiot toimivat niin sanotulla FIFO-periaatteella (</a:t>
            </a:r>
            <a:r>
              <a:rPr lang="fi-FI" dirty="0" err="1"/>
              <a:t>First</a:t>
            </a:r>
            <a:r>
              <a:rPr lang="fi-FI" dirty="0"/>
              <a:t> In </a:t>
            </a:r>
            <a:r>
              <a:rPr lang="fi-FI" dirty="0" err="1"/>
              <a:t>First</a:t>
            </a:r>
            <a:r>
              <a:rPr lang="fi-FI" dirty="0"/>
              <a:t> Out).</a:t>
            </a:r>
          </a:p>
          <a:p>
            <a:r>
              <a:rPr lang="fi-FI" dirty="0"/>
              <a:t>Jonolla on kaksi päätä, ja alkio pääsee pois aina toisesta päästä kuin mistä se on lisätty. Näin alkiot käsitellään vuorotellen siten, että kauimmin jonossa ollut alkio käsitellään ensimmäisenä. Jonoa voi verrata esimerkiksi kaupan kassajonoon. Yleensä jonoa käytetäänkin varastoimaan käsittelyä odottavia alkioita.</a:t>
            </a:r>
          </a:p>
          <a:p>
            <a:r>
              <a:rPr lang="fi-FI" dirty="0"/>
              <a:t>Käyttökohteita</a:t>
            </a:r>
          </a:p>
          <a:p>
            <a:pPr lvl="1"/>
            <a:r>
              <a:rPr lang="fi-FI" dirty="0"/>
              <a:t>Puskurimuisti toteutetaan usein jonona. Puskureita käytetään yleensä sisään tulevan (tai ulos menevän) viestiliikenteen väliaikaiseen tallentamiseen.</a:t>
            </a:r>
          </a:p>
          <a:p>
            <a:pPr lvl="1"/>
            <a:r>
              <a:rPr lang="fi-FI" dirty="0"/>
              <a:t>Liukuvan keskiarvon laskenta (tai muu suodatus liukuvan puskurin avulla)</a:t>
            </a:r>
          </a:p>
        </p:txBody>
      </p:sp>
      <p:pic>
        <p:nvPicPr>
          <p:cNvPr id="5" name="Picture 4">
            <a:extLst>
              <a:ext uri="{FF2B5EF4-FFF2-40B4-BE49-F238E27FC236}">
                <a16:creationId xmlns:a16="http://schemas.microsoft.com/office/drawing/2014/main" id="{79EAB24E-A30A-12B5-1E24-7CE2CFB4DD9A}"/>
              </a:ext>
            </a:extLst>
          </p:cNvPr>
          <p:cNvPicPr>
            <a:picLocks noChangeAspect="1"/>
          </p:cNvPicPr>
          <p:nvPr/>
        </p:nvPicPr>
        <p:blipFill>
          <a:blip r:embed="rId2"/>
          <a:stretch>
            <a:fillRect/>
          </a:stretch>
        </p:blipFill>
        <p:spPr>
          <a:xfrm>
            <a:off x="3607818" y="5087938"/>
            <a:ext cx="4358546" cy="1454586"/>
          </a:xfrm>
          <a:prstGeom prst="rect">
            <a:avLst/>
          </a:prstGeom>
        </p:spPr>
      </p:pic>
    </p:spTree>
    <p:extLst>
      <p:ext uri="{BB962C8B-B14F-4D97-AF65-F5344CB8AC3E}">
        <p14:creationId xmlns:p14="http://schemas.microsoft.com/office/powerpoint/2010/main" val="25002235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D76C0-30AC-6841-FC54-7E1934D09FEA}"/>
              </a:ext>
            </a:extLst>
          </p:cNvPr>
          <p:cNvSpPr>
            <a:spLocks noGrp="1"/>
          </p:cNvSpPr>
          <p:nvPr>
            <p:ph type="title"/>
          </p:nvPr>
        </p:nvSpPr>
        <p:spPr/>
        <p:txBody>
          <a:bodyPr/>
          <a:lstStyle/>
          <a:p>
            <a:r>
              <a:rPr lang="fi-FI" dirty="0"/>
              <a:t>Jono Javassa</a:t>
            </a:r>
          </a:p>
        </p:txBody>
      </p:sp>
      <p:sp>
        <p:nvSpPr>
          <p:cNvPr id="3" name="Content Placeholder 2">
            <a:extLst>
              <a:ext uri="{FF2B5EF4-FFF2-40B4-BE49-F238E27FC236}">
                <a16:creationId xmlns:a16="http://schemas.microsoft.com/office/drawing/2014/main" id="{55547555-0119-F545-BBC2-BCD4E086A618}"/>
              </a:ext>
            </a:extLst>
          </p:cNvPr>
          <p:cNvSpPr>
            <a:spLocks noGrp="1"/>
          </p:cNvSpPr>
          <p:nvPr>
            <p:ph idx="1"/>
          </p:nvPr>
        </p:nvSpPr>
        <p:spPr>
          <a:xfrm>
            <a:off x="574950" y="1825688"/>
            <a:ext cx="5770246" cy="3166441"/>
          </a:xfrm>
        </p:spPr>
        <p:txBody>
          <a:bodyPr>
            <a:normAutofit/>
          </a:bodyPr>
          <a:lstStyle/>
          <a:p>
            <a:r>
              <a:rPr lang="fi-FI" sz="2400" dirty="0"/>
              <a:t>Jonon luominen</a:t>
            </a:r>
          </a:p>
          <a:p>
            <a:pPr lvl="1"/>
            <a:r>
              <a:rPr kumimoji="0" lang="fi-FI" altLang="fi-FI" sz="1600" b="0" i="0" u="none" strike="noStrike" cap="none" normalizeH="0" baseline="0" dirty="0">
                <a:ln>
                  <a:noFill/>
                </a:ln>
                <a:solidFill>
                  <a:srgbClr val="000000"/>
                </a:solidFill>
                <a:effectLst/>
                <a:latin typeface="Consolas" panose="020B0609020204030204" pitchFamily="49" charset="0"/>
              </a:rPr>
              <a:t>Queue&lt;</a:t>
            </a:r>
            <a:r>
              <a:rPr kumimoji="0" lang="fi-FI" altLang="fi-FI" sz="1600" b="0" i="0" u="none" strike="noStrike" cap="none" normalizeH="0" baseline="0" dirty="0" err="1">
                <a:ln>
                  <a:noFill/>
                </a:ln>
                <a:solidFill>
                  <a:srgbClr val="000000"/>
                </a:solidFill>
                <a:effectLst/>
                <a:latin typeface="Consolas" panose="020B0609020204030204" pitchFamily="49" charset="0"/>
              </a:rPr>
              <a:t>String</a:t>
            </a:r>
            <a:r>
              <a:rPr kumimoji="0" lang="fi-FI" altLang="fi-FI" sz="1600" b="0" i="0" u="none" strike="noStrike" cap="none" normalizeH="0" baseline="0" dirty="0">
                <a:ln>
                  <a:noFill/>
                </a:ln>
                <a:solidFill>
                  <a:srgbClr val="000000"/>
                </a:solidFill>
                <a:effectLst/>
                <a:latin typeface="Consolas" panose="020B0609020204030204" pitchFamily="49" charset="0"/>
              </a:rPr>
              <a:t>&gt; </a:t>
            </a:r>
            <a:r>
              <a:rPr kumimoji="0" lang="fi-FI" altLang="fi-FI" sz="1600" b="0" i="0" u="none" strike="noStrike" cap="none" normalizeH="0" baseline="0" dirty="0" err="1">
                <a:ln>
                  <a:noFill/>
                </a:ln>
                <a:solidFill>
                  <a:srgbClr val="000000"/>
                </a:solidFill>
                <a:effectLst/>
                <a:latin typeface="Consolas" panose="020B0609020204030204" pitchFamily="49" charset="0"/>
              </a:rPr>
              <a:t>queue</a:t>
            </a:r>
            <a:r>
              <a:rPr kumimoji="0" lang="fi-FI" altLang="fi-FI" sz="1600" b="0" i="0" u="none" strike="noStrike" cap="none" normalizeH="0" baseline="0" dirty="0">
                <a:ln>
                  <a:noFill/>
                </a:ln>
                <a:solidFill>
                  <a:srgbClr val="000000"/>
                </a:solidFill>
                <a:effectLst/>
                <a:latin typeface="Consolas" panose="020B0609020204030204" pitchFamily="49" charset="0"/>
              </a:rPr>
              <a:t> = </a:t>
            </a:r>
            <a:r>
              <a:rPr kumimoji="0" lang="fi-FI" altLang="fi-FI" sz="1600" b="1" i="0" u="none" strike="noStrike" cap="none" normalizeH="0" baseline="0" dirty="0" err="1">
                <a:ln>
                  <a:noFill/>
                </a:ln>
                <a:solidFill>
                  <a:srgbClr val="006699"/>
                </a:solidFill>
                <a:effectLst/>
                <a:latin typeface="Consolas" panose="020B0609020204030204" pitchFamily="49" charset="0"/>
              </a:rPr>
              <a:t>new</a:t>
            </a:r>
            <a:r>
              <a:rPr kumimoji="0" lang="fi-FI" altLang="fi-FI" sz="1600" b="0" i="0" u="none" strike="noStrike" cap="none" normalizeH="0" baseline="0" dirty="0">
                <a:ln>
                  <a:noFill/>
                </a:ln>
                <a:solidFill>
                  <a:srgbClr val="273239"/>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LinkedList</a:t>
            </a:r>
            <a:r>
              <a:rPr kumimoji="0" lang="fi-FI" altLang="fi-FI" sz="1600" b="0" i="0" u="none" strike="noStrike" cap="none" normalizeH="0" baseline="0" dirty="0">
                <a:ln>
                  <a:noFill/>
                </a:ln>
                <a:solidFill>
                  <a:srgbClr val="000000"/>
                </a:solidFill>
                <a:effectLst/>
                <a:latin typeface="Consolas" panose="020B0609020204030204" pitchFamily="49" charset="0"/>
              </a:rPr>
              <a:t>&lt;&gt;();</a:t>
            </a:r>
            <a:endParaRPr lang="fi-FI" sz="1600" dirty="0"/>
          </a:p>
          <a:p>
            <a:r>
              <a:rPr lang="fi-FI" sz="2400" dirty="0"/>
              <a:t>Alkion lisääminen</a:t>
            </a:r>
          </a:p>
          <a:p>
            <a:pPr lvl="1"/>
            <a:r>
              <a:rPr kumimoji="0" lang="fi-FI" altLang="fi-FI" sz="2000" b="0" i="0" u="none" strike="noStrike" cap="none" normalizeH="0" baseline="0" dirty="0" err="1">
                <a:ln>
                  <a:noFill/>
                </a:ln>
                <a:solidFill>
                  <a:srgbClr val="000000"/>
                </a:solidFill>
                <a:effectLst/>
                <a:latin typeface="Consolas" panose="020B0609020204030204" pitchFamily="49" charset="0"/>
              </a:rPr>
              <a:t>queue.add</a:t>
            </a:r>
            <a:r>
              <a:rPr kumimoji="0" lang="fi-FI" altLang="fi-FI" sz="2000" b="0" i="0" u="none" strike="noStrike" cap="none" normalizeH="0" baseline="0" dirty="0">
                <a:ln>
                  <a:noFill/>
                </a:ln>
                <a:solidFill>
                  <a:srgbClr val="000000"/>
                </a:solidFill>
                <a:effectLst/>
                <a:latin typeface="Consolas" panose="020B0609020204030204" pitchFamily="49" charset="0"/>
              </a:rPr>
              <a:t>(</a:t>
            </a:r>
            <a:r>
              <a:rPr kumimoji="0" lang="fi-FI" altLang="fi-FI" sz="2000" b="0" i="0" u="none" strike="noStrike" cap="none" normalizeH="0" baseline="0" dirty="0">
                <a:ln>
                  <a:noFill/>
                </a:ln>
                <a:solidFill>
                  <a:srgbClr val="0000FF"/>
                </a:solidFill>
                <a:effectLst/>
                <a:latin typeface="Consolas" panose="020B0609020204030204" pitchFamily="49" charset="0"/>
              </a:rPr>
              <a:t>"</a:t>
            </a:r>
            <a:r>
              <a:rPr kumimoji="0" lang="fi-FI" altLang="fi-FI" sz="2000" b="0" i="0" u="none" strike="noStrike" cap="none" normalizeH="0" baseline="0" dirty="0" err="1">
                <a:ln>
                  <a:noFill/>
                </a:ln>
                <a:solidFill>
                  <a:srgbClr val="0000FF"/>
                </a:solidFill>
                <a:effectLst/>
                <a:latin typeface="Consolas" panose="020B0609020204030204" pitchFamily="49" charset="0"/>
              </a:rPr>
              <a:t>banana</a:t>
            </a:r>
            <a:r>
              <a:rPr kumimoji="0" lang="fi-FI" altLang="fi-FI" sz="2000" b="0" i="0" u="none" strike="noStrike" cap="none" normalizeH="0" baseline="0" dirty="0">
                <a:ln>
                  <a:noFill/>
                </a:ln>
                <a:solidFill>
                  <a:srgbClr val="0000FF"/>
                </a:solidFill>
                <a:effectLst/>
                <a:latin typeface="Consolas" panose="020B0609020204030204" pitchFamily="49" charset="0"/>
              </a:rPr>
              <a:t>"</a:t>
            </a:r>
            <a:r>
              <a:rPr kumimoji="0" lang="fi-FI" altLang="fi-FI" sz="2000" b="0" i="0" u="none" strike="noStrike" cap="none" normalizeH="0" baseline="0" dirty="0">
                <a:ln>
                  <a:noFill/>
                </a:ln>
                <a:solidFill>
                  <a:srgbClr val="000000"/>
                </a:solidFill>
                <a:effectLst/>
                <a:latin typeface="Consolas" panose="020B0609020204030204" pitchFamily="49" charset="0"/>
              </a:rPr>
              <a:t>);</a:t>
            </a:r>
            <a:endParaRPr lang="fi-FI" sz="2000" dirty="0"/>
          </a:p>
          <a:p>
            <a:r>
              <a:rPr lang="fi-FI" sz="2400" dirty="0"/>
              <a:t>Alkion poistaminen</a:t>
            </a:r>
          </a:p>
          <a:p>
            <a:pPr lvl="1"/>
            <a:r>
              <a:rPr kumimoji="0" lang="fi-FI" altLang="fi-FI" sz="2000" b="0" i="0" u="none" strike="noStrike" cap="none" normalizeH="0" baseline="0" dirty="0" err="1">
                <a:ln>
                  <a:noFill/>
                </a:ln>
                <a:solidFill>
                  <a:srgbClr val="000000"/>
                </a:solidFill>
                <a:effectLst/>
                <a:latin typeface="Consolas" panose="020B0609020204030204" pitchFamily="49" charset="0"/>
              </a:rPr>
              <a:t>String</a:t>
            </a:r>
            <a:r>
              <a:rPr kumimoji="0" lang="fi-FI" altLang="fi-FI" sz="2000" b="0" i="0" u="none" strike="noStrike" cap="none" normalizeH="0" baseline="0" dirty="0">
                <a:ln>
                  <a:noFill/>
                </a:ln>
                <a:solidFill>
                  <a:srgbClr val="000000"/>
                </a:solidFill>
                <a:effectLst/>
                <a:latin typeface="Consolas" panose="020B0609020204030204" pitchFamily="49" charset="0"/>
              </a:rPr>
              <a:t> </a:t>
            </a:r>
            <a:r>
              <a:rPr kumimoji="0" lang="fi-FI" altLang="fi-FI" sz="2000" b="0" i="0" u="none" strike="noStrike" cap="none" normalizeH="0" baseline="0" dirty="0" err="1">
                <a:ln>
                  <a:noFill/>
                </a:ln>
                <a:solidFill>
                  <a:srgbClr val="000000"/>
                </a:solidFill>
                <a:effectLst/>
                <a:latin typeface="Consolas" panose="020B0609020204030204" pitchFamily="49" charset="0"/>
              </a:rPr>
              <a:t>front</a:t>
            </a:r>
            <a:r>
              <a:rPr kumimoji="0" lang="fi-FI" altLang="fi-FI" sz="2000" b="0" i="0" u="none" strike="noStrike" cap="none" normalizeH="0" baseline="0" dirty="0">
                <a:ln>
                  <a:noFill/>
                </a:ln>
                <a:solidFill>
                  <a:srgbClr val="000000"/>
                </a:solidFill>
                <a:effectLst/>
                <a:latin typeface="Consolas" panose="020B0609020204030204" pitchFamily="49" charset="0"/>
              </a:rPr>
              <a:t> = </a:t>
            </a:r>
            <a:r>
              <a:rPr kumimoji="0" lang="fi-FI" altLang="fi-FI" sz="2000" b="0" i="0" u="none" strike="noStrike" cap="none" normalizeH="0" baseline="0" dirty="0" err="1">
                <a:ln>
                  <a:noFill/>
                </a:ln>
                <a:solidFill>
                  <a:srgbClr val="000000"/>
                </a:solidFill>
                <a:effectLst/>
                <a:latin typeface="Consolas" panose="020B0609020204030204" pitchFamily="49" charset="0"/>
              </a:rPr>
              <a:t>queue.remove</a:t>
            </a:r>
            <a:r>
              <a:rPr kumimoji="0" lang="fi-FI" altLang="fi-FI" sz="2000" b="0" i="0" u="none" strike="noStrike" cap="none" normalizeH="0" baseline="0" dirty="0">
                <a:ln>
                  <a:noFill/>
                </a:ln>
                <a:solidFill>
                  <a:srgbClr val="000000"/>
                </a:solidFill>
                <a:effectLst/>
                <a:latin typeface="Consolas" panose="020B0609020204030204" pitchFamily="49" charset="0"/>
              </a:rPr>
              <a:t>();</a:t>
            </a:r>
            <a:endParaRPr kumimoji="0" lang="fi-FI" altLang="fi-FI" sz="800" b="0" i="0" u="none" strike="noStrike" cap="none" normalizeH="0" baseline="0" dirty="0">
              <a:ln>
                <a:noFill/>
              </a:ln>
              <a:solidFill>
                <a:schemeClr val="tx1"/>
              </a:solidFill>
              <a:effectLst/>
            </a:endParaRPr>
          </a:p>
          <a:p>
            <a:pPr lvl="1"/>
            <a:endParaRPr lang="fi-FI" sz="2000" dirty="0"/>
          </a:p>
          <a:p>
            <a:endParaRPr lang="fi-FI" sz="2400" dirty="0"/>
          </a:p>
          <a:p>
            <a:pPr lvl="1"/>
            <a:endParaRPr lang="fi-FI" dirty="0"/>
          </a:p>
        </p:txBody>
      </p:sp>
      <p:pic>
        <p:nvPicPr>
          <p:cNvPr id="5" name="Picture 4">
            <a:extLst>
              <a:ext uri="{FF2B5EF4-FFF2-40B4-BE49-F238E27FC236}">
                <a16:creationId xmlns:a16="http://schemas.microsoft.com/office/drawing/2014/main" id="{3228A91E-99B5-6ABC-22D4-A33EAF7D8D4E}"/>
              </a:ext>
            </a:extLst>
          </p:cNvPr>
          <p:cNvPicPr>
            <a:picLocks noChangeAspect="1"/>
          </p:cNvPicPr>
          <p:nvPr/>
        </p:nvPicPr>
        <p:blipFill>
          <a:blip r:embed="rId2"/>
          <a:stretch>
            <a:fillRect/>
          </a:stretch>
        </p:blipFill>
        <p:spPr>
          <a:xfrm>
            <a:off x="6164681" y="241367"/>
            <a:ext cx="4715444" cy="3544865"/>
          </a:xfrm>
          <a:prstGeom prst="rect">
            <a:avLst/>
          </a:prstGeom>
        </p:spPr>
      </p:pic>
      <p:sp>
        <p:nvSpPr>
          <p:cNvPr id="6" name="Rectangle 2">
            <a:extLst>
              <a:ext uri="{FF2B5EF4-FFF2-40B4-BE49-F238E27FC236}">
                <a16:creationId xmlns:a16="http://schemas.microsoft.com/office/drawing/2014/main" id="{FA76642D-6F36-B621-9AE4-50160DA3829D}"/>
              </a:ext>
            </a:extLst>
          </p:cNvPr>
          <p:cNvSpPr>
            <a:spLocks noChangeArrowheads="1"/>
          </p:cNvSpPr>
          <p:nvPr/>
        </p:nvSpPr>
        <p:spPr bwMode="auto">
          <a:xfrm>
            <a:off x="6164681" y="3921233"/>
            <a:ext cx="4596713"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0000"/>
                </a:solidFill>
                <a:effectLst/>
                <a:latin typeface="Consolas" panose="020B0609020204030204" pitchFamily="49" charset="0"/>
              </a:rPr>
              <a:t>Queue&lt;</a:t>
            </a:r>
            <a:r>
              <a:rPr kumimoji="0" lang="fi-FI" altLang="fi-FI" sz="1100" b="0" i="0" u="none" strike="noStrike" cap="none" normalizeH="0" baseline="0" dirty="0" err="1">
                <a:ln>
                  <a:noFill/>
                </a:ln>
                <a:solidFill>
                  <a:srgbClr val="000000"/>
                </a:solidFill>
                <a:effectLst/>
                <a:latin typeface="Consolas" panose="020B0609020204030204" pitchFamily="49" charset="0"/>
              </a:rPr>
              <a:t>String</a:t>
            </a:r>
            <a:r>
              <a:rPr kumimoji="0" lang="fi-FI" altLang="fi-FI" sz="1100" b="0" i="0" u="none" strike="noStrike" cap="none" normalizeH="0" baseline="0" dirty="0">
                <a:ln>
                  <a:noFill/>
                </a:ln>
                <a:solidFill>
                  <a:srgbClr val="000000"/>
                </a:solidFill>
                <a:effectLst/>
                <a:latin typeface="Consolas" panose="020B0609020204030204" pitchFamily="49" charset="0"/>
              </a:rPr>
              <a:t>&gt; </a:t>
            </a:r>
            <a:r>
              <a:rPr kumimoji="0" lang="fi-FI" altLang="fi-FI" sz="1100" b="0" i="0" u="none" strike="noStrike" cap="none" normalizeH="0" baseline="0" dirty="0" err="1">
                <a:ln>
                  <a:noFill/>
                </a:ln>
                <a:solidFill>
                  <a:srgbClr val="000000"/>
                </a:solidFill>
                <a:effectLst/>
                <a:latin typeface="Consolas" panose="020B0609020204030204" pitchFamily="49" charset="0"/>
              </a:rPr>
              <a:t>queue</a:t>
            </a:r>
            <a:r>
              <a:rPr kumimoji="0" lang="fi-FI" altLang="fi-FI" sz="1100" b="0" i="0" u="none" strike="noStrike" cap="none" normalizeH="0" baseline="0" dirty="0">
                <a:ln>
                  <a:noFill/>
                </a:ln>
                <a:solidFill>
                  <a:srgbClr val="000000"/>
                </a:solidFill>
                <a:effectLst/>
                <a:latin typeface="Consolas" panose="020B0609020204030204" pitchFamily="49" charset="0"/>
              </a:rPr>
              <a:t> = </a:t>
            </a:r>
            <a:r>
              <a:rPr kumimoji="0" lang="fi-FI" altLang="fi-FI" sz="1100" b="1" i="0" u="none" strike="noStrike" cap="none" normalizeH="0" baseline="0" dirty="0" err="1">
                <a:ln>
                  <a:noFill/>
                </a:ln>
                <a:solidFill>
                  <a:srgbClr val="006699"/>
                </a:solidFill>
                <a:effectLst/>
                <a:latin typeface="Consolas" panose="020B0609020204030204" pitchFamily="49" charset="0"/>
              </a:rPr>
              <a:t>new</a:t>
            </a:r>
            <a:r>
              <a:rPr kumimoji="0" lang="fi-FI" altLang="fi-FI" sz="6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LinkedList</a:t>
            </a:r>
            <a:r>
              <a:rPr kumimoji="0" lang="fi-FI" altLang="fi-FI" sz="1100" b="0" i="0" u="none" strike="noStrike" cap="none" normalizeH="0" baseline="0" dirty="0">
                <a:ln>
                  <a:noFill/>
                </a:ln>
                <a:solidFill>
                  <a:srgbClr val="000000"/>
                </a:solidFill>
                <a:effectLst/>
                <a:latin typeface="Consolas" panose="020B0609020204030204" pitchFamily="49" charset="0"/>
              </a:rPr>
              <a:t>&lt;&gt;();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800" b="0" i="0" u="none" strike="noStrike" cap="none" normalizeH="0" baseline="0" dirty="0">
                <a:ln>
                  <a:noFill/>
                </a:ln>
                <a:solidFill>
                  <a:srgbClr val="273239"/>
                </a:solidFill>
                <a:effectLst/>
                <a:latin typeface="Consolas" panose="020B0609020204030204" pitchFamily="49" charset="0"/>
              </a:rPr>
              <a:t> </a:t>
            </a:r>
            <a:endParaRPr kumimoji="0" lang="fi-FI" altLang="fi-FI"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add</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elements</a:t>
            </a:r>
            <a:r>
              <a:rPr kumimoji="0" lang="fi-FI" altLang="fi-FI" sz="1100" b="0" i="0" u="none" strike="noStrike" cap="none" normalizeH="0" baseline="0" dirty="0">
                <a:ln>
                  <a:noFill/>
                </a:ln>
                <a:solidFill>
                  <a:srgbClr val="008200"/>
                </a:solidFill>
                <a:effectLst/>
                <a:latin typeface="Consolas" panose="020B0609020204030204" pitchFamily="49" charset="0"/>
              </a:rPr>
              <a:t> to </a:t>
            </a:r>
            <a:r>
              <a:rPr kumimoji="0" lang="fi-FI" altLang="fi-FI" sz="1100" b="0" i="0" u="none" strike="noStrike" cap="none" normalizeH="0" baseline="0" dirty="0" err="1">
                <a:ln>
                  <a:noFill/>
                </a:ln>
                <a:solidFill>
                  <a:srgbClr val="008200"/>
                </a:solidFill>
                <a:effectLst/>
                <a:latin typeface="Consolas" panose="020B0609020204030204" pitchFamily="49" charset="0"/>
              </a:rPr>
              <a:t>the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queue</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queue.add</a:t>
            </a:r>
            <a:r>
              <a:rPr kumimoji="0" lang="fi-FI" altLang="fi-FI" sz="1100" b="0" i="0" u="none" strike="noStrike" cap="none" normalizeH="0" baseline="0" dirty="0">
                <a:ln>
                  <a:noFill/>
                </a:ln>
                <a:solidFill>
                  <a:srgbClr val="000000"/>
                </a:solidFill>
                <a:effectLst/>
                <a:latin typeface="Consolas" panose="020B0609020204030204" pitchFamily="49" charset="0"/>
              </a:rPr>
              <a:t>(</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err="1">
                <a:ln>
                  <a:noFill/>
                </a:ln>
                <a:solidFill>
                  <a:srgbClr val="0000FF"/>
                </a:solidFill>
                <a:effectLst/>
                <a:latin typeface="Consolas" panose="020B0609020204030204" pitchFamily="49" charset="0"/>
              </a:rPr>
              <a:t>apple</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queue.add</a:t>
            </a:r>
            <a:r>
              <a:rPr kumimoji="0" lang="fi-FI" altLang="fi-FI" sz="1100" b="0" i="0" u="none" strike="noStrike" cap="none" normalizeH="0" baseline="0" dirty="0">
                <a:ln>
                  <a:noFill/>
                </a:ln>
                <a:solidFill>
                  <a:srgbClr val="000000"/>
                </a:solidFill>
                <a:effectLst/>
                <a:latin typeface="Consolas" panose="020B0609020204030204" pitchFamily="49" charset="0"/>
              </a:rPr>
              <a:t>(</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err="1">
                <a:ln>
                  <a:noFill/>
                </a:ln>
                <a:solidFill>
                  <a:srgbClr val="0000FF"/>
                </a:solidFill>
                <a:effectLst/>
                <a:latin typeface="Consolas" panose="020B0609020204030204" pitchFamily="49" charset="0"/>
              </a:rPr>
              <a:t>banana</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queue.add</a:t>
            </a:r>
            <a:r>
              <a:rPr kumimoji="0" lang="fi-FI" altLang="fi-FI" sz="1100" b="0" i="0" u="none" strike="noStrike" cap="none" normalizeH="0" baseline="0" dirty="0">
                <a:ln>
                  <a:noFill/>
                </a:ln>
                <a:solidFill>
                  <a:srgbClr val="000000"/>
                </a:solidFill>
                <a:effectLst/>
                <a:latin typeface="Consolas" panose="020B0609020204030204" pitchFamily="49" charset="0"/>
              </a:rPr>
              <a:t>(</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err="1">
                <a:ln>
                  <a:noFill/>
                </a:ln>
                <a:solidFill>
                  <a:srgbClr val="0000FF"/>
                </a:solidFill>
                <a:effectLst/>
                <a:latin typeface="Consolas" panose="020B0609020204030204" pitchFamily="49" charset="0"/>
              </a:rPr>
              <a:t>cherry</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800" b="0" i="0" u="none" strike="noStrike" cap="none" normalizeH="0" baseline="0" dirty="0">
                <a:ln>
                  <a:noFill/>
                </a:ln>
                <a:solidFill>
                  <a:srgbClr val="273239"/>
                </a:solidFill>
                <a:effectLst/>
                <a:latin typeface="Consolas" panose="020B0609020204030204" pitchFamily="49" charset="0"/>
              </a:rPr>
              <a:t> </a:t>
            </a:r>
            <a:endParaRPr kumimoji="0" lang="fi-FI" altLang="fi-FI"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print</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the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queue</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System.out.println</a:t>
            </a:r>
            <a:r>
              <a:rPr kumimoji="0" lang="fi-FI" altLang="fi-FI" sz="1100" b="0" i="0" u="none" strike="noStrike" cap="none" normalizeH="0" baseline="0" dirty="0">
                <a:ln>
                  <a:noFill/>
                </a:ln>
                <a:solidFill>
                  <a:srgbClr val="000000"/>
                </a:solidFill>
                <a:effectLst/>
                <a:latin typeface="Consolas" panose="020B0609020204030204" pitchFamily="49" charset="0"/>
              </a:rPr>
              <a:t>(</a:t>
            </a:r>
            <a:r>
              <a:rPr kumimoji="0" lang="fi-FI" altLang="fi-FI" sz="1100" b="0" i="0" u="none" strike="noStrike" cap="none" normalizeH="0" baseline="0" dirty="0">
                <a:ln>
                  <a:noFill/>
                </a:ln>
                <a:solidFill>
                  <a:srgbClr val="0000FF"/>
                </a:solidFill>
                <a:effectLst/>
                <a:latin typeface="Consolas" panose="020B0609020204030204" pitchFamily="49" charset="0"/>
              </a:rPr>
              <a:t>"Queue: "</a:t>
            </a:r>
            <a:r>
              <a:rPr kumimoji="0" lang="fi-FI" altLang="fi-FI" sz="6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0000"/>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queue</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800" b="0" i="0" u="none" strike="noStrike" cap="none" normalizeH="0" baseline="0" dirty="0">
                <a:ln>
                  <a:noFill/>
                </a:ln>
                <a:solidFill>
                  <a:srgbClr val="273239"/>
                </a:solidFill>
                <a:effectLst/>
                <a:latin typeface="Consolas" panose="020B0609020204030204" pitchFamily="49" charset="0"/>
              </a:rPr>
              <a:t> </a:t>
            </a:r>
            <a:endParaRPr kumimoji="0" lang="fi-FI" altLang="fi-FI"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remove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the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element</a:t>
            </a:r>
            <a:r>
              <a:rPr kumimoji="0" lang="fi-FI" altLang="fi-FI" sz="1100" b="0" i="0" u="none" strike="noStrike" cap="none" normalizeH="0" baseline="0" dirty="0">
                <a:ln>
                  <a:noFill/>
                </a:ln>
                <a:solidFill>
                  <a:srgbClr val="008200"/>
                </a:solidFill>
                <a:effectLst/>
                <a:latin typeface="Consolas" panose="020B0609020204030204" pitchFamily="49" charset="0"/>
              </a:rPr>
              <a:t> at </a:t>
            </a:r>
            <a:r>
              <a:rPr kumimoji="0" lang="fi-FI" altLang="fi-FI" sz="1100" b="0" i="0" u="none" strike="noStrike" cap="none" normalizeH="0" baseline="0" dirty="0" err="1">
                <a:ln>
                  <a:noFill/>
                </a:ln>
                <a:solidFill>
                  <a:srgbClr val="008200"/>
                </a:solidFill>
                <a:effectLst/>
                <a:latin typeface="Consolas" panose="020B0609020204030204" pitchFamily="49" charset="0"/>
              </a:rPr>
              <a:t>the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front</a:t>
            </a:r>
            <a:r>
              <a:rPr kumimoji="0" lang="fi-FI" altLang="fi-FI" sz="1100" b="0" i="0" u="none" strike="noStrike" cap="none" normalizeH="0" baseline="0" dirty="0">
                <a:ln>
                  <a:noFill/>
                </a:ln>
                <a:solidFill>
                  <a:srgbClr val="008200"/>
                </a:solidFill>
                <a:effectLst/>
                <a:latin typeface="Consolas" panose="020B0609020204030204" pitchFamily="49" charset="0"/>
              </a:rPr>
              <a:t> of </a:t>
            </a:r>
            <a:r>
              <a:rPr kumimoji="0" lang="fi-FI" altLang="fi-FI" sz="1100" b="0" i="0" u="none" strike="noStrike" cap="none" normalizeH="0" baseline="0" dirty="0" err="1">
                <a:ln>
                  <a:noFill/>
                </a:ln>
                <a:solidFill>
                  <a:srgbClr val="008200"/>
                </a:solidFill>
                <a:effectLst/>
                <a:latin typeface="Consolas" panose="020B0609020204030204" pitchFamily="49" charset="0"/>
              </a:rPr>
              <a:t>the</a:t>
            </a:r>
            <a:r>
              <a:rPr kumimoji="0" lang="fi-FI" altLang="fi-FI" sz="1100" b="0" i="0" u="none" strike="noStrike" cap="none" normalizeH="0" baseline="0" dirty="0">
                <a:ln>
                  <a:noFill/>
                </a:ln>
                <a:solidFill>
                  <a:srgbClr val="008200"/>
                </a:solidFill>
                <a:effectLst/>
                <a:latin typeface="Consolas" panose="020B0609020204030204" pitchFamily="49" charset="0"/>
              </a:rPr>
              <a:t> </a:t>
            </a:r>
            <a:r>
              <a:rPr kumimoji="0" lang="fi-FI" altLang="fi-FI" sz="1100" b="0" i="0" u="none" strike="noStrike" cap="none" normalizeH="0" baseline="0" dirty="0" err="1">
                <a:ln>
                  <a:noFill/>
                </a:ln>
                <a:solidFill>
                  <a:srgbClr val="008200"/>
                </a:solidFill>
                <a:effectLst/>
                <a:latin typeface="Consolas" panose="020B0609020204030204" pitchFamily="49" charset="0"/>
              </a:rPr>
              <a:t>queue</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String</a:t>
            </a:r>
            <a:r>
              <a:rPr kumimoji="0" lang="fi-FI" altLang="fi-FI" sz="1100" b="0" i="0" u="none" strike="noStrike" cap="none" normalizeH="0" baseline="0" dirty="0">
                <a:ln>
                  <a:noFill/>
                </a:ln>
                <a:solidFill>
                  <a:srgbClr val="000000"/>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front</a:t>
            </a:r>
            <a:r>
              <a:rPr kumimoji="0" lang="fi-FI" altLang="fi-FI" sz="1100" b="0" i="0" u="none" strike="noStrike" cap="none" normalizeH="0" baseline="0" dirty="0">
                <a:ln>
                  <a:noFill/>
                </a:ln>
                <a:solidFill>
                  <a:srgbClr val="000000"/>
                </a:solidFill>
                <a:effectLst/>
                <a:latin typeface="Consolas" panose="020B0609020204030204" pitchFamily="49" charset="0"/>
              </a:rPr>
              <a:t> = </a:t>
            </a:r>
            <a:r>
              <a:rPr kumimoji="0" lang="fi-FI" altLang="fi-FI" sz="1100" b="0" i="0" u="none" strike="noStrike" cap="none" normalizeH="0" baseline="0" dirty="0" err="1">
                <a:ln>
                  <a:noFill/>
                </a:ln>
                <a:solidFill>
                  <a:srgbClr val="000000"/>
                </a:solidFill>
                <a:effectLst/>
                <a:latin typeface="Consolas" panose="020B0609020204030204" pitchFamily="49" charset="0"/>
              </a:rPr>
              <a:t>queue.remove</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fi-FI" sz="11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System.out.println</a:t>
            </a:r>
            <a:r>
              <a:rPr kumimoji="0" lang="fi-FI" altLang="fi-FI" sz="1100" b="0" i="0" u="none" strike="noStrike" cap="none" normalizeH="0" baseline="0" dirty="0">
                <a:ln>
                  <a:noFill/>
                </a:ln>
                <a:solidFill>
                  <a:srgbClr val="000000"/>
                </a:solidFill>
                <a:effectLst/>
                <a:latin typeface="Consolas" panose="020B0609020204030204" pitchFamily="49" charset="0"/>
              </a:rPr>
              <a:t>(</a:t>
            </a:r>
            <a:r>
              <a:rPr kumimoji="0" lang="fi-FI" altLang="fi-FI" sz="1100" b="0" i="0" u="none" strike="noStrike" cap="none" normalizeH="0" baseline="0" dirty="0">
                <a:ln>
                  <a:noFill/>
                </a:ln>
                <a:solidFill>
                  <a:srgbClr val="0000FF"/>
                </a:solidFill>
                <a:effectLst/>
                <a:latin typeface="Consolas" panose="020B0609020204030204" pitchFamily="49" charset="0"/>
              </a:rPr>
              <a:t>"</a:t>
            </a:r>
            <a:r>
              <a:rPr kumimoji="0" lang="fi-FI" altLang="fi-FI" sz="1100" b="0" i="0" u="none" strike="noStrike" cap="none" normalizeH="0" baseline="0" dirty="0" err="1">
                <a:ln>
                  <a:noFill/>
                </a:ln>
                <a:solidFill>
                  <a:srgbClr val="0000FF"/>
                </a:solidFill>
                <a:effectLst/>
                <a:latin typeface="Consolas" panose="020B0609020204030204" pitchFamily="49" charset="0"/>
              </a:rPr>
              <a:t>Removed</a:t>
            </a:r>
            <a:r>
              <a:rPr kumimoji="0" lang="fi-FI" altLang="fi-FI" sz="1100" b="0" i="0" u="none" strike="noStrike" cap="none" normalizeH="0" baseline="0" dirty="0">
                <a:ln>
                  <a:noFill/>
                </a:ln>
                <a:solidFill>
                  <a:srgbClr val="0000FF"/>
                </a:solidFill>
                <a:effectLst/>
                <a:latin typeface="Consolas" panose="020B0609020204030204" pitchFamily="49" charset="0"/>
              </a:rPr>
              <a:t> </a:t>
            </a:r>
            <a:r>
              <a:rPr kumimoji="0" lang="fi-FI" altLang="fi-FI" sz="1100" b="0" i="0" u="none" strike="noStrike" cap="none" normalizeH="0" baseline="0" dirty="0" err="1">
                <a:ln>
                  <a:noFill/>
                </a:ln>
                <a:solidFill>
                  <a:srgbClr val="0000FF"/>
                </a:solidFill>
                <a:effectLst/>
                <a:latin typeface="Consolas" panose="020B0609020204030204" pitchFamily="49" charset="0"/>
              </a:rPr>
              <a:t>element</a:t>
            </a:r>
            <a:r>
              <a:rPr kumimoji="0" lang="fi-FI" altLang="fi-FI" sz="1100" b="0" i="0" u="none" strike="noStrike" cap="none" normalizeH="0" baseline="0" dirty="0">
                <a:ln>
                  <a:noFill/>
                </a:ln>
                <a:solidFill>
                  <a:srgbClr val="0000FF"/>
                </a:solidFill>
                <a:effectLst/>
                <a:latin typeface="Consolas" panose="020B0609020204030204" pitchFamily="49" charset="0"/>
              </a:rPr>
              <a:t>: "</a:t>
            </a:r>
            <a:r>
              <a:rPr kumimoji="0" lang="fi-FI" altLang="fi-FI" sz="600" b="0" i="0" u="none" strike="noStrike" cap="none" normalizeH="0" baseline="0" dirty="0">
                <a:ln>
                  <a:noFill/>
                </a:ln>
                <a:solidFill>
                  <a:srgbClr val="273239"/>
                </a:solidFill>
                <a:effectLst/>
                <a:latin typeface="Consolas" panose="020B0609020204030204" pitchFamily="49" charset="0"/>
              </a:rPr>
              <a:t> </a:t>
            </a:r>
            <a:r>
              <a:rPr kumimoji="0" lang="fi-FI" altLang="fi-FI" sz="1100" b="0" i="0" u="none" strike="noStrike" cap="none" normalizeH="0" baseline="0" dirty="0">
                <a:ln>
                  <a:noFill/>
                </a:ln>
                <a:solidFill>
                  <a:srgbClr val="000000"/>
                </a:solidFill>
                <a:effectLst/>
                <a:latin typeface="Consolas" panose="020B0609020204030204" pitchFamily="49" charset="0"/>
              </a:rPr>
              <a:t>+ </a:t>
            </a:r>
            <a:r>
              <a:rPr kumimoji="0" lang="fi-FI" altLang="fi-FI" sz="1100" b="0" i="0" u="none" strike="noStrike" cap="none" normalizeH="0" baseline="0" dirty="0" err="1">
                <a:ln>
                  <a:noFill/>
                </a:ln>
                <a:solidFill>
                  <a:srgbClr val="000000"/>
                </a:solidFill>
                <a:effectLst/>
                <a:latin typeface="Consolas" panose="020B0609020204030204" pitchFamily="49" charset="0"/>
              </a:rPr>
              <a:t>front</a:t>
            </a:r>
            <a:r>
              <a:rPr kumimoji="0" lang="fi-FI" altLang="fi-FI" sz="1100" b="0" i="0" u="none" strike="noStrike" cap="none" normalizeH="0" baseline="0" dirty="0">
                <a:ln>
                  <a:noFill/>
                </a:ln>
                <a:solidFill>
                  <a:srgbClr val="000000"/>
                </a:solidFill>
                <a:effectLst/>
                <a:latin typeface="Consolas" panose="020B0609020204030204" pitchFamily="49" charset="0"/>
              </a:rPr>
              <a:t>);</a:t>
            </a:r>
            <a:endParaRPr kumimoji="0" lang="fi-FI" altLang="fi-FI"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DFFD00C6-1488-ED10-0C93-CC3B7BDF61CC}"/>
              </a:ext>
            </a:extLst>
          </p:cNvPr>
          <p:cNvSpPr txBox="1"/>
          <p:nvPr/>
        </p:nvSpPr>
        <p:spPr>
          <a:xfrm>
            <a:off x="412588" y="6018426"/>
            <a:ext cx="6094970" cy="369332"/>
          </a:xfrm>
          <a:prstGeom prst="rect">
            <a:avLst/>
          </a:prstGeom>
          <a:noFill/>
        </p:spPr>
        <p:txBody>
          <a:bodyPr wrap="square">
            <a:spAutoFit/>
          </a:bodyPr>
          <a:lstStyle/>
          <a:p>
            <a:r>
              <a:rPr lang="fi-FI" dirty="0">
                <a:hlinkClick r:id="rId3"/>
              </a:rPr>
              <a:t>https://www.geeksforgeeks.org/queue-interface-java/</a:t>
            </a:r>
            <a:r>
              <a:rPr lang="fi-FI" dirty="0"/>
              <a:t> </a:t>
            </a:r>
          </a:p>
        </p:txBody>
      </p:sp>
    </p:spTree>
    <p:extLst>
      <p:ext uri="{BB962C8B-B14F-4D97-AF65-F5344CB8AC3E}">
        <p14:creationId xmlns:p14="http://schemas.microsoft.com/office/powerpoint/2010/main" val="229277365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02D7-F605-705D-2033-B79C1F8D6E7E}"/>
              </a:ext>
            </a:extLst>
          </p:cNvPr>
          <p:cNvSpPr>
            <a:spLocks noGrp="1"/>
          </p:cNvSpPr>
          <p:nvPr>
            <p:ph type="title"/>
          </p:nvPr>
        </p:nvSpPr>
        <p:spPr/>
        <p:txBody>
          <a:bodyPr/>
          <a:lstStyle/>
          <a:p>
            <a:r>
              <a:rPr lang="fi-FI" dirty="0"/>
              <a:t>Jono Javassa - esimerkki</a:t>
            </a:r>
          </a:p>
        </p:txBody>
      </p:sp>
      <p:sp>
        <p:nvSpPr>
          <p:cNvPr id="3" name="Content Placeholder 2">
            <a:extLst>
              <a:ext uri="{FF2B5EF4-FFF2-40B4-BE49-F238E27FC236}">
                <a16:creationId xmlns:a16="http://schemas.microsoft.com/office/drawing/2014/main" id="{2211219C-A818-94B5-FAAE-7939854DF66A}"/>
              </a:ext>
            </a:extLst>
          </p:cNvPr>
          <p:cNvSpPr>
            <a:spLocks noGrp="1"/>
          </p:cNvSpPr>
          <p:nvPr>
            <p:ph idx="1"/>
          </p:nvPr>
        </p:nvSpPr>
        <p:spPr>
          <a:xfrm>
            <a:off x="838200" y="1825625"/>
            <a:ext cx="5093043" cy="4351338"/>
          </a:xfrm>
        </p:spPr>
        <p:txBody>
          <a:bodyPr>
            <a:normAutofit fontScale="85000" lnSpcReduction="20000"/>
          </a:bodyPr>
          <a:lstStyle/>
          <a:p>
            <a:r>
              <a:rPr lang="fi-FI" dirty="0"/>
              <a:t>Ohessa liukuvan keskiarvon laskenta</a:t>
            </a:r>
          </a:p>
          <a:p>
            <a:r>
              <a:rPr lang="fi-FI" dirty="0"/>
              <a:t>Jonoon lisätään yksi uusi mittaus kerrallaan</a:t>
            </a:r>
          </a:p>
          <a:p>
            <a:r>
              <a:rPr lang="fi-FI" dirty="0"/>
              <a:t>Kun jonossa on vaikka 10 mittausta, poistetaan vanhin alkio (jonon maksimipituus on 10)</a:t>
            </a:r>
          </a:p>
          <a:p>
            <a:r>
              <a:rPr lang="fi-FI" dirty="0"/>
              <a:t>Aina kun uusi mittaus on lisätty, lasketaan keskiarvo</a:t>
            </a:r>
          </a:p>
          <a:p>
            <a:r>
              <a:rPr lang="fi-FI" dirty="0"/>
              <a:t>Kun aikasarjadata käydään läpi tällä tavoin, saadaan suodatettua kohinaa mittauksista pois.</a:t>
            </a:r>
          </a:p>
          <a:p>
            <a:r>
              <a:rPr lang="fi-FI" dirty="0"/>
              <a:t>Keskiarvon laskemisen sijaan voidaan tehdä suoran sovitusta tai toteuttaa alipäästösuodin (esim. FIR). </a:t>
            </a:r>
          </a:p>
        </p:txBody>
      </p:sp>
      <p:sp>
        <p:nvSpPr>
          <p:cNvPr id="5" name="TextBox 4">
            <a:extLst>
              <a:ext uri="{FF2B5EF4-FFF2-40B4-BE49-F238E27FC236}">
                <a16:creationId xmlns:a16="http://schemas.microsoft.com/office/drawing/2014/main" id="{054108E1-7302-C334-366A-BCEAC0ED9456}"/>
              </a:ext>
            </a:extLst>
          </p:cNvPr>
          <p:cNvSpPr txBox="1"/>
          <p:nvPr/>
        </p:nvSpPr>
        <p:spPr>
          <a:xfrm>
            <a:off x="5710365" y="1554470"/>
            <a:ext cx="6660807" cy="4893647"/>
          </a:xfrm>
          <a:prstGeom prst="rect">
            <a:avLst/>
          </a:prstGeom>
          <a:noFill/>
        </p:spPr>
        <p:txBody>
          <a:bodyPr wrap="square">
            <a:spAutoFit/>
          </a:bodyPr>
          <a:lstStyle/>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 tehdään jono</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Queue</a:t>
            </a:r>
            <a:r>
              <a:rPr lang="fi-FI" sz="1200" b="0" dirty="0">
                <a:solidFill>
                  <a:srgbClr val="000000"/>
                </a:solidFill>
                <a:effectLst/>
                <a:latin typeface="Consolas" panose="020B0609020204030204" pitchFamily="49" charset="0"/>
              </a:rPr>
              <a:t>&lt;</a:t>
            </a:r>
            <a:r>
              <a:rPr lang="fi-FI" sz="1200" b="0" dirty="0" err="1">
                <a:solidFill>
                  <a:srgbClr val="0000FF"/>
                </a:solidFill>
                <a:effectLst/>
                <a:latin typeface="Consolas" panose="020B0609020204030204" pitchFamily="49" charset="0"/>
              </a:rPr>
              <a:t>Double</a:t>
            </a:r>
            <a:r>
              <a:rPr lang="fi-FI" sz="1200" b="0" dirty="0">
                <a:solidFill>
                  <a:srgbClr val="000000"/>
                </a:solidFill>
                <a:effectLst/>
                <a:latin typeface="Consolas" panose="020B0609020204030204" pitchFamily="49" charset="0"/>
              </a:rPr>
              <a:t>&gt; jono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LinkedList</a:t>
            </a:r>
            <a:r>
              <a:rPr lang="fi-FI" sz="1200" b="0" dirty="0">
                <a:solidFill>
                  <a:srgbClr val="000000"/>
                </a:solidFill>
                <a:effectLst/>
                <a:latin typeface="Consolas" panose="020B0609020204030204" pitchFamily="49" charset="0"/>
              </a:rPr>
              <a:t>&lt;&gt;(); </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try</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 tiedosto = </a:t>
            </a:r>
            <a:r>
              <a:rPr lang="fi-FI" sz="1200" b="0" dirty="0" err="1">
                <a:solidFill>
                  <a:srgbClr val="0000FF"/>
                </a:solidFill>
                <a:effectLst/>
                <a:latin typeface="Consolas" panose="020B0609020204030204" pitchFamily="49" charset="0"/>
              </a:rPr>
              <a:t>new</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Scanner</a:t>
            </a:r>
            <a:r>
              <a:rPr lang="fi-FI" sz="1200" b="0" dirty="0">
                <a:solidFill>
                  <a:srgbClr val="000000"/>
                </a:solidFill>
                <a:effectLst/>
                <a:latin typeface="Consolas" panose="020B0609020204030204" pitchFamily="49" charset="0"/>
              </a:rPr>
              <a:t>(</a:t>
            </a:r>
            <a:r>
              <a:rPr lang="fi-FI" sz="1200" b="0" dirty="0" err="1">
                <a:solidFill>
                  <a:srgbClr val="000000"/>
                </a:solidFill>
                <a:effectLst/>
                <a:latin typeface="Consolas" panose="020B0609020204030204" pitchFamily="49" charset="0"/>
              </a:rPr>
              <a:t>Paths.get</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"numbers.txt"</a:t>
            </a:r>
            <a:r>
              <a:rPr lang="fi-FI" sz="1200" b="0" dirty="0">
                <a:solidFill>
                  <a:srgbClr val="000000"/>
                </a:solidFill>
                <a:effectLst/>
                <a:latin typeface="Consolas" panose="020B0609020204030204" pitchFamily="49" charset="0"/>
              </a:rPr>
              <a:t>));</a:t>
            </a:r>
          </a:p>
          <a:p>
            <a:br>
              <a:rPr lang="fi-FI" sz="1200" b="0" dirty="0">
                <a:solidFill>
                  <a:srgbClr val="000000"/>
                </a:solidFill>
                <a:effectLst/>
                <a:latin typeface="Consolas" panose="020B0609020204030204" pitchFamily="49" charset="0"/>
              </a:rPr>
            </a:b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while</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tiedosto.hasNextLine</a:t>
            </a:r>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String</a:t>
            </a:r>
            <a:r>
              <a:rPr lang="fi-FI" sz="1200" b="0" dirty="0">
                <a:solidFill>
                  <a:srgbClr val="000000"/>
                </a:solidFill>
                <a:effectLst/>
                <a:latin typeface="Consolas" panose="020B0609020204030204" pitchFamily="49" charset="0"/>
              </a:rPr>
              <a:t> rivi = </a:t>
            </a:r>
            <a:r>
              <a:rPr lang="fi-FI" sz="1200" b="0" dirty="0" err="1">
                <a:solidFill>
                  <a:srgbClr val="000000"/>
                </a:solidFill>
                <a:effectLst/>
                <a:latin typeface="Consolas" panose="020B0609020204030204" pitchFamily="49" charset="0"/>
              </a:rPr>
              <a:t>tiedosto.nextLine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double</a:t>
            </a:r>
            <a:r>
              <a:rPr lang="fi-FI" sz="1200" b="0" dirty="0">
                <a:solidFill>
                  <a:srgbClr val="000000"/>
                </a:solidFill>
                <a:effectLst/>
                <a:latin typeface="Consolas" panose="020B0609020204030204" pitchFamily="49" charset="0"/>
              </a:rPr>
              <a:t> x = </a:t>
            </a:r>
            <a:r>
              <a:rPr lang="fi-FI" sz="1200" b="0" dirty="0" err="1">
                <a:solidFill>
                  <a:srgbClr val="000000"/>
                </a:solidFill>
                <a:effectLst/>
                <a:latin typeface="Consolas" panose="020B0609020204030204" pitchFamily="49" charset="0"/>
              </a:rPr>
              <a:t>Double.parseDouble</a:t>
            </a:r>
            <a:r>
              <a:rPr lang="fi-FI" sz="1200" b="0" dirty="0">
                <a:solidFill>
                  <a:srgbClr val="000000"/>
                </a:solidFill>
                <a:effectLst/>
                <a:latin typeface="Consolas" panose="020B0609020204030204" pitchFamily="49" charset="0"/>
              </a:rPr>
              <a:t>(rivi);</a:t>
            </a:r>
          </a:p>
          <a:p>
            <a:r>
              <a:rPr lang="fi-FI" sz="1200" b="0" dirty="0">
                <a:solidFill>
                  <a:srgbClr val="000000"/>
                </a:solidFill>
                <a:effectLst/>
                <a:latin typeface="Consolas" panose="020B0609020204030204" pitchFamily="49" charset="0"/>
              </a:rPr>
              <a:t>                </a:t>
            </a:r>
            <a:r>
              <a:rPr lang="fi-FI" sz="1200" b="0" dirty="0">
                <a:solidFill>
                  <a:srgbClr val="008000"/>
                </a:solidFill>
                <a:effectLst/>
                <a:latin typeface="Consolas" panose="020B0609020204030204" pitchFamily="49" charset="0"/>
              </a:rPr>
              <a:t>//</a:t>
            </a:r>
            <a:r>
              <a:rPr lang="fi-FI" sz="1200" b="0" dirty="0" err="1">
                <a:solidFill>
                  <a:srgbClr val="008000"/>
                </a:solidFill>
                <a:effectLst/>
                <a:latin typeface="Consolas" panose="020B0609020204030204" pitchFamily="49" charset="0"/>
              </a:rPr>
              <a:t>System.out.println</a:t>
            </a:r>
            <a:r>
              <a:rPr lang="fi-FI" sz="1200" b="0" dirty="0">
                <a:solidFill>
                  <a:srgbClr val="008000"/>
                </a:solidFill>
                <a:effectLst/>
                <a:latin typeface="Consolas" panose="020B0609020204030204" pitchFamily="49" charset="0"/>
              </a:rPr>
              <a:t>(x);</a:t>
            </a:r>
            <a:endParaRPr lang="fi-FI" sz="1200" b="0" dirty="0">
              <a:solidFill>
                <a:srgbClr val="000000"/>
              </a:solidFill>
              <a:effectLst/>
              <a:latin typeface="Consolas" panose="020B0609020204030204" pitchFamily="49" charset="0"/>
            </a:endParaRP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jono.add</a:t>
            </a:r>
            <a:r>
              <a:rPr lang="fi-FI" sz="1200" b="0" dirty="0">
                <a:solidFill>
                  <a:srgbClr val="000000"/>
                </a:solidFill>
                <a:effectLst/>
                <a:latin typeface="Consolas" panose="020B0609020204030204" pitchFamily="49" charset="0"/>
              </a:rPr>
              <a:t>(x);</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if</a:t>
            </a:r>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jono.size</a:t>
            </a:r>
            <a:r>
              <a:rPr lang="fi-FI" sz="1200" b="0" dirty="0">
                <a:solidFill>
                  <a:srgbClr val="000000"/>
                </a:solidFill>
                <a:effectLst/>
                <a:latin typeface="Consolas" panose="020B0609020204030204" pitchFamily="49" charset="0"/>
              </a:rPr>
              <a:t>() &gt; </a:t>
            </a:r>
            <a:r>
              <a:rPr lang="fi-FI" sz="1200" b="0" dirty="0">
                <a:solidFill>
                  <a:srgbClr val="098658"/>
                </a:solidFill>
                <a:effectLst/>
                <a:latin typeface="Consolas" panose="020B0609020204030204" pitchFamily="49" charset="0"/>
              </a:rPr>
              <a:t>10</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jono.remove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double</a:t>
            </a:r>
            <a:r>
              <a:rPr lang="fi-FI" sz="1200" b="0" dirty="0">
                <a:solidFill>
                  <a:srgbClr val="000000"/>
                </a:solidFill>
                <a:effectLst/>
                <a:latin typeface="Consolas" panose="020B0609020204030204" pitchFamily="49" charset="0"/>
              </a:rPr>
              <a:t> keskiarvo = </a:t>
            </a:r>
            <a:r>
              <a:rPr lang="fi-FI" sz="1200" b="0" dirty="0">
                <a:solidFill>
                  <a:srgbClr val="098658"/>
                </a:solidFill>
                <a:effectLst/>
                <a:latin typeface="Consolas" panose="020B0609020204030204" pitchFamily="49" charset="0"/>
              </a:rPr>
              <a:t>0</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a:solidFill>
                  <a:srgbClr val="0000FF"/>
                </a:solidFill>
                <a:effectLst/>
                <a:latin typeface="Consolas" panose="020B0609020204030204" pitchFamily="49" charset="0"/>
              </a:rPr>
              <a:t>for</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Double</a:t>
            </a:r>
            <a:r>
              <a:rPr lang="fi-FI" sz="1200" b="0" dirty="0">
                <a:solidFill>
                  <a:srgbClr val="000000"/>
                </a:solidFill>
                <a:effectLst/>
                <a:latin typeface="Consolas" panose="020B0609020204030204" pitchFamily="49" charset="0"/>
              </a:rPr>
              <a:t> double1 </a:t>
            </a:r>
            <a:r>
              <a:rPr lang="fi-FI" sz="1200" b="0" dirty="0">
                <a:solidFill>
                  <a:srgbClr val="0000FF"/>
                </a:solidFill>
                <a:effectLst/>
                <a:latin typeface="Consolas" panose="020B0609020204030204" pitchFamily="49" charset="0"/>
              </a:rPr>
              <a:t>:</a:t>
            </a:r>
            <a:r>
              <a:rPr lang="fi-FI" sz="1200" b="0" dirty="0">
                <a:solidFill>
                  <a:srgbClr val="000000"/>
                </a:solidFill>
                <a:effectLst/>
                <a:latin typeface="Consolas" panose="020B0609020204030204" pitchFamily="49" charset="0"/>
              </a:rPr>
              <a:t> jono) {</a:t>
            </a:r>
          </a:p>
          <a:p>
            <a:r>
              <a:rPr lang="fi-FI" sz="1200" b="0" dirty="0">
                <a:solidFill>
                  <a:srgbClr val="000000"/>
                </a:solidFill>
                <a:effectLst/>
                <a:latin typeface="Consolas" panose="020B0609020204030204" pitchFamily="49" charset="0"/>
              </a:rPr>
              <a:t>                    keskiarvo += double1;</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keskiarvo /= </a:t>
            </a:r>
            <a:r>
              <a:rPr lang="fi-FI" sz="1200" b="0" dirty="0" err="1">
                <a:solidFill>
                  <a:srgbClr val="000000"/>
                </a:solidFill>
                <a:effectLst/>
                <a:latin typeface="Consolas" panose="020B0609020204030204" pitchFamily="49" charset="0"/>
              </a:rPr>
              <a:t>jono.size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(x + </a:t>
            </a:r>
            <a:r>
              <a:rPr lang="fi-FI" sz="1200" b="0" dirty="0">
                <a:solidFill>
                  <a:srgbClr val="A31515"/>
                </a:solidFill>
                <a:effectLst/>
                <a:latin typeface="Consolas" panose="020B0609020204030204" pitchFamily="49" charset="0"/>
              </a:rPr>
              <a:t>" "</a:t>
            </a:r>
            <a:r>
              <a:rPr lang="fi-FI" sz="1200" b="0" dirty="0">
                <a:solidFill>
                  <a:srgbClr val="000000"/>
                </a:solidFill>
                <a:effectLst/>
                <a:latin typeface="Consolas" panose="020B0609020204030204" pitchFamily="49" charset="0"/>
              </a:rPr>
              <a:t> + keskiarvo);</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p>
          <a:p>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catch</a:t>
            </a:r>
            <a:r>
              <a:rPr lang="fi-FI" sz="1200" b="0" dirty="0">
                <a:solidFill>
                  <a:srgbClr val="000000"/>
                </a:solidFill>
                <a:effectLst/>
                <a:latin typeface="Consolas" panose="020B0609020204030204" pitchFamily="49" charset="0"/>
              </a:rPr>
              <a:t> (</a:t>
            </a:r>
            <a:r>
              <a:rPr lang="fi-FI" sz="1200" b="0" dirty="0" err="1">
                <a:solidFill>
                  <a:srgbClr val="0000FF"/>
                </a:solidFill>
                <a:effectLst/>
                <a:latin typeface="Consolas" panose="020B0609020204030204" pitchFamily="49" charset="0"/>
              </a:rPr>
              <a:t>Exception</a:t>
            </a:r>
            <a:r>
              <a:rPr lang="fi-FI" sz="1200" b="0" dirty="0">
                <a:solidFill>
                  <a:srgbClr val="000000"/>
                </a:solidFill>
                <a:effectLst/>
                <a:latin typeface="Consolas" panose="020B0609020204030204" pitchFamily="49" charset="0"/>
              </a:rPr>
              <a:t> e) {</a:t>
            </a:r>
          </a:p>
          <a:p>
            <a:r>
              <a:rPr lang="fi-FI" sz="1200" b="0" dirty="0">
                <a:solidFill>
                  <a:srgbClr val="000000"/>
                </a:solidFill>
                <a:effectLst/>
                <a:latin typeface="Consolas" panose="020B0609020204030204" pitchFamily="49" charset="0"/>
              </a:rPr>
              <a:t>            </a:t>
            </a:r>
            <a:r>
              <a:rPr lang="fi-FI" sz="1200" b="0" dirty="0" err="1">
                <a:solidFill>
                  <a:srgbClr val="000000"/>
                </a:solidFill>
                <a:effectLst/>
                <a:latin typeface="Consolas" panose="020B0609020204030204" pitchFamily="49" charset="0"/>
              </a:rPr>
              <a:t>System.out.println</a:t>
            </a:r>
            <a:r>
              <a:rPr lang="fi-FI" sz="1200" b="0" dirty="0">
                <a:solidFill>
                  <a:srgbClr val="000000"/>
                </a:solidFill>
                <a:effectLst/>
                <a:latin typeface="Consolas" panose="020B0609020204030204" pitchFamily="49" charset="0"/>
              </a:rPr>
              <a:t>(</a:t>
            </a:r>
            <a:r>
              <a:rPr lang="fi-FI" sz="1200" b="0" dirty="0">
                <a:solidFill>
                  <a:srgbClr val="A31515"/>
                </a:solidFill>
                <a:effectLst/>
                <a:latin typeface="Consolas" panose="020B0609020204030204" pitchFamily="49" charset="0"/>
              </a:rPr>
              <a:t>"virhe"</a:t>
            </a:r>
            <a:r>
              <a:rPr lang="fi-FI" sz="1200" b="0" dirty="0">
                <a:solidFill>
                  <a:srgbClr val="000000"/>
                </a:solidFill>
                <a:effectLst/>
                <a:latin typeface="Consolas" panose="020B0609020204030204" pitchFamily="49" charset="0"/>
              </a:rPr>
              <a:t>);</a:t>
            </a:r>
          </a:p>
          <a:p>
            <a:r>
              <a:rPr lang="fi-FI" sz="1200" b="0" dirty="0">
                <a:solidFill>
                  <a:srgbClr val="000000"/>
                </a:solidFill>
                <a:effectLst/>
                <a:latin typeface="Consolas" panose="020B0609020204030204" pitchFamily="49" charset="0"/>
              </a:rPr>
              <a:t>        }</a:t>
            </a:r>
          </a:p>
          <a:p>
            <a:br>
              <a:rPr lang="fi-FI" sz="1200" b="0" dirty="0">
                <a:solidFill>
                  <a:srgbClr val="000000"/>
                </a:solidFill>
                <a:effectLst/>
                <a:latin typeface="Consolas" panose="020B0609020204030204" pitchFamily="49" charset="0"/>
              </a:rPr>
            </a:br>
            <a:endParaRPr lang="fi-FI"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56871591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2F939-0BA3-199A-9E8C-0380684C6907}"/>
              </a:ext>
            </a:extLst>
          </p:cNvPr>
          <p:cNvSpPr>
            <a:spLocks noGrp="1"/>
          </p:cNvSpPr>
          <p:nvPr>
            <p:ph type="title"/>
          </p:nvPr>
        </p:nvSpPr>
        <p:spPr/>
        <p:txBody>
          <a:bodyPr/>
          <a:lstStyle/>
          <a:p>
            <a:r>
              <a:rPr lang="fi-FI" dirty="0"/>
              <a:t>Pino</a:t>
            </a:r>
          </a:p>
        </p:txBody>
      </p:sp>
      <p:sp>
        <p:nvSpPr>
          <p:cNvPr id="3" name="Content Placeholder 2">
            <a:extLst>
              <a:ext uri="{FF2B5EF4-FFF2-40B4-BE49-F238E27FC236}">
                <a16:creationId xmlns:a16="http://schemas.microsoft.com/office/drawing/2014/main" id="{D2A050AE-89D6-8ED3-3C62-9C43378911D8}"/>
              </a:ext>
            </a:extLst>
          </p:cNvPr>
          <p:cNvSpPr>
            <a:spLocks noGrp="1"/>
          </p:cNvSpPr>
          <p:nvPr>
            <p:ph idx="1"/>
          </p:nvPr>
        </p:nvSpPr>
        <p:spPr>
          <a:xfrm>
            <a:off x="838201" y="1825625"/>
            <a:ext cx="7101016" cy="4351338"/>
          </a:xfrm>
        </p:spPr>
        <p:txBody>
          <a:bodyPr>
            <a:normAutofit fontScale="92500" lnSpcReduction="10000"/>
          </a:bodyPr>
          <a:lstStyle/>
          <a:p>
            <a:r>
              <a:rPr lang="fi-FI" dirty="0"/>
              <a:t>Pino (engl. </a:t>
            </a:r>
            <a:r>
              <a:rPr lang="fi-FI" dirty="0" err="1"/>
              <a:t>stack</a:t>
            </a:r>
            <a:r>
              <a:rPr lang="fi-FI" dirty="0"/>
              <a:t>) on abstrakti tietotyyppi.</a:t>
            </a:r>
          </a:p>
          <a:p>
            <a:r>
              <a:rPr lang="fi-FI" dirty="0"/>
              <a:t>Pinon toimintaperiaate on viimeksi sisään, ensimmäiseksi ulos (LIFO-periaate, </a:t>
            </a:r>
            <a:r>
              <a:rPr lang="fi-FI" dirty="0" err="1"/>
              <a:t>Last</a:t>
            </a:r>
            <a:r>
              <a:rPr lang="fi-FI" dirty="0"/>
              <a:t> In </a:t>
            </a:r>
            <a:r>
              <a:rPr lang="fi-FI" dirty="0" err="1"/>
              <a:t>First</a:t>
            </a:r>
            <a:r>
              <a:rPr lang="fi-FI" dirty="0"/>
              <a:t> Out; vrt. jono).</a:t>
            </a:r>
          </a:p>
          <a:p>
            <a:r>
              <a:rPr lang="fi-FI" dirty="0"/>
              <a:t>Pinoa voidaan verrata pöydällä olevaan lautaspinoon, koska sen alta tai keskivälistä ei voi poimia alkioita.</a:t>
            </a:r>
          </a:p>
          <a:p>
            <a:r>
              <a:rPr lang="fi-FI" dirty="0"/>
              <a:t>Pinolle on määritelty seuraavat operaatiot:</a:t>
            </a:r>
          </a:p>
          <a:p>
            <a:pPr lvl="1"/>
            <a:r>
              <a:rPr lang="fi-FI" b="0" i="1" dirty="0" err="1">
                <a:solidFill>
                  <a:srgbClr val="202122"/>
                </a:solidFill>
                <a:effectLst/>
                <a:latin typeface="Arial" panose="020B0604020202020204" pitchFamily="34" charset="0"/>
              </a:rPr>
              <a:t>push</a:t>
            </a:r>
            <a:r>
              <a:rPr lang="fi-FI" b="0" i="0" dirty="0">
                <a:solidFill>
                  <a:srgbClr val="202122"/>
                </a:solidFill>
                <a:effectLst/>
                <a:latin typeface="Arial" panose="020B0604020202020204" pitchFamily="34" charset="0"/>
              </a:rPr>
              <a:t>: lisää alkion pinon päällimmäiseksi</a:t>
            </a:r>
          </a:p>
          <a:p>
            <a:pPr lvl="1"/>
            <a:r>
              <a:rPr lang="fi-FI" b="0" i="1" dirty="0">
                <a:solidFill>
                  <a:srgbClr val="202122"/>
                </a:solidFill>
                <a:effectLst/>
                <a:latin typeface="Arial" panose="020B0604020202020204" pitchFamily="34" charset="0"/>
              </a:rPr>
              <a:t>pop</a:t>
            </a:r>
            <a:r>
              <a:rPr lang="fi-FI" b="0" i="0" dirty="0">
                <a:solidFill>
                  <a:srgbClr val="202122"/>
                </a:solidFill>
                <a:effectLst/>
                <a:latin typeface="Arial" panose="020B0604020202020204" pitchFamily="34" charset="0"/>
              </a:rPr>
              <a:t>: poimii pinon päällimmäisen alkion (eli samanaikaisesti palauttaa ja poistaa sen)</a:t>
            </a:r>
          </a:p>
          <a:p>
            <a:pPr lvl="1"/>
            <a:r>
              <a:rPr lang="fi-FI" b="0" i="1" dirty="0" err="1">
                <a:solidFill>
                  <a:srgbClr val="202122"/>
                </a:solidFill>
                <a:effectLst/>
                <a:latin typeface="Arial" panose="020B0604020202020204" pitchFamily="34" charset="0"/>
              </a:rPr>
              <a:t>empty</a:t>
            </a:r>
            <a:r>
              <a:rPr lang="fi-FI" b="0" i="0" dirty="0">
                <a:solidFill>
                  <a:srgbClr val="202122"/>
                </a:solidFill>
                <a:effectLst/>
                <a:latin typeface="Arial" panose="020B0604020202020204" pitchFamily="34" charset="0"/>
              </a:rPr>
              <a:t>: tarkistaa, onko pino tyhjä</a:t>
            </a:r>
          </a:p>
          <a:p>
            <a:pPr lvl="1"/>
            <a:endParaRPr lang="fi-FI" dirty="0"/>
          </a:p>
        </p:txBody>
      </p:sp>
      <p:sp>
        <p:nvSpPr>
          <p:cNvPr id="5" name="TextBox 4">
            <a:extLst>
              <a:ext uri="{FF2B5EF4-FFF2-40B4-BE49-F238E27FC236}">
                <a16:creationId xmlns:a16="http://schemas.microsoft.com/office/drawing/2014/main" id="{B825C0F0-615F-7ACC-B004-FD6B2E79193C}"/>
              </a:ext>
            </a:extLst>
          </p:cNvPr>
          <p:cNvSpPr txBox="1"/>
          <p:nvPr/>
        </p:nvSpPr>
        <p:spPr>
          <a:xfrm>
            <a:off x="5345842" y="6311900"/>
            <a:ext cx="6094970" cy="369332"/>
          </a:xfrm>
          <a:prstGeom prst="rect">
            <a:avLst/>
          </a:prstGeom>
          <a:noFill/>
        </p:spPr>
        <p:txBody>
          <a:bodyPr wrap="square">
            <a:spAutoFit/>
          </a:bodyPr>
          <a:lstStyle/>
          <a:p>
            <a:r>
              <a:rPr lang="fi-FI" dirty="0">
                <a:hlinkClick r:id="rId2"/>
              </a:rPr>
              <a:t>https://www.geeksforgeeks.org/stack-data-structure/</a:t>
            </a:r>
            <a:r>
              <a:rPr lang="fi-FI" dirty="0"/>
              <a:t> </a:t>
            </a:r>
          </a:p>
        </p:txBody>
      </p:sp>
      <p:pic>
        <p:nvPicPr>
          <p:cNvPr id="7" name="Picture 6">
            <a:extLst>
              <a:ext uri="{FF2B5EF4-FFF2-40B4-BE49-F238E27FC236}">
                <a16:creationId xmlns:a16="http://schemas.microsoft.com/office/drawing/2014/main" id="{F6B8DDA1-41B5-2B2D-EF6E-AF629CCA3673}"/>
              </a:ext>
            </a:extLst>
          </p:cNvPr>
          <p:cNvPicPr>
            <a:picLocks noChangeAspect="1"/>
          </p:cNvPicPr>
          <p:nvPr/>
        </p:nvPicPr>
        <p:blipFill>
          <a:blip r:embed="rId3"/>
          <a:stretch>
            <a:fillRect/>
          </a:stretch>
        </p:blipFill>
        <p:spPr>
          <a:xfrm>
            <a:off x="7985812" y="2088291"/>
            <a:ext cx="3893784" cy="3089283"/>
          </a:xfrm>
          <a:prstGeom prst="rect">
            <a:avLst/>
          </a:prstGeom>
        </p:spPr>
      </p:pic>
    </p:spTree>
    <p:extLst>
      <p:ext uri="{BB962C8B-B14F-4D97-AF65-F5344CB8AC3E}">
        <p14:creationId xmlns:p14="http://schemas.microsoft.com/office/powerpoint/2010/main" val="10551780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F063-A39C-0B9E-B480-6F299159ECA5}"/>
              </a:ext>
            </a:extLst>
          </p:cNvPr>
          <p:cNvSpPr>
            <a:spLocks noGrp="1"/>
          </p:cNvSpPr>
          <p:nvPr>
            <p:ph type="title"/>
          </p:nvPr>
        </p:nvSpPr>
        <p:spPr/>
        <p:txBody>
          <a:bodyPr/>
          <a:lstStyle/>
          <a:p>
            <a:r>
              <a:rPr lang="fi-FI" dirty="0"/>
              <a:t>Pinon käyttökohteet</a:t>
            </a:r>
          </a:p>
        </p:txBody>
      </p:sp>
      <p:sp>
        <p:nvSpPr>
          <p:cNvPr id="3" name="Content Placeholder 2">
            <a:extLst>
              <a:ext uri="{FF2B5EF4-FFF2-40B4-BE49-F238E27FC236}">
                <a16:creationId xmlns:a16="http://schemas.microsoft.com/office/drawing/2014/main" id="{5E68F370-2ED6-D17E-D118-51DA7748D499}"/>
              </a:ext>
            </a:extLst>
          </p:cNvPr>
          <p:cNvSpPr>
            <a:spLocks noGrp="1"/>
          </p:cNvSpPr>
          <p:nvPr>
            <p:ph idx="1"/>
          </p:nvPr>
        </p:nvSpPr>
        <p:spPr/>
        <p:txBody>
          <a:bodyPr/>
          <a:lstStyle/>
          <a:p>
            <a:r>
              <a:rPr lang="fi-FI" dirty="0"/>
              <a:t>Suorittimen käskykantaan on usein sisäänrakennettu ajonaikainen pino, joka hallitsee aliohjelmien kutsu- ja paluuosoitteita, kutsuparametreja ja paikallisia muuttujia.</a:t>
            </a:r>
          </a:p>
          <a:p>
            <a:r>
              <a:rPr lang="fi-FI" dirty="0"/>
              <a:t>Pinoa tarvitaan myös rekursiivisissa aliohjelmissa.</a:t>
            </a:r>
          </a:p>
          <a:p>
            <a:r>
              <a:rPr lang="fi-FI" dirty="0"/>
              <a:t>Puun läpikäynti voidaan toteuttaa rekursion avulla. Rekursio voidaan purkaa käyttäen pino-tietorakennetta.</a:t>
            </a:r>
          </a:p>
          <a:p>
            <a:r>
              <a:rPr lang="fi-FI" dirty="0"/>
              <a:t>Pinoa voidaan käyttää apuna myös aritmeettisten lausekkeiden jäsentämisessä</a:t>
            </a:r>
          </a:p>
          <a:p>
            <a:endParaRPr lang="fi-FI" dirty="0"/>
          </a:p>
        </p:txBody>
      </p:sp>
    </p:spTree>
    <p:extLst>
      <p:ext uri="{BB962C8B-B14F-4D97-AF65-F5344CB8AC3E}">
        <p14:creationId xmlns:p14="http://schemas.microsoft.com/office/powerpoint/2010/main" val="357782825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DFB7-74E3-AB2B-0FB5-79FD5A2D37E3}"/>
              </a:ext>
            </a:extLst>
          </p:cNvPr>
          <p:cNvSpPr>
            <a:spLocks noGrp="1"/>
          </p:cNvSpPr>
          <p:nvPr>
            <p:ph type="title"/>
          </p:nvPr>
        </p:nvSpPr>
        <p:spPr/>
        <p:txBody>
          <a:bodyPr/>
          <a:lstStyle/>
          <a:p>
            <a:r>
              <a:rPr lang="fi-FI" dirty="0"/>
              <a:t>Pino Javassa</a:t>
            </a:r>
          </a:p>
        </p:txBody>
      </p:sp>
      <p:sp>
        <p:nvSpPr>
          <p:cNvPr id="3" name="Content Placeholder 2">
            <a:extLst>
              <a:ext uri="{FF2B5EF4-FFF2-40B4-BE49-F238E27FC236}">
                <a16:creationId xmlns:a16="http://schemas.microsoft.com/office/drawing/2014/main" id="{C8091D26-9BD3-A9BD-1725-04F6291CF2A5}"/>
              </a:ext>
            </a:extLst>
          </p:cNvPr>
          <p:cNvSpPr>
            <a:spLocks noGrp="1"/>
          </p:cNvSpPr>
          <p:nvPr>
            <p:ph idx="1"/>
          </p:nvPr>
        </p:nvSpPr>
        <p:spPr>
          <a:xfrm>
            <a:off x="838200" y="1825625"/>
            <a:ext cx="6033655" cy="4351338"/>
          </a:xfrm>
        </p:spPr>
        <p:txBody>
          <a:bodyPr/>
          <a:lstStyle/>
          <a:p>
            <a:r>
              <a:rPr lang="fi-FI" sz="2400" dirty="0"/>
              <a:t>Pinon luominen</a:t>
            </a:r>
          </a:p>
          <a:p>
            <a:pPr lvl="1"/>
            <a:r>
              <a:rPr lang="fi-FI" sz="1600" b="0" i="0" dirty="0" err="1">
                <a:solidFill>
                  <a:srgbClr val="000000"/>
                </a:solidFill>
                <a:effectLst/>
                <a:latin typeface="Source Code Pro" panose="020B0509030403020204" pitchFamily="49" charset="0"/>
              </a:rPr>
              <a:t>Stack</a:t>
            </a:r>
            <a:r>
              <a:rPr lang="fi-FI" sz="1600" b="0" i="0" dirty="0">
                <a:solidFill>
                  <a:srgbClr val="000000"/>
                </a:solidFill>
                <a:effectLst/>
                <a:latin typeface="Source Code Pro" panose="020B0509030403020204" pitchFamily="49" charset="0"/>
              </a:rPr>
              <a:t>&lt;</a:t>
            </a:r>
            <a:r>
              <a:rPr lang="fi-FI" sz="1600" b="0" i="0" dirty="0" err="1">
                <a:solidFill>
                  <a:srgbClr val="000000"/>
                </a:solidFill>
                <a:effectLst/>
                <a:latin typeface="Source Code Pro" panose="020B0509030403020204" pitchFamily="49" charset="0"/>
              </a:rPr>
              <a:t>Integer</a:t>
            </a:r>
            <a:r>
              <a:rPr lang="fi-FI" sz="1600" b="0" i="0" dirty="0">
                <a:solidFill>
                  <a:srgbClr val="000000"/>
                </a:solidFill>
                <a:effectLst/>
                <a:latin typeface="Source Code Pro" panose="020B0509030403020204" pitchFamily="49" charset="0"/>
              </a:rPr>
              <a:t>&gt; </a:t>
            </a:r>
            <a:r>
              <a:rPr lang="fi-FI" sz="1600" b="0" i="0" dirty="0" err="1">
                <a:solidFill>
                  <a:srgbClr val="000000"/>
                </a:solidFill>
                <a:effectLst/>
                <a:latin typeface="Source Code Pro" panose="020B0509030403020204" pitchFamily="49" charset="0"/>
              </a:rPr>
              <a:t>intStack</a:t>
            </a:r>
            <a:r>
              <a:rPr lang="fi-FI" sz="1600" b="0" i="0" dirty="0">
                <a:solidFill>
                  <a:srgbClr val="000000"/>
                </a:solidFill>
                <a:effectLst/>
                <a:latin typeface="Source Code Pro" panose="020B0509030403020204" pitchFamily="49" charset="0"/>
              </a:rPr>
              <a:t> = </a:t>
            </a:r>
            <a:r>
              <a:rPr lang="fi-FI" sz="1600" b="1" i="0" dirty="0" err="1">
                <a:solidFill>
                  <a:srgbClr val="63B175"/>
                </a:solidFill>
                <a:effectLst/>
                <a:latin typeface="Source Code Pro" panose="020B0509030403020204" pitchFamily="49" charset="0"/>
              </a:rPr>
              <a:t>new</a:t>
            </a:r>
            <a:r>
              <a:rPr lang="fi-FI" sz="1600" b="0" i="0" dirty="0">
                <a:solidFill>
                  <a:srgbClr val="000000"/>
                </a:solidFill>
                <a:effectLst/>
                <a:latin typeface="Source Code Pro" panose="020B0509030403020204" pitchFamily="49" charset="0"/>
              </a:rPr>
              <a:t> </a:t>
            </a:r>
            <a:r>
              <a:rPr lang="fi-FI" sz="1600" b="1" i="0" dirty="0" err="1">
                <a:solidFill>
                  <a:srgbClr val="267438"/>
                </a:solidFill>
                <a:effectLst/>
                <a:latin typeface="Source Code Pro" panose="020B0509030403020204" pitchFamily="49" charset="0"/>
              </a:rPr>
              <a:t>Stack</a:t>
            </a:r>
            <a:r>
              <a:rPr lang="fi-FI" sz="1600" b="0" i="0" dirty="0">
                <a:solidFill>
                  <a:srgbClr val="000000"/>
                </a:solidFill>
                <a:effectLst/>
                <a:latin typeface="Source Code Pro" panose="020B0509030403020204" pitchFamily="49" charset="0"/>
              </a:rPr>
              <a:t>&lt;&gt;();</a:t>
            </a:r>
            <a:endParaRPr lang="fi-FI" sz="1600" dirty="0"/>
          </a:p>
          <a:p>
            <a:r>
              <a:rPr lang="fi-FI" sz="2400" dirty="0"/>
              <a:t>Alkion lisääminen pinon päälle</a:t>
            </a:r>
          </a:p>
          <a:p>
            <a:pPr lvl="1"/>
            <a:r>
              <a:rPr lang="fi-FI" sz="2000" b="0" i="0" dirty="0" err="1">
                <a:solidFill>
                  <a:srgbClr val="000000"/>
                </a:solidFill>
                <a:effectLst/>
                <a:latin typeface="Source Code Pro" panose="020B0509030403020204" pitchFamily="49" charset="0"/>
              </a:rPr>
              <a:t>intStack.push</a:t>
            </a:r>
            <a:r>
              <a:rPr lang="fi-FI" sz="2000" b="0" i="0" dirty="0">
                <a:solidFill>
                  <a:srgbClr val="000000"/>
                </a:solidFill>
                <a:effectLst/>
                <a:latin typeface="Source Code Pro" panose="020B0509030403020204" pitchFamily="49" charset="0"/>
              </a:rPr>
              <a:t>(</a:t>
            </a:r>
            <a:r>
              <a:rPr lang="fi-FI" sz="2000" b="0" i="0" dirty="0">
                <a:solidFill>
                  <a:srgbClr val="4E9359"/>
                </a:solidFill>
                <a:effectLst/>
                <a:latin typeface="Source Code Pro" panose="020B0509030403020204" pitchFamily="49" charset="0"/>
              </a:rPr>
              <a:t>5</a:t>
            </a:r>
            <a:r>
              <a:rPr lang="fi-FI" sz="2000" b="0" i="0" dirty="0">
                <a:solidFill>
                  <a:srgbClr val="000000"/>
                </a:solidFill>
                <a:effectLst/>
                <a:latin typeface="Source Code Pro" panose="020B0509030403020204" pitchFamily="49" charset="0"/>
              </a:rPr>
              <a:t>);</a:t>
            </a:r>
            <a:endParaRPr lang="fi-FI" sz="2000" dirty="0"/>
          </a:p>
          <a:p>
            <a:r>
              <a:rPr lang="fi-FI" sz="2400" dirty="0"/>
              <a:t>Alkion poistaminen pinon päältä</a:t>
            </a:r>
          </a:p>
          <a:p>
            <a:pPr lvl="1"/>
            <a:r>
              <a:rPr lang="fi-FI" sz="1600" b="1" i="0" dirty="0" err="1">
                <a:solidFill>
                  <a:srgbClr val="4E9359"/>
                </a:solidFill>
                <a:effectLst/>
                <a:latin typeface="Source Code Pro" panose="020B0509030403020204" pitchFamily="49" charset="0"/>
              </a:rPr>
              <a:t>Integer</a:t>
            </a:r>
            <a:r>
              <a:rPr lang="fi-FI" sz="1600" b="0" i="0" dirty="0">
                <a:solidFill>
                  <a:srgbClr val="000000"/>
                </a:solidFill>
                <a:effectLst/>
                <a:latin typeface="Source Code Pro" panose="020B0509030403020204" pitchFamily="49" charset="0"/>
              </a:rPr>
              <a:t> </a:t>
            </a:r>
            <a:r>
              <a:rPr lang="fi-FI" sz="1600" b="0" i="0" dirty="0" err="1">
                <a:solidFill>
                  <a:srgbClr val="BC6060"/>
                </a:solidFill>
                <a:effectLst/>
                <a:latin typeface="Source Code Pro" panose="020B0509030403020204" pitchFamily="49" charset="0"/>
              </a:rPr>
              <a:t>element</a:t>
            </a:r>
            <a:r>
              <a:rPr lang="fi-FI" sz="1600" b="0" i="0" dirty="0">
                <a:solidFill>
                  <a:srgbClr val="000000"/>
                </a:solidFill>
                <a:effectLst/>
                <a:latin typeface="Source Code Pro" panose="020B0509030403020204" pitchFamily="49" charset="0"/>
              </a:rPr>
              <a:t> = </a:t>
            </a:r>
            <a:r>
              <a:rPr lang="fi-FI" sz="1600" b="0" i="0" dirty="0" err="1">
                <a:solidFill>
                  <a:srgbClr val="000000"/>
                </a:solidFill>
                <a:effectLst/>
                <a:latin typeface="Source Code Pro" panose="020B0509030403020204" pitchFamily="49" charset="0"/>
              </a:rPr>
              <a:t>intStack.pop</a:t>
            </a:r>
            <a:r>
              <a:rPr lang="fi-FI" sz="1600" b="0" i="0" dirty="0">
                <a:solidFill>
                  <a:srgbClr val="000000"/>
                </a:solidFill>
                <a:effectLst/>
                <a:latin typeface="Source Code Pro" panose="020B0509030403020204" pitchFamily="49" charset="0"/>
              </a:rPr>
              <a:t>();</a:t>
            </a:r>
            <a:endParaRPr lang="fi-FI" sz="1600" dirty="0"/>
          </a:p>
          <a:p>
            <a:endParaRPr lang="fi-FI" dirty="0"/>
          </a:p>
        </p:txBody>
      </p:sp>
      <p:sp>
        <p:nvSpPr>
          <p:cNvPr id="5" name="TextBox 4">
            <a:extLst>
              <a:ext uri="{FF2B5EF4-FFF2-40B4-BE49-F238E27FC236}">
                <a16:creationId xmlns:a16="http://schemas.microsoft.com/office/drawing/2014/main" id="{6C2B4B8D-BEC6-F128-7A48-434934F52C3B}"/>
              </a:ext>
            </a:extLst>
          </p:cNvPr>
          <p:cNvSpPr txBox="1"/>
          <p:nvPr/>
        </p:nvSpPr>
        <p:spPr>
          <a:xfrm>
            <a:off x="2404934" y="6259383"/>
            <a:ext cx="6094970" cy="369332"/>
          </a:xfrm>
          <a:prstGeom prst="rect">
            <a:avLst/>
          </a:prstGeom>
          <a:noFill/>
        </p:spPr>
        <p:txBody>
          <a:bodyPr wrap="square">
            <a:spAutoFit/>
          </a:bodyPr>
          <a:lstStyle/>
          <a:p>
            <a:r>
              <a:rPr lang="fi-FI" dirty="0">
                <a:hlinkClick r:id="rId2"/>
              </a:rPr>
              <a:t>https://www.geeksforgeeks.org/stack-data-structure/</a:t>
            </a:r>
            <a:r>
              <a:rPr lang="fi-FI" dirty="0"/>
              <a:t> </a:t>
            </a:r>
          </a:p>
        </p:txBody>
      </p:sp>
      <p:pic>
        <p:nvPicPr>
          <p:cNvPr id="7" name="Picture 6">
            <a:extLst>
              <a:ext uri="{FF2B5EF4-FFF2-40B4-BE49-F238E27FC236}">
                <a16:creationId xmlns:a16="http://schemas.microsoft.com/office/drawing/2014/main" id="{460D30A1-CFCF-982F-5714-6665562C8680}"/>
              </a:ext>
            </a:extLst>
          </p:cNvPr>
          <p:cNvPicPr>
            <a:picLocks noChangeAspect="1"/>
          </p:cNvPicPr>
          <p:nvPr/>
        </p:nvPicPr>
        <p:blipFill>
          <a:blip r:embed="rId3"/>
          <a:stretch>
            <a:fillRect/>
          </a:stretch>
        </p:blipFill>
        <p:spPr>
          <a:xfrm>
            <a:off x="7058131" y="365125"/>
            <a:ext cx="4349974" cy="4159464"/>
          </a:xfrm>
          <a:prstGeom prst="rect">
            <a:avLst/>
          </a:prstGeom>
        </p:spPr>
      </p:pic>
      <p:sp>
        <p:nvSpPr>
          <p:cNvPr id="9" name="TextBox 8">
            <a:extLst>
              <a:ext uri="{FF2B5EF4-FFF2-40B4-BE49-F238E27FC236}">
                <a16:creationId xmlns:a16="http://schemas.microsoft.com/office/drawing/2014/main" id="{DD59D746-7DCC-035B-6F81-7B5984162770}"/>
              </a:ext>
            </a:extLst>
          </p:cNvPr>
          <p:cNvSpPr txBox="1"/>
          <p:nvPr/>
        </p:nvSpPr>
        <p:spPr>
          <a:xfrm>
            <a:off x="7144265" y="4771422"/>
            <a:ext cx="4668794" cy="738664"/>
          </a:xfrm>
          <a:prstGeom prst="rect">
            <a:avLst/>
          </a:prstGeom>
          <a:noFill/>
        </p:spPr>
        <p:txBody>
          <a:bodyPr wrap="square">
            <a:spAutoFit/>
          </a:bodyPr>
          <a:lstStyle/>
          <a:p>
            <a:r>
              <a:rPr lang="fi-FI" sz="1400" b="0" i="0" dirty="0" err="1">
                <a:solidFill>
                  <a:srgbClr val="000000"/>
                </a:solidFill>
                <a:effectLst/>
                <a:latin typeface="Source Code Pro" panose="020B0509030403020204" pitchFamily="49" charset="0"/>
              </a:rPr>
              <a:t>Stack</a:t>
            </a:r>
            <a:r>
              <a:rPr lang="fi-FI" sz="1400" b="0" i="0" dirty="0">
                <a:solidFill>
                  <a:srgbClr val="000000"/>
                </a:solidFill>
                <a:effectLst/>
                <a:latin typeface="Source Code Pro" panose="020B0509030403020204" pitchFamily="49" charset="0"/>
              </a:rPr>
              <a:t>&lt;</a:t>
            </a:r>
            <a:r>
              <a:rPr lang="fi-FI" sz="1400" b="0" i="0" dirty="0" err="1">
                <a:solidFill>
                  <a:srgbClr val="000000"/>
                </a:solidFill>
                <a:effectLst/>
                <a:latin typeface="Source Code Pro" panose="020B0509030403020204" pitchFamily="49" charset="0"/>
              </a:rPr>
              <a:t>Integer</a:t>
            </a:r>
            <a:r>
              <a:rPr lang="fi-FI" sz="1400" b="0" i="0" dirty="0">
                <a:solidFill>
                  <a:srgbClr val="000000"/>
                </a:solidFill>
                <a:effectLst/>
                <a:latin typeface="Source Code Pro" panose="020B0509030403020204" pitchFamily="49" charset="0"/>
              </a:rPr>
              <a:t>&gt; </a:t>
            </a:r>
            <a:r>
              <a:rPr lang="fi-FI" sz="1400" b="0" i="0" dirty="0" err="1">
                <a:solidFill>
                  <a:srgbClr val="000000"/>
                </a:solidFill>
                <a:effectLst/>
                <a:latin typeface="Source Code Pro" panose="020B0509030403020204" pitchFamily="49" charset="0"/>
              </a:rPr>
              <a:t>intStack</a:t>
            </a:r>
            <a:r>
              <a:rPr lang="fi-FI" sz="1400" b="0" i="0" dirty="0">
                <a:solidFill>
                  <a:srgbClr val="000000"/>
                </a:solidFill>
                <a:effectLst/>
                <a:latin typeface="Source Code Pro" panose="020B0509030403020204" pitchFamily="49" charset="0"/>
              </a:rPr>
              <a:t> = </a:t>
            </a:r>
            <a:r>
              <a:rPr lang="fi-FI" sz="1400" b="1" i="0" dirty="0" err="1">
                <a:solidFill>
                  <a:srgbClr val="63B175"/>
                </a:solidFill>
                <a:effectLst/>
                <a:latin typeface="Source Code Pro" panose="020B0509030403020204" pitchFamily="49" charset="0"/>
              </a:rPr>
              <a:t>new</a:t>
            </a:r>
            <a:r>
              <a:rPr lang="fi-FI" sz="1400" b="0" i="0" dirty="0">
                <a:solidFill>
                  <a:srgbClr val="000000"/>
                </a:solidFill>
                <a:effectLst/>
                <a:latin typeface="Source Code Pro" panose="020B0509030403020204" pitchFamily="49" charset="0"/>
              </a:rPr>
              <a:t> </a:t>
            </a:r>
            <a:r>
              <a:rPr lang="fi-FI" sz="1400" b="1" i="0" dirty="0" err="1">
                <a:solidFill>
                  <a:srgbClr val="267438"/>
                </a:solidFill>
                <a:effectLst/>
                <a:latin typeface="Source Code Pro" panose="020B0509030403020204" pitchFamily="49" charset="0"/>
              </a:rPr>
              <a:t>Stack</a:t>
            </a:r>
            <a:r>
              <a:rPr lang="fi-FI" sz="1400" b="0" i="0" dirty="0">
                <a:solidFill>
                  <a:srgbClr val="000000"/>
                </a:solidFill>
                <a:effectLst/>
                <a:latin typeface="Source Code Pro" panose="020B0509030403020204" pitchFamily="49" charset="0"/>
              </a:rPr>
              <a:t>&lt;&gt;(); </a:t>
            </a:r>
            <a:r>
              <a:rPr lang="fi-FI" sz="1400" b="0" i="0" dirty="0" err="1">
                <a:solidFill>
                  <a:srgbClr val="000000"/>
                </a:solidFill>
                <a:effectLst/>
                <a:latin typeface="Source Code Pro" panose="020B0509030403020204" pitchFamily="49" charset="0"/>
              </a:rPr>
              <a:t>intStack.push</a:t>
            </a:r>
            <a:r>
              <a:rPr lang="fi-FI" sz="1400" b="0" i="0" dirty="0">
                <a:solidFill>
                  <a:srgbClr val="000000"/>
                </a:solidFill>
                <a:effectLst/>
                <a:latin typeface="Source Code Pro" panose="020B0509030403020204" pitchFamily="49" charset="0"/>
              </a:rPr>
              <a:t>(</a:t>
            </a:r>
            <a:r>
              <a:rPr lang="fi-FI" sz="1400" b="0" i="0" dirty="0">
                <a:solidFill>
                  <a:srgbClr val="4E9359"/>
                </a:solidFill>
                <a:effectLst/>
                <a:latin typeface="Source Code Pro" panose="020B0509030403020204" pitchFamily="49" charset="0"/>
              </a:rPr>
              <a:t>5</a:t>
            </a:r>
            <a:r>
              <a:rPr lang="fi-FI" sz="1400" b="0" i="0" dirty="0">
                <a:solidFill>
                  <a:srgbClr val="000000"/>
                </a:solidFill>
                <a:effectLst/>
                <a:latin typeface="Source Code Pro" panose="020B0509030403020204" pitchFamily="49" charset="0"/>
              </a:rPr>
              <a:t>);</a:t>
            </a:r>
          </a:p>
          <a:p>
            <a:r>
              <a:rPr lang="fi-FI" sz="1400" b="1" i="0" dirty="0" err="1">
                <a:solidFill>
                  <a:srgbClr val="4E9359"/>
                </a:solidFill>
                <a:effectLst/>
                <a:latin typeface="Source Code Pro" panose="020B0509030403020204" pitchFamily="49" charset="0"/>
              </a:rPr>
              <a:t>Integer</a:t>
            </a:r>
            <a:r>
              <a:rPr lang="fi-FI" sz="1400" b="0" i="0" dirty="0">
                <a:solidFill>
                  <a:srgbClr val="000000"/>
                </a:solidFill>
                <a:effectLst/>
                <a:latin typeface="Source Code Pro" panose="020B0509030403020204" pitchFamily="49" charset="0"/>
              </a:rPr>
              <a:t> </a:t>
            </a:r>
            <a:r>
              <a:rPr lang="fi-FI" sz="1400" b="0" i="0" dirty="0" err="1">
                <a:solidFill>
                  <a:srgbClr val="BC6060"/>
                </a:solidFill>
                <a:effectLst/>
                <a:latin typeface="Source Code Pro" panose="020B0509030403020204" pitchFamily="49" charset="0"/>
              </a:rPr>
              <a:t>element</a:t>
            </a:r>
            <a:r>
              <a:rPr lang="fi-FI" sz="1400" b="0" i="0" dirty="0">
                <a:solidFill>
                  <a:srgbClr val="000000"/>
                </a:solidFill>
                <a:effectLst/>
                <a:latin typeface="Source Code Pro" panose="020B0509030403020204" pitchFamily="49" charset="0"/>
              </a:rPr>
              <a:t> = </a:t>
            </a:r>
            <a:r>
              <a:rPr lang="fi-FI" sz="1400" b="0" i="0" dirty="0" err="1">
                <a:solidFill>
                  <a:srgbClr val="000000"/>
                </a:solidFill>
                <a:effectLst/>
                <a:latin typeface="Source Code Pro" panose="020B0509030403020204" pitchFamily="49" charset="0"/>
              </a:rPr>
              <a:t>intStack.pop</a:t>
            </a:r>
            <a:r>
              <a:rPr lang="fi-FI" sz="1400" b="0" i="0" dirty="0">
                <a:solidFill>
                  <a:srgbClr val="000000"/>
                </a:solidFill>
                <a:effectLst/>
                <a:latin typeface="Source Code Pro" panose="020B0509030403020204" pitchFamily="49" charset="0"/>
              </a:rPr>
              <a:t>();</a:t>
            </a:r>
            <a:endParaRPr lang="fi-FI" sz="1400" dirty="0"/>
          </a:p>
        </p:txBody>
      </p:sp>
    </p:spTree>
    <p:extLst>
      <p:ext uri="{BB962C8B-B14F-4D97-AF65-F5344CB8AC3E}">
        <p14:creationId xmlns:p14="http://schemas.microsoft.com/office/powerpoint/2010/main" val="382262456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8D54-0A1B-57CB-4A06-34A59553EE93}"/>
              </a:ext>
            </a:extLst>
          </p:cNvPr>
          <p:cNvSpPr>
            <a:spLocks noGrp="1"/>
          </p:cNvSpPr>
          <p:nvPr>
            <p:ph type="ctrTitle"/>
          </p:nvPr>
        </p:nvSpPr>
        <p:spPr/>
        <p:txBody>
          <a:bodyPr/>
          <a:lstStyle/>
          <a:p>
            <a:r>
              <a:rPr lang="fi-FI" dirty="0"/>
              <a:t>Puurakenteet</a:t>
            </a:r>
          </a:p>
        </p:txBody>
      </p:sp>
      <p:sp>
        <p:nvSpPr>
          <p:cNvPr id="3" name="Subtitle 2">
            <a:extLst>
              <a:ext uri="{FF2B5EF4-FFF2-40B4-BE49-F238E27FC236}">
                <a16:creationId xmlns:a16="http://schemas.microsoft.com/office/drawing/2014/main" id="{E4F17CDF-AE17-61AA-8AB0-D9F7EE5510E7}"/>
              </a:ext>
            </a:extLst>
          </p:cNvPr>
          <p:cNvSpPr>
            <a:spLocks noGrp="1"/>
          </p:cNvSpPr>
          <p:nvPr>
            <p:ph type="subTitle" idx="1"/>
          </p:nvPr>
        </p:nvSpPr>
        <p:spPr/>
        <p:txBody>
          <a:bodyPr/>
          <a:lstStyle/>
          <a:p>
            <a:endParaRPr lang="fi-FI"/>
          </a:p>
        </p:txBody>
      </p:sp>
    </p:spTree>
    <p:extLst>
      <p:ext uri="{BB962C8B-B14F-4D97-AF65-F5344CB8AC3E}">
        <p14:creationId xmlns:p14="http://schemas.microsoft.com/office/powerpoint/2010/main" val="56023178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347E-84DE-547A-ADAD-2D44B8283AB7}"/>
              </a:ext>
            </a:extLst>
          </p:cNvPr>
          <p:cNvSpPr>
            <a:spLocks noGrp="1"/>
          </p:cNvSpPr>
          <p:nvPr>
            <p:ph type="title"/>
          </p:nvPr>
        </p:nvSpPr>
        <p:spPr/>
        <p:txBody>
          <a:bodyPr/>
          <a:lstStyle/>
          <a:p>
            <a:r>
              <a:rPr lang="fi-FI" dirty="0"/>
              <a:t>Puurakenteet</a:t>
            </a:r>
          </a:p>
        </p:txBody>
      </p:sp>
      <p:sp>
        <p:nvSpPr>
          <p:cNvPr id="3" name="Content Placeholder 2">
            <a:extLst>
              <a:ext uri="{FF2B5EF4-FFF2-40B4-BE49-F238E27FC236}">
                <a16:creationId xmlns:a16="http://schemas.microsoft.com/office/drawing/2014/main" id="{298468B6-7A76-304E-D0CC-70B12B503D03}"/>
              </a:ext>
            </a:extLst>
          </p:cNvPr>
          <p:cNvSpPr>
            <a:spLocks noGrp="1"/>
          </p:cNvSpPr>
          <p:nvPr>
            <p:ph idx="1"/>
          </p:nvPr>
        </p:nvSpPr>
        <p:spPr/>
        <p:txBody>
          <a:bodyPr>
            <a:noAutofit/>
          </a:bodyPr>
          <a:lstStyle/>
          <a:p>
            <a:r>
              <a:rPr lang="fi-FI" sz="2400" dirty="0"/>
              <a:t>Opiskellaan puurakenteet vanhasta materiaalista</a:t>
            </a:r>
          </a:p>
          <a:p>
            <a:pPr lvl="1"/>
            <a:r>
              <a:rPr lang="fi-FI" altLang="fi-FI" dirty="0">
                <a:hlinkClick r:id="rId2"/>
              </a:rPr>
              <a:t>http://cs.hut.fi/u/archie/T-106.253/s2003/Pruju1.pdf</a:t>
            </a:r>
            <a:endParaRPr lang="fi-FI" altLang="fi-FI" dirty="0"/>
          </a:p>
          <a:p>
            <a:pPr lvl="1"/>
            <a:r>
              <a:rPr lang="fi-FI" altLang="fi-FI" dirty="0">
                <a:hlinkClick r:id="rId3"/>
              </a:rPr>
              <a:t>http://cs.hut.fi/u/archie/T-106.253/s2003/Pruju2.pdf</a:t>
            </a:r>
            <a:endParaRPr lang="fi-FI" altLang="fi-FI" dirty="0"/>
          </a:p>
          <a:p>
            <a:pPr lvl="1"/>
            <a:r>
              <a:rPr lang="fi-FI" altLang="fi-FI" dirty="0">
                <a:hlinkClick r:id="rId4"/>
              </a:rPr>
              <a:t>http://www.cs.hut.fi/Opinnot/T-106.250/materiaali/book/Kasitteita_ominaisuuksia.html</a:t>
            </a:r>
            <a:endParaRPr lang="fi-FI" altLang="fi-FI" dirty="0"/>
          </a:p>
          <a:p>
            <a:r>
              <a:rPr lang="fi-FI" altLang="fi-FI" sz="2400" dirty="0"/>
              <a:t>Opiskellaan seuraavat sivut:</a:t>
            </a:r>
          </a:p>
          <a:p>
            <a:pPr lvl="1"/>
            <a:r>
              <a:rPr lang="fi-FI" altLang="fi-FI" sz="2000" dirty="0"/>
              <a:t>Pruju1.pdf</a:t>
            </a:r>
          </a:p>
          <a:p>
            <a:pPr lvl="2"/>
            <a:r>
              <a:rPr lang="fi-FI" altLang="fi-FI" dirty="0"/>
              <a:t>101-115</a:t>
            </a:r>
          </a:p>
          <a:p>
            <a:pPr lvl="2"/>
            <a:r>
              <a:rPr lang="fi-FI" altLang="fi-FI" dirty="0"/>
              <a:t>119-127</a:t>
            </a:r>
          </a:p>
          <a:p>
            <a:pPr lvl="2"/>
            <a:r>
              <a:rPr lang="fi-FI" altLang="fi-FI" dirty="0"/>
              <a:t>136</a:t>
            </a:r>
          </a:p>
          <a:p>
            <a:pPr lvl="1"/>
            <a:r>
              <a:rPr lang="fi-FI" altLang="fi-FI" sz="2000" dirty="0" err="1"/>
              <a:t>Pruju</a:t>
            </a:r>
            <a:r>
              <a:rPr lang="fi-FI" altLang="fi-FI" sz="2000" dirty="0"/>
              <a:t> 2: </a:t>
            </a:r>
          </a:p>
          <a:p>
            <a:pPr lvl="2"/>
            <a:r>
              <a:rPr lang="fi-FI" altLang="fi-FI" sz="1600" dirty="0"/>
              <a:t>91-101</a:t>
            </a:r>
          </a:p>
          <a:p>
            <a:pPr lvl="1"/>
            <a:endParaRPr lang="fi-FI" altLang="fi-FI" dirty="0"/>
          </a:p>
          <a:p>
            <a:pPr lvl="1"/>
            <a:endParaRPr lang="fi-FI" dirty="0"/>
          </a:p>
        </p:txBody>
      </p:sp>
    </p:spTree>
    <p:extLst>
      <p:ext uri="{BB962C8B-B14F-4D97-AF65-F5344CB8AC3E}">
        <p14:creationId xmlns:p14="http://schemas.microsoft.com/office/powerpoint/2010/main" val="81987705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fi-FI" altLang="fi-FI"/>
              <a:t>Opettele puista</a:t>
            </a:r>
          </a:p>
        </p:txBody>
      </p:sp>
      <p:sp>
        <p:nvSpPr>
          <p:cNvPr id="116739" name="Rectangle 3"/>
          <p:cNvSpPr>
            <a:spLocks noGrp="1" noChangeArrowheads="1"/>
          </p:cNvSpPr>
          <p:nvPr>
            <p:ph type="body" idx="1"/>
          </p:nvPr>
        </p:nvSpPr>
        <p:spPr/>
        <p:txBody>
          <a:bodyPr/>
          <a:lstStyle/>
          <a:p>
            <a:pPr eaLnBrk="1" hangingPunct="1"/>
            <a:r>
              <a:rPr lang="fi-FI" altLang="fi-FI" dirty="0"/>
              <a:t>Puiden peruskäsitteet</a:t>
            </a:r>
          </a:p>
          <a:p>
            <a:pPr eaLnBrk="1" hangingPunct="1"/>
            <a:r>
              <a:rPr lang="fi-FI" altLang="fi-FI" dirty="0"/>
              <a:t>Miten rakennat järjestetyn binääripuun (millainen binääripuu muodostuisi merkeistä: J A V A O H J E L M O I N T I)</a:t>
            </a:r>
          </a:p>
          <a:p>
            <a:pPr eaLnBrk="1" hangingPunct="1"/>
            <a:r>
              <a:rPr lang="fi-FI" altLang="fi-FI" dirty="0"/>
              <a:t>Miten toimii esijärjestys ja sisäjärjestys (saat valmiin puun ja sinun tulee kertoa alkioiden sisäjärjestys tai esijärjestys)</a:t>
            </a:r>
          </a:p>
          <a:p>
            <a:pPr eaLnBrk="1" hangingPunct="1"/>
            <a:endParaRPr lang="fi-FI" altLang="fi-FI" dirty="0"/>
          </a:p>
        </p:txBody>
      </p:sp>
    </p:spTree>
    <p:extLst>
      <p:ext uri="{BB962C8B-B14F-4D97-AF65-F5344CB8AC3E}">
        <p14:creationId xmlns:p14="http://schemas.microsoft.com/office/powerpoint/2010/main" val="302887855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E3D1-1008-F7E1-B5B6-C891B134FE8A}"/>
              </a:ext>
            </a:extLst>
          </p:cNvPr>
          <p:cNvSpPr>
            <a:spLocks noGrp="1"/>
          </p:cNvSpPr>
          <p:nvPr>
            <p:ph type="title"/>
          </p:nvPr>
        </p:nvSpPr>
        <p:spPr/>
        <p:txBody>
          <a:bodyPr/>
          <a:lstStyle/>
          <a:p>
            <a:r>
              <a:rPr lang="fi-FI" dirty="0"/>
              <a:t>Puun läpikäynti (</a:t>
            </a:r>
            <a:r>
              <a:rPr lang="fi-FI" dirty="0" err="1"/>
              <a:t>tree</a:t>
            </a:r>
            <a:r>
              <a:rPr lang="fi-FI" dirty="0"/>
              <a:t> </a:t>
            </a:r>
            <a:r>
              <a:rPr lang="fi-FI" dirty="0" err="1"/>
              <a:t>traversal</a:t>
            </a:r>
            <a:r>
              <a:rPr lang="fi-FI" dirty="0"/>
              <a:t>)</a:t>
            </a:r>
          </a:p>
        </p:txBody>
      </p:sp>
      <p:sp>
        <p:nvSpPr>
          <p:cNvPr id="3" name="Content Placeholder 2">
            <a:extLst>
              <a:ext uri="{FF2B5EF4-FFF2-40B4-BE49-F238E27FC236}">
                <a16:creationId xmlns:a16="http://schemas.microsoft.com/office/drawing/2014/main" id="{9E858104-1661-487E-C9C3-9648008C84EB}"/>
              </a:ext>
            </a:extLst>
          </p:cNvPr>
          <p:cNvSpPr>
            <a:spLocks noGrp="1"/>
          </p:cNvSpPr>
          <p:nvPr>
            <p:ph idx="1"/>
          </p:nvPr>
        </p:nvSpPr>
        <p:spPr>
          <a:xfrm>
            <a:off x="838200" y="1825625"/>
            <a:ext cx="4694382" cy="4351338"/>
          </a:xfrm>
        </p:spPr>
        <p:txBody>
          <a:bodyPr>
            <a:normAutofit/>
          </a:bodyPr>
          <a:lstStyle/>
          <a:p>
            <a:r>
              <a:rPr lang="fi-FI" dirty="0"/>
              <a:t>Piirretään viiva juuren päältä lähtien vastapäivään puun ympäri läheltä liipaten, tulostetaan solmu kun se</a:t>
            </a:r>
          </a:p>
          <a:p>
            <a:pPr lvl="1"/>
            <a:r>
              <a:rPr lang="fi-FI" dirty="0"/>
              <a:t>Ohitetaan vasemmalta: Esijärjestys (</a:t>
            </a:r>
            <a:r>
              <a:rPr lang="fi-FI" dirty="0" err="1"/>
              <a:t>preorder</a:t>
            </a:r>
            <a:r>
              <a:rPr lang="fi-FI" dirty="0"/>
              <a:t>)</a:t>
            </a:r>
          </a:p>
          <a:p>
            <a:pPr lvl="1"/>
            <a:r>
              <a:rPr lang="fi-FI" dirty="0"/>
              <a:t>Ohitetaan alta: sisäjärjestys (</a:t>
            </a:r>
            <a:r>
              <a:rPr lang="fi-FI" dirty="0" err="1"/>
              <a:t>inorder</a:t>
            </a:r>
            <a:r>
              <a:rPr lang="fi-FI" dirty="0"/>
              <a:t>)</a:t>
            </a:r>
          </a:p>
          <a:p>
            <a:pPr lvl="1"/>
            <a:r>
              <a:rPr lang="fi-FI" dirty="0"/>
              <a:t>Ohitetaan oikealta: jälkijärjestys (</a:t>
            </a:r>
            <a:r>
              <a:rPr lang="fi-FI" dirty="0" err="1"/>
              <a:t>postorder</a:t>
            </a:r>
            <a:r>
              <a:rPr lang="fi-FI" dirty="0"/>
              <a:t>)</a:t>
            </a:r>
          </a:p>
        </p:txBody>
      </p:sp>
      <p:pic>
        <p:nvPicPr>
          <p:cNvPr id="5" name="Picture 4">
            <a:extLst>
              <a:ext uri="{FF2B5EF4-FFF2-40B4-BE49-F238E27FC236}">
                <a16:creationId xmlns:a16="http://schemas.microsoft.com/office/drawing/2014/main" id="{78E9A96D-CD5B-99BD-F669-A87758BC058B}"/>
              </a:ext>
            </a:extLst>
          </p:cNvPr>
          <p:cNvPicPr>
            <a:picLocks noChangeAspect="1"/>
          </p:cNvPicPr>
          <p:nvPr/>
        </p:nvPicPr>
        <p:blipFill>
          <a:blip r:embed="rId2"/>
          <a:stretch>
            <a:fillRect/>
          </a:stretch>
        </p:blipFill>
        <p:spPr>
          <a:xfrm>
            <a:off x="5928525" y="1551709"/>
            <a:ext cx="5284421" cy="5093942"/>
          </a:xfrm>
          <a:prstGeom prst="rect">
            <a:avLst/>
          </a:prstGeom>
        </p:spPr>
      </p:pic>
      <p:sp>
        <p:nvSpPr>
          <p:cNvPr id="6" name="TextBox 5">
            <a:extLst>
              <a:ext uri="{FF2B5EF4-FFF2-40B4-BE49-F238E27FC236}">
                <a16:creationId xmlns:a16="http://schemas.microsoft.com/office/drawing/2014/main" id="{25BC428E-77B4-0EFF-2C96-34E4E94F5A6D}"/>
              </a:ext>
            </a:extLst>
          </p:cNvPr>
          <p:cNvSpPr txBox="1"/>
          <p:nvPr/>
        </p:nvSpPr>
        <p:spPr>
          <a:xfrm>
            <a:off x="658640" y="6127234"/>
            <a:ext cx="6097508" cy="369332"/>
          </a:xfrm>
          <a:prstGeom prst="rect">
            <a:avLst/>
          </a:prstGeom>
          <a:noFill/>
        </p:spPr>
        <p:txBody>
          <a:bodyPr wrap="square">
            <a:spAutoFit/>
          </a:bodyPr>
          <a:lstStyle/>
          <a:p>
            <a:r>
              <a:rPr lang="fi-FI" dirty="0">
                <a:hlinkClick r:id="rId3"/>
              </a:rPr>
              <a:t>http://cs.hut.fi/u/archie/T-106.253/s2003/Pruju1</a:t>
            </a:r>
            <a:r>
              <a:rPr lang="fi-FI">
                <a:hlinkClick r:id="rId3"/>
              </a:rPr>
              <a:t>.pdf</a:t>
            </a:r>
            <a:r>
              <a:rPr lang="fi-FI"/>
              <a:t> </a:t>
            </a:r>
            <a:endParaRPr lang="fi-FI" dirty="0"/>
          </a:p>
        </p:txBody>
      </p:sp>
    </p:spTree>
    <p:extLst>
      <p:ext uri="{BB962C8B-B14F-4D97-AF65-F5344CB8AC3E}">
        <p14:creationId xmlns:p14="http://schemas.microsoft.com/office/powerpoint/2010/main" val="387412989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fi-FI" altLang="fi-FI" dirty="0">
                <a:solidFill>
                  <a:srgbClr val="FF0000"/>
                </a:solidFill>
              </a:rPr>
              <a:t>Harjoituksia</a:t>
            </a:r>
          </a:p>
        </p:txBody>
      </p:sp>
      <p:sp>
        <p:nvSpPr>
          <p:cNvPr id="117763" name="Rectangle 3"/>
          <p:cNvSpPr>
            <a:spLocks noGrp="1" noChangeArrowheads="1"/>
          </p:cNvSpPr>
          <p:nvPr>
            <p:ph type="body" idx="1"/>
          </p:nvPr>
        </p:nvSpPr>
        <p:spPr/>
        <p:txBody>
          <a:bodyPr/>
          <a:lstStyle/>
          <a:p>
            <a:pPr eaLnBrk="1" hangingPunct="1"/>
            <a:r>
              <a:rPr lang="fi-FI" altLang="fi-FI" dirty="0"/>
              <a:t>Tee ohjelma, joka sijoittaa alkiot puurakenteeseen</a:t>
            </a:r>
          </a:p>
          <a:p>
            <a:pPr eaLnBrk="1" hangingPunct="1"/>
            <a:r>
              <a:rPr lang="fi-FI" altLang="fi-FI" dirty="0"/>
              <a:t>Tee ohjelma, joka rakentaa binäärisen hakupuun</a:t>
            </a:r>
          </a:p>
          <a:p>
            <a:pPr lvl="1"/>
            <a:r>
              <a:rPr lang="fi-FI" altLang="fi-FI" dirty="0"/>
              <a:t>A S A M P L E T R E </a:t>
            </a:r>
            <a:r>
              <a:rPr lang="fi-FI" altLang="fi-FI" dirty="0" err="1"/>
              <a:t>E</a:t>
            </a:r>
            <a:endParaRPr lang="fi-FI" altLang="fi-FI" dirty="0"/>
          </a:p>
          <a:p>
            <a:r>
              <a:rPr lang="fi-FI" altLang="fi-FI" dirty="0"/>
              <a:t>Tee metodi, joka hakee alkion puusta</a:t>
            </a:r>
          </a:p>
          <a:p>
            <a:pPr eaLnBrk="1" hangingPunct="1"/>
            <a:r>
              <a:rPr lang="fi-FI" altLang="fi-FI" dirty="0"/>
              <a:t>Tee ohjelma, joka käy puurakenteen läpi</a:t>
            </a:r>
          </a:p>
          <a:p>
            <a:pPr lvl="1"/>
            <a:r>
              <a:rPr lang="fi-FI" altLang="fi-FI" dirty="0"/>
              <a:t>Esijärjestyksessä</a:t>
            </a:r>
          </a:p>
          <a:p>
            <a:pPr lvl="1"/>
            <a:r>
              <a:rPr lang="fi-FI" altLang="fi-FI" dirty="0"/>
              <a:t>Sisäjärjestyksessä</a:t>
            </a:r>
          </a:p>
          <a:p>
            <a:pPr lvl="1"/>
            <a:r>
              <a:rPr lang="fi-FI" altLang="fi-FI" dirty="0"/>
              <a:t>Jälkijärjestyksessä</a:t>
            </a:r>
          </a:p>
          <a:p>
            <a:r>
              <a:rPr lang="fi-FI" altLang="fi-FI" dirty="0"/>
              <a:t>Pura rekursio pinon avulla</a:t>
            </a:r>
          </a:p>
          <a:p>
            <a:pPr lvl="1"/>
            <a:endParaRPr lang="fi-FI" altLang="fi-FI" dirty="0"/>
          </a:p>
        </p:txBody>
      </p:sp>
      <p:sp>
        <p:nvSpPr>
          <p:cNvPr id="2" name="Oval 1">
            <a:extLst>
              <a:ext uri="{FF2B5EF4-FFF2-40B4-BE49-F238E27FC236}">
                <a16:creationId xmlns:a16="http://schemas.microsoft.com/office/drawing/2014/main" id="{E9B8333F-A065-E50D-073E-83C45B5C08BB}"/>
              </a:ext>
            </a:extLst>
          </p:cNvPr>
          <p:cNvSpPr/>
          <p:nvPr/>
        </p:nvSpPr>
        <p:spPr>
          <a:xfrm>
            <a:off x="10065608" y="962679"/>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A</a:t>
            </a:r>
          </a:p>
        </p:txBody>
      </p:sp>
      <p:sp>
        <p:nvSpPr>
          <p:cNvPr id="3" name="Oval 2">
            <a:extLst>
              <a:ext uri="{FF2B5EF4-FFF2-40B4-BE49-F238E27FC236}">
                <a16:creationId xmlns:a16="http://schemas.microsoft.com/office/drawing/2014/main" id="{C9B3092C-C1C4-CB15-33E7-9B0203FD77A9}"/>
              </a:ext>
            </a:extLst>
          </p:cNvPr>
          <p:cNvSpPr/>
          <p:nvPr/>
        </p:nvSpPr>
        <p:spPr>
          <a:xfrm>
            <a:off x="9269372" y="1740894"/>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B</a:t>
            </a:r>
          </a:p>
        </p:txBody>
      </p:sp>
      <p:sp>
        <p:nvSpPr>
          <p:cNvPr id="4" name="Oval 3">
            <a:extLst>
              <a:ext uri="{FF2B5EF4-FFF2-40B4-BE49-F238E27FC236}">
                <a16:creationId xmlns:a16="http://schemas.microsoft.com/office/drawing/2014/main" id="{122C9E80-F491-23B6-8B53-532493FE4DC1}"/>
              </a:ext>
            </a:extLst>
          </p:cNvPr>
          <p:cNvSpPr/>
          <p:nvPr/>
        </p:nvSpPr>
        <p:spPr>
          <a:xfrm>
            <a:off x="10918224" y="1690688"/>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C</a:t>
            </a:r>
          </a:p>
        </p:txBody>
      </p:sp>
      <p:sp>
        <p:nvSpPr>
          <p:cNvPr id="5" name="Oval 4">
            <a:extLst>
              <a:ext uri="{FF2B5EF4-FFF2-40B4-BE49-F238E27FC236}">
                <a16:creationId xmlns:a16="http://schemas.microsoft.com/office/drawing/2014/main" id="{8591FFBA-0E54-C99F-D86B-2352D806C354}"/>
              </a:ext>
            </a:extLst>
          </p:cNvPr>
          <p:cNvSpPr/>
          <p:nvPr/>
        </p:nvSpPr>
        <p:spPr>
          <a:xfrm>
            <a:off x="8834051" y="2555077"/>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D</a:t>
            </a:r>
          </a:p>
        </p:txBody>
      </p:sp>
      <p:sp>
        <p:nvSpPr>
          <p:cNvPr id="6" name="Oval 5">
            <a:extLst>
              <a:ext uri="{FF2B5EF4-FFF2-40B4-BE49-F238E27FC236}">
                <a16:creationId xmlns:a16="http://schemas.microsoft.com/office/drawing/2014/main" id="{6564B1A9-EDE0-9C19-1AEF-F7986307427F}"/>
              </a:ext>
            </a:extLst>
          </p:cNvPr>
          <p:cNvSpPr/>
          <p:nvPr/>
        </p:nvSpPr>
        <p:spPr>
          <a:xfrm>
            <a:off x="9735831" y="2577532"/>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E</a:t>
            </a:r>
          </a:p>
        </p:txBody>
      </p:sp>
      <p:sp>
        <p:nvSpPr>
          <p:cNvPr id="7" name="Oval 6">
            <a:extLst>
              <a:ext uri="{FF2B5EF4-FFF2-40B4-BE49-F238E27FC236}">
                <a16:creationId xmlns:a16="http://schemas.microsoft.com/office/drawing/2014/main" id="{BDABE5E5-6E1A-F7B9-58CE-F88EC6873BFF}"/>
              </a:ext>
            </a:extLst>
          </p:cNvPr>
          <p:cNvSpPr/>
          <p:nvPr/>
        </p:nvSpPr>
        <p:spPr>
          <a:xfrm>
            <a:off x="10554730" y="2568126"/>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F</a:t>
            </a:r>
          </a:p>
        </p:txBody>
      </p:sp>
      <p:sp>
        <p:nvSpPr>
          <p:cNvPr id="8" name="Oval 7">
            <a:extLst>
              <a:ext uri="{FF2B5EF4-FFF2-40B4-BE49-F238E27FC236}">
                <a16:creationId xmlns:a16="http://schemas.microsoft.com/office/drawing/2014/main" id="{9310FEA6-4B27-A3C2-21EE-F98B269C83B2}"/>
              </a:ext>
            </a:extLst>
          </p:cNvPr>
          <p:cNvSpPr/>
          <p:nvPr/>
        </p:nvSpPr>
        <p:spPr>
          <a:xfrm>
            <a:off x="11444173" y="2555077"/>
            <a:ext cx="624017" cy="5785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dirty="0"/>
              <a:t>G</a:t>
            </a:r>
          </a:p>
        </p:txBody>
      </p:sp>
      <p:cxnSp>
        <p:nvCxnSpPr>
          <p:cNvPr id="10" name="Straight Arrow Connector 9">
            <a:extLst>
              <a:ext uri="{FF2B5EF4-FFF2-40B4-BE49-F238E27FC236}">
                <a16:creationId xmlns:a16="http://schemas.microsoft.com/office/drawing/2014/main" id="{39582F00-D6E0-198E-4E9F-678CCE7D5E65}"/>
              </a:ext>
            </a:extLst>
          </p:cNvPr>
          <p:cNvCxnSpPr>
            <a:stCxn id="2" idx="3"/>
            <a:endCxn id="3" idx="7"/>
          </p:cNvCxnSpPr>
          <p:nvPr/>
        </p:nvCxnSpPr>
        <p:spPr>
          <a:xfrm flipH="1">
            <a:off x="9802004" y="1456528"/>
            <a:ext cx="354989" cy="3690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C2B6C812-8AC0-EE75-3A37-65359A0451B3}"/>
              </a:ext>
            </a:extLst>
          </p:cNvPr>
          <p:cNvCxnSpPr>
            <a:cxnSpLocks/>
            <a:stCxn id="3" idx="4"/>
            <a:endCxn id="5" idx="7"/>
          </p:cNvCxnSpPr>
          <p:nvPr/>
        </p:nvCxnSpPr>
        <p:spPr>
          <a:xfrm flipH="1">
            <a:off x="9366683" y="2319474"/>
            <a:ext cx="214698" cy="3203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31513C21-C789-74B7-C436-2062652FDD09}"/>
              </a:ext>
            </a:extLst>
          </p:cNvPr>
          <p:cNvCxnSpPr>
            <a:cxnSpLocks/>
            <a:stCxn id="3" idx="4"/>
            <a:endCxn id="6" idx="1"/>
          </p:cNvCxnSpPr>
          <p:nvPr/>
        </p:nvCxnSpPr>
        <p:spPr>
          <a:xfrm>
            <a:off x="9581381" y="2319474"/>
            <a:ext cx="245835" cy="3427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1F35C18C-E4B6-3DD1-CEF2-260C0DD090BA}"/>
              </a:ext>
            </a:extLst>
          </p:cNvPr>
          <p:cNvCxnSpPr>
            <a:cxnSpLocks/>
            <a:stCxn id="2" idx="5"/>
            <a:endCxn id="4" idx="1"/>
          </p:cNvCxnSpPr>
          <p:nvPr/>
        </p:nvCxnSpPr>
        <p:spPr>
          <a:xfrm>
            <a:off x="10598240" y="1456528"/>
            <a:ext cx="411369" cy="3188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B4E07ADB-0C63-3D38-B2A5-42B3649308D8}"/>
              </a:ext>
            </a:extLst>
          </p:cNvPr>
          <p:cNvCxnSpPr>
            <a:cxnSpLocks/>
            <a:stCxn id="4" idx="4"/>
            <a:endCxn id="7" idx="7"/>
          </p:cNvCxnSpPr>
          <p:nvPr/>
        </p:nvCxnSpPr>
        <p:spPr>
          <a:xfrm flipH="1">
            <a:off x="11087362" y="2269268"/>
            <a:ext cx="142871" cy="3835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62A7175C-ACDF-DCA2-42C2-2145437ABA75}"/>
              </a:ext>
            </a:extLst>
          </p:cNvPr>
          <p:cNvCxnSpPr>
            <a:cxnSpLocks/>
            <a:stCxn id="4" idx="4"/>
            <a:endCxn id="8" idx="1"/>
          </p:cNvCxnSpPr>
          <p:nvPr/>
        </p:nvCxnSpPr>
        <p:spPr>
          <a:xfrm>
            <a:off x="11230233" y="2269268"/>
            <a:ext cx="305325" cy="3705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5498369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p:cNvSpPr>
          <p:nvPr>
            <p:ph type="title"/>
          </p:nvPr>
        </p:nvSpPr>
        <p:spPr/>
        <p:txBody>
          <a:bodyPr/>
          <a:lstStyle/>
          <a:p>
            <a:r>
              <a:rPr lang="fi-FI" altLang="fi-FI" dirty="0" err="1"/>
              <a:t>Huffman</a:t>
            </a:r>
            <a:r>
              <a:rPr lang="fi-FI" altLang="fi-FI" dirty="0"/>
              <a:t>-koodaus</a:t>
            </a:r>
          </a:p>
        </p:txBody>
      </p:sp>
      <p:sp>
        <p:nvSpPr>
          <p:cNvPr id="119811" name="Content Placeholder 2"/>
          <p:cNvSpPr>
            <a:spLocks noGrp="1"/>
          </p:cNvSpPr>
          <p:nvPr>
            <p:ph idx="1"/>
          </p:nvPr>
        </p:nvSpPr>
        <p:spPr/>
        <p:txBody>
          <a:bodyPr/>
          <a:lstStyle/>
          <a:p>
            <a:r>
              <a:rPr lang="fi-FI" altLang="fi-FI" dirty="0"/>
              <a:t>Suomeksi</a:t>
            </a:r>
          </a:p>
          <a:p>
            <a:pPr lvl="1"/>
            <a:r>
              <a:rPr lang="fi-FI" altLang="fi-FI" dirty="0">
                <a:hlinkClick r:id="rId2"/>
              </a:rPr>
              <a:t>https://fi.wikipedia.org/wiki/Huffmanin_koodaus</a:t>
            </a:r>
            <a:r>
              <a:rPr lang="fi-FI" altLang="fi-FI" dirty="0"/>
              <a:t> </a:t>
            </a:r>
          </a:p>
          <a:p>
            <a:r>
              <a:rPr lang="fi-FI" altLang="fi-FI" dirty="0"/>
              <a:t>Lyhyt esimerkki</a:t>
            </a:r>
          </a:p>
          <a:p>
            <a:pPr lvl="1"/>
            <a:r>
              <a:rPr lang="fi-FI" altLang="fi-FI" dirty="0">
                <a:hlinkClick r:id="rId3"/>
              </a:rPr>
              <a:t>https://www.siggraph.org/education/materials/HyperGraph/video/mpeg/mpegfaq/huffman_tutorial.html</a:t>
            </a:r>
            <a:r>
              <a:rPr lang="fi-FI" altLang="fi-FI" dirty="0"/>
              <a:t> </a:t>
            </a:r>
          </a:p>
          <a:p>
            <a:r>
              <a:rPr lang="fi-FI" altLang="fi-FI" dirty="0"/>
              <a:t>Animaatio</a:t>
            </a:r>
          </a:p>
          <a:p>
            <a:pPr lvl="1"/>
            <a:r>
              <a:rPr lang="fi-FI" altLang="fi-FI" dirty="0">
                <a:hlinkClick r:id="rId4"/>
              </a:rPr>
              <a:t>https://people.ok.ubc.ca/ylucet/DS/Huffman.html</a:t>
            </a:r>
            <a:r>
              <a:rPr lang="fi-FI" altLang="fi-FI" dirty="0"/>
              <a:t> </a:t>
            </a:r>
          </a:p>
        </p:txBody>
      </p:sp>
    </p:spTree>
    <p:extLst>
      <p:ext uri="{BB962C8B-B14F-4D97-AF65-F5344CB8AC3E}">
        <p14:creationId xmlns:p14="http://schemas.microsoft.com/office/powerpoint/2010/main" val="2682739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5319</TotalTime>
  <Words>12080</Words>
  <Application>Microsoft Office PowerPoint</Application>
  <PresentationFormat>Widescreen</PresentationFormat>
  <Paragraphs>1520</Paragraphs>
  <Slides>159</Slides>
  <Notes>2</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159</vt:i4>
      </vt:variant>
    </vt:vector>
  </HeadingPairs>
  <TitlesOfParts>
    <vt:vector size="175" baseType="lpstr">
      <vt:lpstr>-apple-system</vt:lpstr>
      <vt:lpstr>Arial</vt:lpstr>
      <vt:lpstr>Calibri</vt:lpstr>
      <vt:lpstr>Calibri Light</vt:lpstr>
      <vt:lpstr>Consolas</vt:lpstr>
      <vt:lpstr>Courier New</vt:lpstr>
      <vt:lpstr>JetBrains Mono</vt:lpstr>
      <vt:lpstr>KaTeX_Main</vt:lpstr>
      <vt:lpstr>KaTeX_Math</vt:lpstr>
      <vt:lpstr>Open Sans</vt:lpstr>
      <vt:lpstr>Roboto</vt:lpstr>
      <vt:lpstr>Source Code Pro</vt:lpstr>
      <vt:lpstr>Times New Roman</vt:lpstr>
      <vt:lpstr>Wingdings</vt:lpstr>
      <vt:lpstr>Office Theme</vt:lpstr>
      <vt:lpstr>Bitmap Image</vt:lpstr>
      <vt:lpstr>Tietorakenteet ja algoritmit</vt:lpstr>
      <vt:lpstr>Tietorakenteet ja algoritmit 2024</vt:lpstr>
      <vt:lpstr>Tietorakenteet ja algoritmit 2024</vt:lpstr>
      <vt:lpstr>Tavoitteet</vt:lpstr>
      <vt:lpstr>Sisällöstä</vt:lpstr>
      <vt:lpstr>Ohjelmointikieli</vt:lpstr>
      <vt:lpstr>Kurssin suoritus</vt:lpstr>
      <vt:lpstr>Sisältö</vt:lpstr>
      <vt:lpstr>Johdanto</vt:lpstr>
      <vt:lpstr>Määritelmä</vt:lpstr>
      <vt:lpstr>Tietorakenteet ja algoritmit</vt:lpstr>
      <vt:lpstr>Esimerkkejä tietorakenteista</vt:lpstr>
      <vt:lpstr>Esimerkkejä algoritmeista</vt:lpstr>
      <vt:lpstr>Tietorakenteen ja algoritmin valinta</vt:lpstr>
      <vt:lpstr>Tietorakenteen ja algoritmin valinta</vt:lpstr>
      <vt:lpstr>Taulukot</vt:lpstr>
      <vt:lpstr>Taulukko tietorakenteena</vt:lpstr>
      <vt:lpstr>Javan taulukot</vt:lpstr>
      <vt:lpstr>Taulukko</vt:lpstr>
      <vt:lpstr>Taulukot</vt:lpstr>
      <vt:lpstr>Taulukon määrittely</vt:lpstr>
      <vt:lpstr>Taulukon alustus</vt:lpstr>
      <vt:lpstr>Esimerkki</vt:lpstr>
      <vt:lpstr>Esimerkki</vt:lpstr>
      <vt:lpstr>Taulukon järjestäminen</vt:lpstr>
      <vt:lpstr>Harjoituksia</vt:lpstr>
      <vt:lpstr>Aikavaativuus</vt:lpstr>
      <vt:lpstr>Aikavaativuus</vt:lpstr>
      <vt:lpstr>Aikavaativuus</vt:lpstr>
      <vt:lpstr>Algoritmin suoritusajan mittaaminen</vt:lpstr>
      <vt:lpstr>Järjestämätön ja järjestetty taulukko</vt:lpstr>
      <vt:lpstr>Järjestämätön taulukko</vt:lpstr>
      <vt:lpstr>Järjestetty taulukko (lista)</vt:lpstr>
      <vt:lpstr>Binäärihaku</vt:lpstr>
      <vt:lpstr>Binäärihaku järjestetystä taulukosta</vt:lpstr>
      <vt:lpstr>Binäärihaku</vt:lpstr>
      <vt:lpstr>Tehtävä</vt:lpstr>
      <vt:lpstr>Järjestämisalgoritmit</vt:lpstr>
      <vt:lpstr>PowerPoint Presentation</vt:lpstr>
      <vt:lpstr>PowerPoint Presentation</vt:lpstr>
      <vt:lpstr>PowerPoint Presentation</vt:lpstr>
      <vt:lpstr>PowerPoint Presentation</vt:lpstr>
      <vt:lpstr>PowerPoint Presentation</vt:lpstr>
      <vt:lpstr>PowerPoint Presentation</vt:lpstr>
      <vt:lpstr>Harjoitus</vt:lpstr>
      <vt:lpstr>Nopeusvertailua (mitattu)</vt:lpstr>
      <vt:lpstr>Tehokkaat järjestämismenetelmät</vt:lpstr>
      <vt:lpstr>PowerPoint Presentation</vt:lpstr>
      <vt:lpstr>Shellsort</vt:lpstr>
      <vt:lpstr>Shellsort -periaate</vt:lpstr>
      <vt:lpstr>Shellsort</vt:lpstr>
      <vt:lpstr>Shellsort</vt:lpstr>
      <vt:lpstr>Quick Sort</vt:lpstr>
      <vt:lpstr>Quicksort</vt:lpstr>
      <vt:lpstr>Quicksort</vt:lpstr>
      <vt:lpstr>Quicksort - Algoritmi</vt:lpstr>
      <vt:lpstr>Quicksort – Partitioning </vt:lpstr>
      <vt:lpstr>PowerPoint Presentation</vt:lpstr>
      <vt:lpstr>Mergesort</vt:lpstr>
      <vt:lpstr>PowerPoint Presentation</vt:lpstr>
      <vt:lpstr>PowerPoint Presentation</vt:lpstr>
      <vt:lpstr>PowerPoint Presentation</vt:lpstr>
      <vt:lpstr>Mitä järjestämismenetelmää tulisi käyttää?</vt:lpstr>
      <vt:lpstr>Järjestämismenetelmistä on osattava</vt:lpstr>
      <vt:lpstr>Funktioreferenssi</vt:lpstr>
      <vt:lpstr>Javan kokoelmaluokat</vt:lpstr>
      <vt:lpstr>Javan kokoelmaluokat</vt:lpstr>
      <vt:lpstr>Listat</vt:lpstr>
      <vt:lpstr>Listat</vt:lpstr>
      <vt:lpstr>Linkit materiaaliin</vt:lpstr>
      <vt:lpstr>ArrayList</vt:lpstr>
      <vt:lpstr>ArrayListin alkiot ovat oliotyyppiä</vt:lpstr>
      <vt:lpstr>Listan läpikäyminen</vt:lpstr>
      <vt:lpstr>Listan alkion poistaminen</vt:lpstr>
      <vt:lpstr>Muita metodeja</vt:lpstr>
      <vt:lpstr>Taulukko listaksi</vt:lpstr>
      <vt:lpstr>Harjoitus</vt:lpstr>
      <vt:lpstr>Tiedoston lukeminen</vt:lpstr>
      <vt:lpstr>Tiedoston lukeminen ArrayListiin</vt:lpstr>
      <vt:lpstr>Harjoitus </vt:lpstr>
      <vt:lpstr>Split</vt:lpstr>
      <vt:lpstr>Lista olioita</vt:lpstr>
      <vt:lpstr>Rivin pilkkominen ja olion luominen</vt:lpstr>
      <vt:lpstr>Lista ehdokkaista</vt:lpstr>
      <vt:lpstr>Harjoitus</vt:lpstr>
      <vt:lpstr>Harjoitus</vt:lpstr>
      <vt:lpstr>Korttipakan korttien jakaminen - subList</vt:lpstr>
      <vt:lpstr>Olioiden järjestäminen kokoelmassa</vt:lpstr>
      <vt:lpstr>Olioiden järjestäminen</vt:lpstr>
      <vt:lpstr>Olioiden järjestäminen</vt:lpstr>
      <vt:lpstr>Comparable-rajapinta</vt:lpstr>
      <vt:lpstr>Comparable-rajapinta</vt:lpstr>
      <vt:lpstr>Comparable-rajapinta</vt:lpstr>
      <vt:lpstr>Comparable-rajapinta</vt:lpstr>
      <vt:lpstr>Comparable-rajapinta</vt:lpstr>
      <vt:lpstr>Tehtävä</vt:lpstr>
      <vt:lpstr>Comparator-luokka</vt:lpstr>
      <vt:lpstr>Comparer, comparing ja thenComparing </vt:lpstr>
      <vt:lpstr>Järjestäminen lambda-lausekkeella</vt:lpstr>
      <vt:lpstr>Järjestäminen lambda-lausekkeella</vt:lpstr>
      <vt:lpstr>Järjestäminen lambda-lausekkeella</vt:lpstr>
      <vt:lpstr>Miten olioita sisältävä lista kannattaa järjestää?</vt:lpstr>
      <vt:lpstr>Harjoitus</vt:lpstr>
      <vt:lpstr>Harjoitus</vt:lpstr>
      <vt:lpstr>HashMap – Hajautustaulu</vt:lpstr>
      <vt:lpstr>HashMap – Hajautustaulu</vt:lpstr>
      <vt:lpstr>HashMap – Hajautustaulu</vt:lpstr>
      <vt:lpstr>Hajautustaulun avainten läpikäynti</vt:lpstr>
      <vt:lpstr>Hajautustaulun arvojen läpikäynti</vt:lpstr>
      <vt:lpstr>Hajautustaulun arvojen läpikäynti</vt:lpstr>
      <vt:lpstr>Hajautustaulu – avainten ja arvojen läpikäynti</vt:lpstr>
      <vt:lpstr>Hajautustaulu – containsKey</vt:lpstr>
      <vt:lpstr>Harjoitus</vt:lpstr>
      <vt:lpstr>Harjoitus</vt:lpstr>
      <vt:lpstr>Harjoitus</vt:lpstr>
      <vt:lpstr>Harjoitus</vt:lpstr>
      <vt:lpstr>CSV-tiedostojen lukemisesta</vt:lpstr>
      <vt:lpstr>Poikkeusten käsittely CSV-tiedoston lukemisessa</vt:lpstr>
      <vt:lpstr>Hajautuksen teoreettinen tausta</vt:lpstr>
      <vt:lpstr>Hajautus</vt:lpstr>
      <vt:lpstr>Hajautus</vt:lpstr>
      <vt:lpstr>Hajautus</vt:lpstr>
      <vt:lpstr>Hajautusfunktio ja yhteentörmäysten käsittely</vt:lpstr>
      <vt:lpstr>Hajautusfunktio ja yhteentörmäysten käsittely</vt:lpstr>
      <vt:lpstr>Hajautusfunktio</vt:lpstr>
      <vt:lpstr>Erillinen ketjutus</vt:lpstr>
      <vt:lpstr>Muut yhteentörmäysten käsittelymenetelmät</vt:lpstr>
      <vt:lpstr>PowerPoint Presentation</vt:lpstr>
      <vt:lpstr>Kokoelmien käsittely arvojen virtana - streamit</vt:lpstr>
      <vt:lpstr>Stream</vt:lpstr>
      <vt:lpstr>Esimerkki streamien käytöstä</vt:lpstr>
      <vt:lpstr>Streameja</vt:lpstr>
      <vt:lpstr>Lambda-lauseke</vt:lpstr>
      <vt:lpstr>Lambda-lauseke</vt:lpstr>
      <vt:lpstr>Uuden kokoelman luominen - collect</vt:lpstr>
      <vt:lpstr>Välioperaatiot ja pääteoperaatiot</vt:lpstr>
      <vt:lpstr>Oliot ja virta</vt:lpstr>
      <vt:lpstr>Tiedostot ja virta</vt:lpstr>
      <vt:lpstr>Tiedostot ja virta</vt:lpstr>
      <vt:lpstr>Virta</vt:lpstr>
      <vt:lpstr>CSV-tiedon lukeminen streamien avulla</vt:lpstr>
      <vt:lpstr>Copilot tai ChatGPT</vt:lpstr>
      <vt:lpstr>Tehtävä</vt:lpstr>
      <vt:lpstr>Tehtävä</vt:lpstr>
      <vt:lpstr>Harjoitus</vt:lpstr>
      <vt:lpstr>Jono ja Pino</vt:lpstr>
      <vt:lpstr>Jono ja Pino</vt:lpstr>
      <vt:lpstr>Jono</vt:lpstr>
      <vt:lpstr>Jono Javassa</vt:lpstr>
      <vt:lpstr>Jono Javassa - esimerkki</vt:lpstr>
      <vt:lpstr>Pino</vt:lpstr>
      <vt:lpstr>Pinon käyttökohteet</vt:lpstr>
      <vt:lpstr>Pino Javassa</vt:lpstr>
      <vt:lpstr>Puurakenteet</vt:lpstr>
      <vt:lpstr>Puurakenteet</vt:lpstr>
      <vt:lpstr>Opettele puista</vt:lpstr>
      <vt:lpstr>Puun läpikäynti (tree traversal)</vt:lpstr>
      <vt:lpstr>Harjoituksia</vt:lpstr>
      <vt:lpstr>Huffman-koodaus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Tietorakenteet ja algoritmit</dc:title>
  <dc:creator>Mäkelä, Petteri</dc:creator>
  <cp:lastModifiedBy>Mäkelä, Petteri</cp:lastModifiedBy>
  <cp:revision>223</cp:revision>
  <dcterms:created xsi:type="dcterms:W3CDTF">2024-01-09T07:02:46Z</dcterms:created>
  <dcterms:modified xsi:type="dcterms:W3CDTF">2026-02-03T08:20:47Z</dcterms:modified>
</cp:coreProperties>
</file>